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9" r:id="rId4"/>
    <p:sldId id="260" r:id="rId5"/>
    <p:sldId id="261" r:id="rId6"/>
    <p:sldId id="262" r:id="rId7"/>
    <p:sldId id="266" r:id="rId8"/>
    <p:sldId id="267" r:id="rId9"/>
    <p:sldId id="263" r:id="rId10"/>
    <p:sldId id="264" r:id="rId11"/>
    <p:sldId id="265" r:id="rId12"/>
    <p:sldId id="269" r:id="rId13"/>
    <p:sldId id="268" r:id="rId14"/>
    <p:sldId id="270" r:id="rId15"/>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6" autoAdjust="0"/>
    <p:restoredTop sz="94660"/>
  </p:normalViewPr>
  <p:slideViewPr>
    <p:cSldViewPr snapToGrid="0">
      <p:cViewPr>
        <p:scale>
          <a:sx n="80" d="100"/>
          <a:sy n="80" d="100"/>
        </p:scale>
        <p:origin x="93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ru-RU" smtClean="0"/>
              <a:t>Образец заголовка</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1A8A9F84-AAF9-42F8-B784-56BF7976B5EC}" type="datetimeFigureOut">
              <a:rPr lang="ru-RU" smtClean="0"/>
              <a:t>25.12.2024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4DD55E90-8988-43F6-9CC2-E04FF2595C5E}" type="slidenum">
              <a:rPr lang="ru-RU" smtClean="0"/>
              <a:t>‹№›</a:t>
            </a:fld>
            <a:endParaRPr lang="ru-RU"/>
          </a:p>
        </p:txBody>
      </p:sp>
    </p:spTree>
    <p:extLst>
      <p:ext uri="{BB962C8B-B14F-4D97-AF65-F5344CB8AC3E}">
        <p14:creationId xmlns:p14="http://schemas.microsoft.com/office/powerpoint/2010/main" val="8730147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1A8A9F84-AAF9-42F8-B784-56BF7976B5EC}" type="datetimeFigureOut">
              <a:rPr lang="ru-RU" smtClean="0"/>
              <a:t>25.12.2024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4DD55E90-8988-43F6-9CC2-E04FF2595C5E}" type="slidenum">
              <a:rPr lang="ru-RU" smtClean="0"/>
              <a:t>‹№›</a:t>
            </a:fld>
            <a:endParaRPr lang="ru-RU"/>
          </a:p>
        </p:txBody>
      </p:sp>
    </p:spTree>
    <p:extLst>
      <p:ext uri="{BB962C8B-B14F-4D97-AF65-F5344CB8AC3E}">
        <p14:creationId xmlns:p14="http://schemas.microsoft.com/office/powerpoint/2010/main" val="27672430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ru-RU" smtClean="0"/>
              <a:t>Образец заголовка</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1A8A9F84-AAF9-42F8-B784-56BF7976B5EC}" type="datetimeFigureOut">
              <a:rPr lang="ru-RU" smtClean="0"/>
              <a:t>25.12.2024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4DD55E90-8988-43F6-9CC2-E04FF2595C5E}" type="slidenum">
              <a:rPr lang="ru-RU" smtClean="0"/>
              <a:t>‹№›</a:t>
            </a:fld>
            <a:endParaRPr lang="ru-RU"/>
          </a:p>
        </p:txBody>
      </p:sp>
    </p:spTree>
    <p:extLst>
      <p:ext uri="{BB962C8B-B14F-4D97-AF65-F5344CB8AC3E}">
        <p14:creationId xmlns:p14="http://schemas.microsoft.com/office/powerpoint/2010/main" val="3291679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Date Placeholder 4"/>
          <p:cNvSpPr>
            <a:spLocks noGrp="1"/>
          </p:cNvSpPr>
          <p:nvPr>
            <p:ph type="dt" sz="half" idx="10"/>
          </p:nvPr>
        </p:nvSpPr>
        <p:spPr/>
        <p:txBody>
          <a:bodyPr/>
          <a:lstStyle/>
          <a:p>
            <a:fld id="{1A8A9F84-AAF9-42F8-B784-56BF7976B5EC}" type="datetimeFigureOut">
              <a:rPr lang="ru-RU" smtClean="0"/>
              <a:t>25.12.2024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4DD55E90-8988-43F6-9CC2-E04FF2595C5E}" type="slidenum">
              <a:rPr lang="ru-RU" smtClean="0"/>
              <a:t>‹№›</a:t>
            </a:fld>
            <a:endParaRPr lang="ru-RU"/>
          </a:p>
        </p:txBody>
      </p:sp>
    </p:spTree>
    <p:extLst>
      <p:ext uri="{BB962C8B-B14F-4D97-AF65-F5344CB8AC3E}">
        <p14:creationId xmlns:p14="http://schemas.microsoft.com/office/powerpoint/2010/main" val="744277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ru-RU" smtClean="0"/>
              <a:t>Образец заголовка</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629842" y="2505075"/>
            <a:ext cx="3868340"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4629150" y="2505075"/>
            <a:ext cx="3887391"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1A8A9F84-AAF9-42F8-B784-56BF7976B5EC}" type="datetimeFigureOut">
              <a:rPr lang="ru-RU" smtClean="0"/>
              <a:t>25.12.2024</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4DD55E90-8988-43F6-9CC2-E04FF2595C5E}" type="slidenum">
              <a:rPr lang="ru-RU" smtClean="0"/>
              <a:t>‹№›</a:t>
            </a:fld>
            <a:endParaRPr lang="ru-RU"/>
          </a:p>
        </p:txBody>
      </p:sp>
    </p:spTree>
    <p:extLst>
      <p:ext uri="{BB962C8B-B14F-4D97-AF65-F5344CB8AC3E}">
        <p14:creationId xmlns:p14="http://schemas.microsoft.com/office/powerpoint/2010/main" val="4904430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Date Placeholder 2"/>
          <p:cNvSpPr>
            <a:spLocks noGrp="1"/>
          </p:cNvSpPr>
          <p:nvPr>
            <p:ph type="dt" sz="half" idx="10"/>
          </p:nvPr>
        </p:nvSpPr>
        <p:spPr/>
        <p:txBody>
          <a:bodyPr/>
          <a:lstStyle/>
          <a:p>
            <a:fld id="{1A8A9F84-AAF9-42F8-B784-56BF7976B5EC}" type="datetimeFigureOut">
              <a:rPr lang="ru-RU" smtClean="0"/>
              <a:t>25.12.2024</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4DD55E90-8988-43F6-9CC2-E04FF2595C5E}" type="slidenum">
              <a:rPr lang="ru-RU" smtClean="0"/>
              <a:t>‹№›</a:t>
            </a:fld>
            <a:endParaRPr lang="ru-RU"/>
          </a:p>
        </p:txBody>
      </p:sp>
    </p:spTree>
    <p:extLst>
      <p:ext uri="{BB962C8B-B14F-4D97-AF65-F5344CB8AC3E}">
        <p14:creationId xmlns:p14="http://schemas.microsoft.com/office/powerpoint/2010/main" val="38009962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A8A9F84-AAF9-42F8-B784-56BF7976B5EC}" type="datetimeFigureOut">
              <a:rPr lang="ru-RU" smtClean="0"/>
              <a:t>25.12.2024</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4DD55E90-8988-43F6-9CC2-E04FF2595C5E}" type="slidenum">
              <a:rPr lang="ru-RU" smtClean="0"/>
              <a:t>‹№›</a:t>
            </a:fld>
            <a:endParaRPr lang="ru-RU"/>
          </a:p>
        </p:txBody>
      </p:sp>
    </p:spTree>
    <p:extLst>
      <p:ext uri="{BB962C8B-B14F-4D97-AF65-F5344CB8AC3E}">
        <p14:creationId xmlns:p14="http://schemas.microsoft.com/office/powerpoint/2010/main" val="13003939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ru-RU" smtClean="0"/>
              <a:t>Образец заголовка</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Date Placeholder 4"/>
          <p:cNvSpPr>
            <a:spLocks noGrp="1"/>
          </p:cNvSpPr>
          <p:nvPr>
            <p:ph type="dt" sz="half" idx="10"/>
          </p:nvPr>
        </p:nvSpPr>
        <p:spPr/>
        <p:txBody>
          <a:bodyPr/>
          <a:lstStyle/>
          <a:p>
            <a:fld id="{1A8A9F84-AAF9-42F8-B784-56BF7976B5EC}" type="datetimeFigureOut">
              <a:rPr lang="ru-RU" smtClean="0"/>
              <a:t>25.12.2024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4DD55E90-8988-43F6-9CC2-E04FF2595C5E}" type="slidenum">
              <a:rPr lang="ru-RU" smtClean="0"/>
              <a:t>‹№›</a:t>
            </a:fld>
            <a:endParaRPr lang="ru-RU"/>
          </a:p>
        </p:txBody>
      </p:sp>
    </p:spTree>
    <p:extLst>
      <p:ext uri="{BB962C8B-B14F-4D97-AF65-F5344CB8AC3E}">
        <p14:creationId xmlns:p14="http://schemas.microsoft.com/office/powerpoint/2010/main" val="33676144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ru-RU" smtClean="0"/>
              <a:t>Образец заголовка</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Date Placeholder 4"/>
          <p:cNvSpPr>
            <a:spLocks noGrp="1"/>
          </p:cNvSpPr>
          <p:nvPr>
            <p:ph type="dt" sz="half" idx="10"/>
          </p:nvPr>
        </p:nvSpPr>
        <p:spPr/>
        <p:txBody>
          <a:bodyPr/>
          <a:lstStyle/>
          <a:p>
            <a:fld id="{1A8A9F84-AAF9-42F8-B784-56BF7976B5EC}" type="datetimeFigureOut">
              <a:rPr lang="ru-RU" smtClean="0"/>
              <a:t>25.12.2024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4DD55E90-8988-43F6-9CC2-E04FF2595C5E}" type="slidenum">
              <a:rPr lang="ru-RU" smtClean="0"/>
              <a:t>‹№›</a:t>
            </a:fld>
            <a:endParaRPr lang="ru-RU"/>
          </a:p>
        </p:txBody>
      </p:sp>
    </p:spTree>
    <p:extLst>
      <p:ext uri="{BB962C8B-B14F-4D97-AF65-F5344CB8AC3E}">
        <p14:creationId xmlns:p14="http://schemas.microsoft.com/office/powerpoint/2010/main" val="21374362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1A8A9F84-AAF9-42F8-B784-56BF7976B5EC}" type="datetimeFigureOut">
              <a:rPr lang="ru-RU" smtClean="0"/>
              <a:t>25.12.2024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4DD55E90-8988-43F6-9CC2-E04FF2595C5E}" type="slidenum">
              <a:rPr lang="ru-RU" smtClean="0"/>
              <a:t>‹№›</a:t>
            </a:fld>
            <a:endParaRPr lang="ru-RU"/>
          </a:p>
        </p:txBody>
      </p:sp>
    </p:spTree>
    <p:extLst>
      <p:ext uri="{BB962C8B-B14F-4D97-AF65-F5344CB8AC3E}">
        <p14:creationId xmlns:p14="http://schemas.microsoft.com/office/powerpoint/2010/main" val="6376231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1A8A9F84-AAF9-42F8-B784-56BF7976B5EC}" type="datetimeFigureOut">
              <a:rPr lang="ru-RU" smtClean="0"/>
              <a:t>25.12.2024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4DD55E90-8988-43F6-9CC2-E04FF2595C5E}" type="slidenum">
              <a:rPr lang="ru-RU" smtClean="0"/>
              <a:t>‹№›</a:t>
            </a:fld>
            <a:endParaRPr lang="ru-RU"/>
          </a:p>
        </p:txBody>
      </p:sp>
    </p:spTree>
    <p:extLst>
      <p:ext uri="{BB962C8B-B14F-4D97-AF65-F5344CB8AC3E}">
        <p14:creationId xmlns:p14="http://schemas.microsoft.com/office/powerpoint/2010/main" val="18280852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8A9F84-AAF9-42F8-B784-56BF7976B5EC}" type="datetimeFigureOut">
              <a:rPr lang="ru-RU" smtClean="0"/>
              <a:t>25.12.2024</a:t>
            </a:fld>
            <a:endParaRPr lang="ru-RU"/>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D55E90-8988-43F6-9CC2-E04FF2595C5E}" type="slidenum">
              <a:rPr lang="ru-RU" smtClean="0"/>
              <a:t>‹№›</a:t>
            </a:fld>
            <a:endParaRPr lang="ru-RU"/>
          </a:p>
        </p:txBody>
      </p:sp>
    </p:spTree>
    <p:extLst>
      <p:ext uri="{BB962C8B-B14F-4D97-AF65-F5344CB8AC3E}">
        <p14:creationId xmlns:p14="http://schemas.microsoft.com/office/powerpoint/2010/main" val="9063317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hyperlink" Target="https://uk.wikipedia.org/wiki/%D0%9F%D0%BE%D0%B2%D1%96%D1%82%D1%80%D1%8F%D0%BD%D0%B0_%D1%80%D0%BE%D0%B7%D0%B2%D1%96%D0%B4%D0%BA%D0%B0" TargetMode="External"/><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addtive.com.ua/"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3133493" y="234176"/>
            <a:ext cx="5759604" cy="1182029"/>
          </a:xfrm>
        </p:spPr>
        <p:txBody>
          <a:bodyPr>
            <a:noAutofit/>
          </a:bodyPr>
          <a:lstStyle/>
          <a:p>
            <a:r>
              <a:rPr lang="uk-UA" sz="2000" b="1" dirty="0" smtClean="0">
                <a:latin typeface="Times New Roman" panose="02020603050405020304" pitchFamily="18" charset="0"/>
                <a:cs typeface="Times New Roman" panose="02020603050405020304" pitchFamily="18" charset="0"/>
              </a:rPr>
              <a:t/>
            </a:r>
            <a:br>
              <a:rPr lang="uk-UA" sz="2000" b="1" dirty="0" smtClean="0">
                <a:latin typeface="Times New Roman" panose="02020603050405020304" pitchFamily="18" charset="0"/>
                <a:cs typeface="Times New Roman" panose="02020603050405020304" pitchFamily="18" charset="0"/>
              </a:rPr>
            </a:br>
            <a:r>
              <a:rPr lang="uk-UA" sz="2000" b="1" dirty="0">
                <a:latin typeface="Times New Roman" panose="02020603050405020304" pitchFamily="18" charset="0"/>
                <a:cs typeface="Times New Roman" panose="02020603050405020304" pitchFamily="18" charset="0"/>
              </a:rPr>
              <a:t/>
            </a:r>
            <a:br>
              <a:rPr lang="uk-UA" sz="2000" b="1" dirty="0">
                <a:latin typeface="Times New Roman" panose="02020603050405020304" pitchFamily="18" charset="0"/>
                <a:cs typeface="Times New Roman" panose="02020603050405020304" pitchFamily="18" charset="0"/>
              </a:rPr>
            </a:br>
            <a:r>
              <a:rPr lang="uk-UA" sz="2000" b="1" dirty="0" smtClean="0">
                <a:latin typeface="Times New Roman" panose="02020603050405020304" pitchFamily="18" charset="0"/>
                <a:cs typeface="Times New Roman" panose="02020603050405020304" pitchFamily="18" charset="0"/>
              </a:rPr>
              <a:t/>
            </a:r>
            <a:br>
              <a:rPr lang="uk-UA" sz="2000" b="1" dirty="0" smtClean="0">
                <a:latin typeface="Times New Roman" panose="02020603050405020304" pitchFamily="18" charset="0"/>
                <a:cs typeface="Times New Roman" panose="02020603050405020304" pitchFamily="18" charset="0"/>
              </a:rPr>
            </a:br>
            <a:r>
              <a:rPr lang="uk-UA" sz="2000" b="1" dirty="0">
                <a:latin typeface="Times New Roman" panose="02020603050405020304" pitchFamily="18" charset="0"/>
                <a:cs typeface="Times New Roman" panose="02020603050405020304" pitchFamily="18" charset="0"/>
              </a:rPr>
              <a:t/>
            </a:r>
            <a:br>
              <a:rPr lang="uk-UA" sz="2000" b="1" dirty="0">
                <a:latin typeface="Times New Roman" panose="02020603050405020304" pitchFamily="18" charset="0"/>
                <a:cs typeface="Times New Roman" panose="02020603050405020304" pitchFamily="18" charset="0"/>
              </a:rPr>
            </a:br>
            <a:r>
              <a:rPr lang="uk-UA" sz="2000" b="1" dirty="0" smtClean="0">
                <a:latin typeface="Times New Roman" panose="02020603050405020304" pitchFamily="18" charset="0"/>
                <a:cs typeface="Times New Roman" panose="02020603050405020304" pitchFamily="18" charset="0"/>
              </a:rPr>
              <a:t>Виготовлення </a:t>
            </a:r>
            <a:r>
              <a:rPr lang="uk-UA" sz="2000" b="1" dirty="0">
                <a:latin typeface="Times New Roman" panose="02020603050405020304" pitchFamily="18" charset="0"/>
                <a:cs typeface="Times New Roman" panose="02020603050405020304" pitchFamily="18" charset="0"/>
              </a:rPr>
              <a:t>деталей камери </a:t>
            </a:r>
            <a:r>
              <a:rPr lang="uk-UA" sz="2000" b="1" dirty="0" err="1">
                <a:latin typeface="Times New Roman" panose="02020603050405020304" pitchFamily="18" charset="0"/>
                <a:cs typeface="Times New Roman" panose="02020603050405020304" pitchFamily="18" charset="0"/>
              </a:rPr>
              <a:t>дрона</a:t>
            </a:r>
            <a:r>
              <a:rPr lang="uk-UA" sz="2000" b="1" dirty="0">
                <a:latin typeface="Times New Roman" panose="02020603050405020304" pitchFamily="18" charset="0"/>
                <a:cs typeface="Times New Roman" panose="02020603050405020304" pitchFamily="18" charset="0"/>
              </a:rPr>
              <a:t> для зимової</a:t>
            </a:r>
            <a:br>
              <a:rPr lang="uk-UA" sz="2000" b="1" dirty="0">
                <a:latin typeface="Times New Roman" panose="02020603050405020304" pitchFamily="18" charset="0"/>
                <a:cs typeface="Times New Roman" panose="02020603050405020304" pitchFamily="18" charset="0"/>
              </a:rPr>
            </a:br>
            <a:r>
              <a:rPr lang="uk-UA" sz="2000" b="1" dirty="0">
                <a:latin typeface="Times New Roman" panose="02020603050405020304" pitchFamily="18" charset="0"/>
                <a:cs typeface="Times New Roman" panose="02020603050405020304" pitchFamily="18" charset="0"/>
              </a:rPr>
              <a:t>  </a:t>
            </a:r>
            <a:r>
              <a:rPr lang="uk-UA" sz="2000" b="1" dirty="0" smtClean="0">
                <a:latin typeface="Times New Roman" panose="02020603050405020304" pitchFamily="18" charset="0"/>
                <a:cs typeface="Times New Roman" panose="02020603050405020304" pitchFamily="18" charset="0"/>
              </a:rPr>
              <a:t>експлуатації </a:t>
            </a:r>
            <a:r>
              <a:rPr lang="uk-UA" sz="2000" b="1" dirty="0">
                <a:latin typeface="Times New Roman" panose="02020603050405020304" pitchFamily="18" charset="0"/>
                <a:cs typeface="Times New Roman" panose="02020603050405020304" pitchFamily="18" charset="0"/>
              </a:rPr>
              <a:t>при низьких температурах</a:t>
            </a:r>
            <a:br>
              <a:rPr lang="uk-UA" sz="2000" b="1" dirty="0">
                <a:latin typeface="Times New Roman" panose="02020603050405020304" pitchFamily="18" charset="0"/>
                <a:cs typeface="Times New Roman" panose="02020603050405020304" pitchFamily="18" charset="0"/>
              </a:rPr>
            </a:br>
            <a:endParaRPr lang="ru-RU" sz="2000" dirty="0">
              <a:latin typeface="Times New Roman" panose="02020603050405020304" pitchFamily="18" charset="0"/>
              <a:cs typeface="Times New Roman" panose="02020603050405020304" pitchFamily="18" charset="0"/>
            </a:endParaRPr>
          </a:p>
        </p:txBody>
      </p:sp>
      <p:sp>
        <p:nvSpPr>
          <p:cNvPr id="6" name="AutoShape 6" descr="blob:https://web.telegram.org/f8124741-0b53-46ea-a8c8-68cd6baa52f4"/>
          <p:cNvSpPr>
            <a:spLocks noGrp="1" noChangeAspect="1" noChangeArrowheads="1"/>
          </p:cNvSpPr>
          <p:nvPr>
            <p:ph type="subTitle" idx="1"/>
          </p:nvPr>
        </p:nvSpPr>
        <p:spPr bwMode="auto">
          <a:xfrm>
            <a:off x="437172" y="2999680"/>
            <a:ext cx="5877908" cy="263168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1" rIns="68580" bIns="34291" numCol="1" rtlCol="0" anchor="t" anchorCtr="0" compatLnSpc="1">
            <a:prstTxWarp prst="textNoShape">
              <a:avLst/>
            </a:prstTxWarp>
            <a:normAutofit/>
          </a:bodyPr>
          <a:lstStyle/>
          <a:p>
            <a:pPr algn="l"/>
            <a:r>
              <a:rPr lang="uk-UA" sz="1800" b="1" dirty="0" smtClean="0">
                <a:latin typeface="Times New Roman" panose="02020603050405020304" pitchFamily="18" charset="0"/>
                <a:cs typeface="Times New Roman" panose="02020603050405020304" pitchFamily="18" charset="0"/>
              </a:rPr>
              <a:t>Автор</a:t>
            </a:r>
            <a:r>
              <a:rPr lang="uk-UA" sz="1800" b="1" dirty="0">
                <a:latin typeface="Times New Roman" panose="02020603050405020304" pitchFamily="18" charset="0"/>
                <a:cs typeface="Times New Roman" panose="02020603050405020304" pitchFamily="18" charset="0"/>
              </a:rPr>
              <a:t>: </a:t>
            </a:r>
            <a:r>
              <a:rPr lang="uk-UA" sz="1800" b="1" i="1" u="sng" dirty="0">
                <a:latin typeface="Times New Roman" panose="02020603050405020304" pitchFamily="18" charset="0"/>
                <a:cs typeface="Times New Roman" panose="02020603050405020304" pitchFamily="18" charset="0"/>
              </a:rPr>
              <a:t>Заболотній Юрій Анатолійович </a:t>
            </a:r>
            <a:endParaRPr lang="uk-UA" sz="1800" b="1" i="1" u="sng" dirty="0">
              <a:latin typeface="Times New Roman" panose="02020603050405020304" pitchFamily="18" charset="0"/>
              <a:cs typeface="Times New Roman" panose="02020603050405020304" pitchFamily="18" charset="0"/>
            </a:endParaRPr>
          </a:p>
          <a:p>
            <a:pPr algn="l"/>
            <a:r>
              <a:rPr lang="uk-UA" sz="1800" dirty="0" smtClean="0">
                <a:latin typeface="Times New Roman" panose="02020603050405020304" pitchFamily="18" charset="0"/>
                <a:cs typeface="Times New Roman" panose="02020603050405020304" pitchFamily="18" charset="0"/>
              </a:rPr>
              <a:t>учень </a:t>
            </a:r>
            <a:r>
              <a:rPr lang="uk-UA" sz="1800" dirty="0">
                <a:latin typeface="Times New Roman" panose="02020603050405020304" pitchFamily="18" charset="0"/>
                <a:cs typeface="Times New Roman" panose="02020603050405020304" pitchFamily="18" charset="0"/>
              </a:rPr>
              <a:t>9-А класу Природничо-наукового ліцею №</a:t>
            </a:r>
            <a:r>
              <a:rPr lang="uk-UA" sz="1800" dirty="0" smtClean="0">
                <a:latin typeface="Times New Roman" panose="02020603050405020304" pitchFamily="18" charset="0"/>
                <a:cs typeface="Times New Roman" panose="02020603050405020304" pitchFamily="18" charset="0"/>
              </a:rPr>
              <a:t>145</a:t>
            </a:r>
          </a:p>
          <a:p>
            <a:pPr algn="l"/>
            <a:r>
              <a:rPr lang="uk-UA" sz="1800" dirty="0" smtClean="0">
                <a:latin typeface="Times New Roman" panose="02020603050405020304" pitchFamily="18" charset="0"/>
                <a:cs typeface="Times New Roman" panose="02020603050405020304" pitchFamily="18" charset="0"/>
              </a:rPr>
              <a:t> </a:t>
            </a:r>
            <a:r>
              <a:rPr lang="uk-UA" sz="1800" dirty="0">
                <a:latin typeface="Times New Roman" panose="02020603050405020304" pitchFamily="18" charset="0"/>
                <a:cs typeface="Times New Roman" panose="02020603050405020304" pitchFamily="18" charset="0"/>
              </a:rPr>
              <a:t>Печерського району м</a:t>
            </a:r>
            <a:r>
              <a:rPr lang="en-US" sz="1800" dirty="0">
                <a:latin typeface="Times New Roman" panose="02020603050405020304" pitchFamily="18" charset="0"/>
                <a:cs typeface="Times New Roman" panose="02020603050405020304" pitchFamily="18" charset="0"/>
              </a:rPr>
              <a:t>.</a:t>
            </a:r>
            <a:r>
              <a:rPr lang="uk-UA" sz="1800" dirty="0">
                <a:latin typeface="Times New Roman" panose="02020603050405020304" pitchFamily="18" charset="0"/>
                <a:cs typeface="Times New Roman" panose="02020603050405020304" pitchFamily="18" charset="0"/>
              </a:rPr>
              <a:t> Києва </a:t>
            </a:r>
          </a:p>
          <a:p>
            <a:pPr algn="l"/>
            <a:r>
              <a:rPr lang="uk-UA" sz="1800" b="1" dirty="0" smtClean="0">
                <a:latin typeface="Times New Roman" panose="02020603050405020304" pitchFamily="18" charset="0"/>
                <a:cs typeface="Times New Roman" panose="02020603050405020304" pitchFamily="18" charset="0"/>
              </a:rPr>
              <a:t>Науковий керівник</a:t>
            </a:r>
            <a:r>
              <a:rPr lang="uk-UA" sz="1800" dirty="0" smtClean="0">
                <a:latin typeface="Times New Roman" panose="02020603050405020304" pitchFamily="18" charset="0"/>
                <a:cs typeface="Times New Roman" panose="02020603050405020304" pitchFamily="18" charset="0"/>
              </a:rPr>
              <a:t>: </a:t>
            </a:r>
            <a:r>
              <a:rPr lang="uk-UA" sz="1800" b="1" i="1" u="sng" dirty="0" err="1">
                <a:latin typeface="Times New Roman" panose="02020603050405020304" pitchFamily="18" charset="0"/>
                <a:cs typeface="Times New Roman" panose="02020603050405020304" pitchFamily="18" charset="0"/>
              </a:rPr>
              <a:t>Івахненко</a:t>
            </a:r>
            <a:r>
              <a:rPr lang="uk-UA" sz="1800" b="1" i="1" u="sng" dirty="0">
                <a:latin typeface="Times New Roman" panose="02020603050405020304" pitchFamily="18" charset="0"/>
                <a:cs typeface="Times New Roman" panose="02020603050405020304" pitchFamily="18" charset="0"/>
              </a:rPr>
              <a:t> Ірина Сергіївна</a:t>
            </a:r>
            <a:r>
              <a:rPr lang="uk-UA" sz="1800" dirty="0">
                <a:latin typeface="Times New Roman" panose="02020603050405020304" pitchFamily="18" charset="0"/>
                <a:cs typeface="Times New Roman" panose="02020603050405020304" pitchFamily="18" charset="0"/>
              </a:rPr>
              <a:t>, </a:t>
            </a:r>
            <a:r>
              <a:rPr lang="uk-UA" sz="1800" dirty="0" err="1">
                <a:latin typeface="Times New Roman" panose="02020603050405020304" pitchFamily="18" charset="0"/>
                <a:cs typeface="Times New Roman" panose="02020603050405020304" pitchFamily="18" charset="0"/>
              </a:rPr>
              <a:t>д.е.н</a:t>
            </a:r>
            <a:r>
              <a:rPr lang="uk-UA" sz="1800" dirty="0">
                <a:latin typeface="Times New Roman" panose="02020603050405020304" pitchFamily="18" charset="0"/>
                <a:cs typeface="Times New Roman" panose="02020603050405020304" pitchFamily="18" charset="0"/>
              </a:rPr>
              <a:t>., професор кафедри менеджменту в будівництві КНУБА</a:t>
            </a:r>
            <a:r>
              <a:rPr lang="uk-UA" sz="1800" dirty="0"/>
              <a:t>.</a:t>
            </a:r>
          </a:p>
          <a:p>
            <a:pPr algn="l"/>
            <a:r>
              <a:rPr lang="uk-UA" sz="1800" b="1" dirty="0" smtClean="0">
                <a:latin typeface="Times New Roman" panose="02020603050405020304" pitchFamily="18" charset="0"/>
                <a:cs typeface="Times New Roman" panose="02020603050405020304" pitchFamily="18" charset="0"/>
              </a:rPr>
              <a:t>Педагогічний керівник</a:t>
            </a:r>
            <a:r>
              <a:rPr lang="uk-UA" sz="1800" dirty="0" smtClean="0">
                <a:latin typeface="Times New Roman" panose="02020603050405020304" pitchFamily="18" charset="0"/>
                <a:cs typeface="Times New Roman" panose="02020603050405020304" pitchFamily="18" charset="0"/>
              </a:rPr>
              <a:t>: </a:t>
            </a:r>
            <a:r>
              <a:rPr lang="uk-UA" sz="1800" b="1" i="1" u="sng" dirty="0" smtClean="0">
                <a:latin typeface="Times New Roman" panose="02020603050405020304" pitchFamily="18" charset="0"/>
                <a:cs typeface="Times New Roman" panose="02020603050405020304" pitchFamily="18" charset="0"/>
              </a:rPr>
              <a:t>Янковська </a:t>
            </a:r>
            <a:r>
              <a:rPr lang="uk-UA" sz="1800" b="1" i="1" u="sng" dirty="0">
                <a:latin typeface="Times New Roman" panose="02020603050405020304" pitchFamily="18" charset="0"/>
                <a:cs typeface="Times New Roman" panose="02020603050405020304" pitchFamily="18" charset="0"/>
              </a:rPr>
              <a:t>Марія Миколаївна </a:t>
            </a:r>
            <a:r>
              <a:rPr lang="uk-UA" sz="1800" dirty="0">
                <a:latin typeface="Times New Roman" panose="02020603050405020304" pitchFamily="18" charset="0"/>
                <a:cs typeface="Times New Roman" panose="02020603050405020304" pitchFamily="18" charset="0"/>
              </a:rPr>
              <a:t>– учитель </a:t>
            </a:r>
            <a:r>
              <a:rPr lang="uk-UA" sz="1800" dirty="0" smtClean="0">
                <a:latin typeface="Times New Roman" panose="02020603050405020304" pitchFamily="18" charset="0"/>
                <a:cs typeface="Times New Roman" panose="02020603050405020304" pitchFamily="18" charset="0"/>
              </a:rPr>
              <a:t>фізики і астрономії , методист ПНЛ №</a:t>
            </a:r>
            <a:endParaRPr lang="uk-UA" sz="1800" dirty="0">
              <a:latin typeface="Times New Roman" panose="02020603050405020304" pitchFamily="18" charset="0"/>
              <a:cs typeface="Times New Roman" panose="02020603050405020304" pitchFamily="18" charset="0"/>
            </a:endParaRPr>
          </a:p>
        </p:txBody>
      </p:sp>
      <p:pic>
        <p:nvPicPr>
          <p:cNvPr id="8" name="Рисунок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68067" y="2917674"/>
            <a:ext cx="2113156" cy="2568725"/>
          </a:xfrm>
          <a:prstGeom prst="rect">
            <a:avLst/>
          </a:prstGeom>
        </p:spPr>
      </p:pic>
      <p:pic>
        <p:nvPicPr>
          <p:cNvPr id="4" name="Рисунок 3"/>
          <p:cNvPicPr>
            <a:picLocks noChangeAspect="1"/>
          </p:cNvPicPr>
          <p:nvPr/>
        </p:nvPicPr>
        <p:blipFill>
          <a:blip r:embed="rId3"/>
          <a:stretch>
            <a:fillRect/>
          </a:stretch>
        </p:blipFill>
        <p:spPr>
          <a:xfrm>
            <a:off x="437172" y="524108"/>
            <a:ext cx="3249884" cy="2256860"/>
          </a:xfrm>
          <a:prstGeom prst="rect">
            <a:avLst/>
          </a:prstGeom>
        </p:spPr>
      </p:pic>
    </p:spTree>
    <p:extLst>
      <p:ext uri="{BB962C8B-B14F-4D97-AF65-F5344CB8AC3E}">
        <p14:creationId xmlns:p14="http://schemas.microsoft.com/office/powerpoint/2010/main" val="202291971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23023" y="264766"/>
            <a:ext cx="4538547" cy="615948"/>
          </a:xfrm>
        </p:spPr>
        <p:txBody>
          <a:bodyPr>
            <a:normAutofit/>
          </a:bodyPr>
          <a:lstStyle/>
          <a:p>
            <a:r>
              <a:rPr lang="uk-UA" sz="2800" b="1" dirty="0" smtClean="0">
                <a:latin typeface="Times New Roman" panose="02020603050405020304" pitchFamily="18" charset="0"/>
                <a:cs typeface="Times New Roman" panose="02020603050405020304" pitchFamily="18" charset="0"/>
              </a:rPr>
              <a:t>          Актуальність теми</a:t>
            </a:r>
            <a:endParaRPr lang="ru-RU" sz="2800" b="1"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628650" y="1257300"/>
            <a:ext cx="5259194" cy="4864720"/>
          </a:xfrm>
        </p:spPr>
        <p:txBody>
          <a:bodyPr>
            <a:normAutofit/>
          </a:bodyPr>
          <a:lstStyle/>
          <a:p>
            <a:pPr>
              <a:lnSpc>
                <a:spcPct val="100000"/>
              </a:lnSpc>
            </a:pPr>
            <a:r>
              <a:rPr lang="uk-UA" sz="1500" b="1" dirty="0">
                <a:latin typeface="Times New Roman" panose="02020603050405020304" pitchFamily="18" charset="0"/>
                <a:cs typeface="Times New Roman" panose="02020603050405020304" pitchFamily="18" charset="0"/>
              </a:rPr>
              <a:t>Актуальність</a:t>
            </a:r>
            <a:r>
              <a:rPr lang="uk-UA" sz="1500" dirty="0">
                <a:latin typeface="Times New Roman" panose="02020603050405020304" pitchFamily="18" charset="0"/>
                <a:cs typeface="Times New Roman" panose="02020603050405020304" pitchFamily="18" charset="0"/>
              </a:rPr>
              <a:t> - </a:t>
            </a:r>
            <a:r>
              <a:rPr lang="ru-RU" sz="1500" dirty="0">
                <a:latin typeface="Times New Roman" panose="02020603050405020304" pitchFamily="18" charset="0"/>
                <a:cs typeface="Times New Roman" panose="02020603050405020304" pitchFamily="18" charset="0"/>
              </a:rPr>
              <a:t>З початком </a:t>
            </a:r>
            <a:r>
              <a:rPr lang="ru-RU" sz="1500" dirty="0" err="1">
                <a:latin typeface="Times New Roman" panose="02020603050405020304" pitchFamily="18" charset="0"/>
                <a:cs typeface="Times New Roman" panose="02020603050405020304" pitchFamily="18" charset="0"/>
              </a:rPr>
              <a:t>повномасштабної</a:t>
            </a:r>
            <a:r>
              <a:rPr lang="ru-RU" sz="1500" dirty="0">
                <a:latin typeface="Times New Roman" panose="02020603050405020304" pitchFamily="18" charset="0"/>
                <a:cs typeface="Times New Roman" panose="02020603050405020304" pitchFamily="18" charset="0"/>
              </a:rPr>
              <a:t> </a:t>
            </a:r>
            <a:r>
              <a:rPr lang="ru-RU" sz="1500" dirty="0" err="1">
                <a:latin typeface="Times New Roman" panose="02020603050405020304" pitchFamily="18" charset="0"/>
                <a:cs typeface="Times New Roman" panose="02020603050405020304" pitchFamily="18" charset="0"/>
              </a:rPr>
              <a:t>війни</a:t>
            </a:r>
            <a:r>
              <a:rPr lang="ru-RU" sz="1500" dirty="0">
                <a:latin typeface="Times New Roman" panose="02020603050405020304" pitchFamily="18" charset="0"/>
                <a:cs typeface="Times New Roman" panose="02020603050405020304" pitchFamily="18" charset="0"/>
              </a:rPr>
              <a:t> на </a:t>
            </a:r>
            <a:r>
              <a:rPr lang="ru-RU" sz="1500" dirty="0" err="1">
                <a:latin typeface="Times New Roman" panose="02020603050405020304" pitchFamily="18" charset="0"/>
                <a:cs typeface="Times New Roman" panose="02020603050405020304" pitchFamily="18" charset="0"/>
              </a:rPr>
              <a:t>фронті</a:t>
            </a:r>
            <a:r>
              <a:rPr lang="ru-RU" sz="1500" dirty="0">
                <a:latin typeface="Times New Roman" panose="02020603050405020304" pitchFamily="18" charset="0"/>
                <a:cs typeface="Times New Roman" panose="02020603050405020304" pitchFamily="18" charset="0"/>
              </a:rPr>
              <a:t> з </a:t>
            </a:r>
            <a:r>
              <a:rPr lang="ru-RU" sz="1500" dirty="0" err="1">
                <a:latin typeface="Times New Roman" panose="02020603050405020304" pitchFamily="18" charset="0"/>
                <a:cs typeface="Times New Roman" panose="02020603050405020304" pitchFamily="18" charset="0"/>
              </a:rPr>
              <a:t>однаковим</a:t>
            </a:r>
            <a:r>
              <a:rPr lang="ru-RU" sz="1500" dirty="0">
                <a:latin typeface="Times New Roman" panose="02020603050405020304" pitchFamily="18" charset="0"/>
                <a:cs typeface="Times New Roman" panose="02020603050405020304" pitchFamily="18" charset="0"/>
              </a:rPr>
              <a:t> </a:t>
            </a:r>
            <a:r>
              <a:rPr lang="ru-RU" sz="1500" dirty="0" err="1">
                <a:latin typeface="Times New Roman" panose="02020603050405020304" pitchFamily="18" charset="0"/>
                <a:cs typeface="Times New Roman" panose="02020603050405020304" pitchFamily="18" charset="0"/>
              </a:rPr>
              <a:t>успіхом</a:t>
            </a:r>
            <a:r>
              <a:rPr lang="ru-RU" sz="1500" dirty="0">
                <a:latin typeface="Times New Roman" panose="02020603050405020304" pitchFamily="18" charset="0"/>
                <a:cs typeface="Times New Roman" panose="02020603050405020304" pitchFamily="18" charset="0"/>
              </a:rPr>
              <a:t> </a:t>
            </a:r>
            <a:r>
              <a:rPr lang="ru-RU" sz="1500" dirty="0" err="1">
                <a:latin typeface="Times New Roman" panose="02020603050405020304" pitchFamily="18" charset="0"/>
                <a:cs typeface="Times New Roman" panose="02020603050405020304" pitchFamily="18" charset="0"/>
              </a:rPr>
              <a:t>використовуються</a:t>
            </a:r>
            <a:r>
              <a:rPr lang="ru-RU" sz="1500" dirty="0">
                <a:latin typeface="Times New Roman" panose="02020603050405020304" pitchFamily="18" charset="0"/>
                <a:cs typeface="Times New Roman" panose="02020603050405020304" pitchFamily="18" charset="0"/>
              </a:rPr>
              <a:t> як </a:t>
            </a:r>
            <a:r>
              <a:rPr lang="ru-RU" sz="1500" dirty="0" err="1">
                <a:latin typeface="Times New Roman" panose="02020603050405020304" pitchFamily="18" charset="0"/>
                <a:cs typeface="Times New Roman" panose="02020603050405020304" pitchFamily="18" charset="0"/>
              </a:rPr>
              <a:t>військові</a:t>
            </a:r>
            <a:r>
              <a:rPr lang="ru-RU" sz="1500" dirty="0">
                <a:latin typeface="Times New Roman" panose="02020603050405020304" pitchFamily="18" charset="0"/>
                <a:cs typeface="Times New Roman" panose="02020603050405020304" pitchFamily="18" charset="0"/>
              </a:rPr>
              <a:t>, так і </a:t>
            </a:r>
            <a:r>
              <a:rPr lang="ru-RU" sz="1500" dirty="0" err="1">
                <a:latin typeface="Times New Roman" panose="02020603050405020304" pitchFamily="18" charset="0"/>
                <a:cs typeface="Times New Roman" panose="02020603050405020304" pitchFamily="18" charset="0"/>
              </a:rPr>
              <a:t>цивільні</a:t>
            </a:r>
            <a:r>
              <a:rPr lang="ru-RU" sz="1500" dirty="0">
                <a:latin typeface="Times New Roman" panose="02020603050405020304" pitchFamily="18" charset="0"/>
                <a:cs typeface="Times New Roman" panose="02020603050405020304" pitchFamily="18" charset="0"/>
              </a:rPr>
              <a:t> </a:t>
            </a:r>
            <a:r>
              <a:rPr lang="ru-RU" sz="1500" dirty="0" err="1">
                <a:latin typeface="Times New Roman" panose="02020603050405020304" pitchFamily="18" charset="0"/>
                <a:cs typeface="Times New Roman" panose="02020603050405020304" pitchFamily="18" charset="0"/>
              </a:rPr>
              <a:t>дрони</a:t>
            </a:r>
            <a:r>
              <a:rPr lang="ru-RU" sz="1500" dirty="0">
                <a:latin typeface="Times New Roman" panose="02020603050405020304" pitchFamily="18" charset="0"/>
                <a:cs typeface="Times New Roman" panose="02020603050405020304" pitchFamily="18" charset="0"/>
              </a:rPr>
              <a:t>. </a:t>
            </a:r>
            <a:r>
              <a:rPr lang="ru-RU" sz="1500" dirty="0" err="1">
                <a:latin typeface="Times New Roman" panose="02020603050405020304" pitchFamily="18" charset="0"/>
                <a:cs typeface="Times New Roman" panose="02020603050405020304" pitchFamily="18" charset="0"/>
              </a:rPr>
              <a:t>Якщо</a:t>
            </a:r>
            <a:r>
              <a:rPr lang="ru-RU" sz="1500" dirty="0">
                <a:latin typeface="Times New Roman" panose="02020603050405020304" pitchFamily="18" charset="0"/>
                <a:cs typeface="Times New Roman" panose="02020603050405020304" pitchFamily="18" charset="0"/>
              </a:rPr>
              <a:t> вас </a:t>
            </a:r>
            <a:r>
              <a:rPr lang="ru-RU" sz="1500" dirty="0" err="1">
                <a:latin typeface="Times New Roman" panose="02020603050405020304" pitchFamily="18" charset="0"/>
                <a:cs typeface="Times New Roman" panose="02020603050405020304" pitchFamily="18" charset="0"/>
              </a:rPr>
              <a:t>цікавить</a:t>
            </a:r>
            <a:r>
              <a:rPr lang="ru-RU" sz="1500" dirty="0">
                <a:latin typeface="Times New Roman" panose="02020603050405020304" pitchFamily="18" charset="0"/>
                <a:cs typeface="Times New Roman" panose="02020603050405020304" pitchFamily="18" charset="0"/>
              </a:rPr>
              <a:t>, </a:t>
            </a:r>
            <a:r>
              <a:rPr lang="ru-RU" sz="1500" dirty="0" err="1">
                <a:latin typeface="Times New Roman" panose="02020603050405020304" pitchFamily="18" charset="0"/>
                <a:cs typeface="Times New Roman" panose="02020603050405020304" pitchFamily="18" charset="0"/>
              </a:rPr>
              <a:t>що</a:t>
            </a:r>
            <a:r>
              <a:rPr lang="ru-RU" sz="1500" dirty="0">
                <a:latin typeface="Times New Roman" panose="02020603050405020304" pitchFamily="18" charset="0"/>
                <a:cs typeface="Times New Roman" panose="02020603050405020304" pitchFamily="18" charset="0"/>
              </a:rPr>
              <a:t> </a:t>
            </a:r>
            <a:r>
              <a:rPr lang="ru-RU" sz="1500" dirty="0" err="1">
                <a:latin typeface="Times New Roman" panose="02020603050405020304" pitchFamily="18" charset="0"/>
                <a:cs typeface="Times New Roman" panose="02020603050405020304" pitchFamily="18" charset="0"/>
              </a:rPr>
              <a:t>таке</a:t>
            </a:r>
            <a:r>
              <a:rPr lang="ru-RU" sz="1500" dirty="0">
                <a:latin typeface="Times New Roman" panose="02020603050405020304" pitchFamily="18" charset="0"/>
                <a:cs typeface="Times New Roman" panose="02020603050405020304" pitchFamily="18" charset="0"/>
              </a:rPr>
              <a:t> </a:t>
            </a:r>
            <a:r>
              <a:rPr lang="ru-RU" sz="1500" dirty="0" err="1">
                <a:latin typeface="Times New Roman" panose="02020603050405020304" pitchFamily="18" charset="0"/>
                <a:cs typeface="Times New Roman" panose="02020603050405020304" pitchFamily="18" charset="0"/>
              </a:rPr>
              <a:t>дрон</a:t>
            </a:r>
            <a:r>
              <a:rPr lang="ru-RU" sz="1500" dirty="0">
                <a:latin typeface="Times New Roman" panose="02020603050405020304" pitchFamily="18" charset="0"/>
                <a:cs typeface="Times New Roman" panose="02020603050405020304" pitchFamily="18" charset="0"/>
              </a:rPr>
              <a:t> </a:t>
            </a:r>
            <a:r>
              <a:rPr lang="ru-RU" sz="1500" dirty="0" err="1">
                <a:latin typeface="Times New Roman" panose="02020603050405020304" pitchFamily="18" charset="0"/>
                <a:cs typeface="Times New Roman" panose="02020603050405020304" pitchFamily="18" charset="0"/>
              </a:rPr>
              <a:t>військовий</a:t>
            </a:r>
            <a:r>
              <a:rPr lang="ru-RU" sz="1500" dirty="0">
                <a:latin typeface="Times New Roman" panose="02020603050405020304" pitchFamily="18" charset="0"/>
                <a:cs typeface="Times New Roman" panose="02020603050405020304" pitchFamily="18" charset="0"/>
              </a:rPr>
              <a:t>, </a:t>
            </a:r>
            <a:r>
              <a:rPr lang="ru-RU" sz="1500" dirty="0" smtClean="0">
                <a:latin typeface="Times New Roman" panose="02020603050405020304" pitchFamily="18" charset="0"/>
                <a:cs typeface="Times New Roman" panose="02020603050405020304" pitchFamily="18" charset="0"/>
              </a:rPr>
              <a:t>то </a:t>
            </a:r>
            <a:r>
              <a:rPr lang="ru-RU" sz="1500" dirty="0" err="1" smtClean="0">
                <a:latin typeface="Times New Roman" panose="02020603050405020304" pitchFamily="18" charset="0"/>
                <a:cs typeface="Times New Roman" panose="02020603050405020304" pitchFamily="18" charset="0"/>
              </a:rPr>
              <a:t>цей</a:t>
            </a:r>
            <a:r>
              <a:rPr lang="ru-RU" sz="1500" dirty="0" smtClean="0">
                <a:latin typeface="Times New Roman" panose="02020603050405020304" pitchFamily="18" charset="0"/>
                <a:cs typeface="Times New Roman" panose="02020603050405020304" pitchFamily="18" charset="0"/>
              </a:rPr>
              <a:t> </a:t>
            </a:r>
            <a:r>
              <a:rPr lang="ru-RU" sz="1500" dirty="0" err="1">
                <a:latin typeface="Times New Roman" panose="02020603050405020304" pitchFamily="18" charset="0"/>
                <a:cs typeface="Times New Roman" panose="02020603050405020304" pitchFamily="18" charset="0"/>
              </a:rPr>
              <a:t>різновид</a:t>
            </a:r>
            <a:r>
              <a:rPr lang="ru-RU" sz="1500" dirty="0">
                <a:latin typeface="Times New Roman" panose="02020603050405020304" pitchFamily="18" charset="0"/>
                <a:cs typeface="Times New Roman" panose="02020603050405020304" pitchFamily="18" charset="0"/>
              </a:rPr>
              <a:t> </a:t>
            </a:r>
            <a:r>
              <a:rPr lang="ru-RU" sz="1500" dirty="0" err="1">
                <a:latin typeface="Times New Roman" panose="02020603050405020304" pitchFamily="18" charset="0"/>
                <a:cs typeface="Times New Roman" panose="02020603050405020304" pitchFamily="18" charset="0"/>
              </a:rPr>
              <a:t>апаратів</a:t>
            </a:r>
            <a:r>
              <a:rPr lang="ru-RU" sz="1500" dirty="0">
                <a:latin typeface="Times New Roman" panose="02020603050405020304" pitchFamily="18" charset="0"/>
                <a:cs typeface="Times New Roman" panose="02020603050405020304" pitchFamily="18" charset="0"/>
              </a:rPr>
              <a:t> </a:t>
            </a:r>
            <a:r>
              <a:rPr lang="ru-RU" sz="1500" dirty="0" err="1">
                <a:latin typeface="Times New Roman" panose="02020603050405020304" pitchFamily="18" charset="0"/>
                <a:cs typeface="Times New Roman" panose="02020603050405020304" pitchFamily="18" charset="0"/>
              </a:rPr>
              <a:t>належить</a:t>
            </a:r>
            <a:r>
              <a:rPr lang="ru-RU" sz="1500" dirty="0">
                <a:latin typeface="Times New Roman" panose="02020603050405020304" pitchFamily="18" charset="0"/>
                <a:cs typeface="Times New Roman" panose="02020603050405020304" pitchFamily="18" charset="0"/>
              </a:rPr>
              <a:t> до особливого типу </a:t>
            </a:r>
            <a:r>
              <a:rPr lang="ru-RU" sz="1500" dirty="0" err="1">
                <a:latin typeface="Times New Roman" panose="02020603050405020304" pitchFamily="18" charset="0"/>
                <a:cs typeface="Times New Roman" panose="02020603050405020304" pitchFamily="18" charset="0"/>
              </a:rPr>
              <a:t>безпілотників</a:t>
            </a:r>
            <a:r>
              <a:rPr lang="ru-RU" sz="1500" dirty="0">
                <a:latin typeface="Times New Roman" panose="02020603050405020304" pitchFamily="18" charset="0"/>
                <a:cs typeface="Times New Roman" panose="02020603050405020304" pitchFamily="18" charset="0"/>
              </a:rPr>
              <a:t>, </a:t>
            </a:r>
            <a:r>
              <a:rPr lang="ru-RU" sz="1500" dirty="0" err="1">
                <a:latin typeface="Times New Roman" panose="02020603050405020304" pitchFamily="18" charset="0"/>
                <a:cs typeface="Times New Roman" panose="02020603050405020304" pitchFamily="18" charset="0"/>
              </a:rPr>
              <a:t>яким</a:t>
            </a:r>
            <a:r>
              <a:rPr lang="ru-RU" sz="1500" dirty="0">
                <a:latin typeface="Times New Roman" panose="02020603050405020304" pitchFamily="18" charset="0"/>
                <a:cs typeface="Times New Roman" panose="02020603050405020304" pitchFamily="18" charset="0"/>
              </a:rPr>
              <a:t> </a:t>
            </a:r>
            <a:r>
              <a:rPr lang="ru-RU" sz="1500" dirty="0" err="1">
                <a:latin typeface="Times New Roman" panose="02020603050405020304" pitchFamily="18" charset="0"/>
                <a:cs typeface="Times New Roman" panose="02020603050405020304" pitchFamily="18" charset="0"/>
              </a:rPr>
              <a:t>притаманна</a:t>
            </a:r>
            <a:r>
              <a:rPr lang="ru-RU" sz="1500" dirty="0">
                <a:latin typeface="Times New Roman" panose="02020603050405020304" pitchFamily="18" charset="0"/>
                <a:cs typeface="Times New Roman" panose="02020603050405020304" pitchFamily="18" charset="0"/>
              </a:rPr>
              <a:t> </a:t>
            </a:r>
            <a:r>
              <a:rPr lang="ru-RU" sz="1500" dirty="0" err="1">
                <a:latin typeface="Times New Roman" panose="02020603050405020304" pitchFamily="18" charset="0"/>
                <a:cs typeface="Times New Roman" panose="02020603050405020304" pitchFamily="18" charset="0"/>
              </a:rPr>
              <a:t>значна</a:t>
            </a:r>
            <a:r>
              <a:rPr lang="ru-RU" sz="1500" dirty="0">
                <a:latin typeface="Times New Roman" panose="02020603050405020304" pitchFamily="18" charset="0"/>
                <a:cs typeface="Times New Roman" panose="02020603050405020304" pitchFamily="18" charset="0"/>
              </a:rPr>
              <a:t> </a:t>
            </a:r>
            <a:r>
              <a:rPr lang="ru-RU" sz="1500" dirty="0" err="1">
                <a:latin typeface="Times New Roman" panose="02020603050405020304" pitchFamily="18" charset="0"/>
                <a:cs typeface="Times New Roman" panose="02020603050405020304" pitchFamily="18" charset="0"/>
              </a:rPr>
              <a:t>дальність</a:t>
            </a:r>
            <a:r>
              <a:rPr lang="ru-RU" sz="1500" dirty="0">
                <a:latin typeface="Times New Roman" panose="02020603050405020304" pitchFamily="18" charset="0"/>
                <a:cs typeface="Times New Roman" panose="02020603050405020304" pitchFamily="18" charset="0"/>
              </a:rPr>
              <a:t> </a:t>
            </a:r>
            <a:r>
              <a:rPr lang="ru-RU" sz="1500" dirty="0" err="1">
                <a:latin typeface="Times New Roman" panose="02020603050405020304" pitchFamily="18" charset="0"/>
                <a:cs typeface="Times New Roman" panose="02020603050405020304" pitchFamily="18" charset="0"/>
              </a:rPr>
              <a:t>польоту</a:t>
            </a:r>
            <a:r>
              <a:rPr lang="ru-RU" sz="1500" dirty="0">
                <a:latin typeface="Times New Roman" panose="02020603050405020304" pitchFamily="18" charset="0"/>
                <a:cs typeface="Times New Roman" panose="02020603050405020304" pitchFamily="18" charset="0"/>
              </a:rPr>
              <a:t>, хороша </a:t>
            </a:r>
            <a:r>
              <a:rPr lang="ru-RU" sz="1500" dirty="0" err="1">
                <a:latin typeface="Times New Roman" panose="02020603050405020304" pitchFamily="18" charset="0"/>
                <a:cs typeface="Times New Roman" panose="02020603050405020304" pitchFamily="18" charset="0"/>
              </a:rPr>
              <a:t>вантажопідйомність</a:t>
            </a:r>
            <a:r>
              <a:rPr lang="ru-RU" sz="1500" dirty="0">
                <a:latin typeface="Times New Roman" panose="02020603050405020304" pitchFamily="18" charset="0"/>
                <a:cs typeface="Times New Roman" panose="02020603050405020304" pitchFamily="18" charset="0"/>
              </a:rPr>
              <a:t>, </a:t>
            </a:r>
            <a:r>
              <a:rPr lang="ru-RU" sz="1500" dirty="0" err="1">
                <a:latin typeface="Times New Roman" panose="02020603050405020304" pitchFamily="18" charset="0"/>
                <a:cs typeface="Times New Roman" panose="02020603050405020304" pitchFamily="18" charset="0"/>
              </a:rPr>
              <a:t>автономність</a:t>
            </a:r>
            <a:r>
              <a:rPr lang="ru-RU" sz="1500" dirty="0">
                <a:latin typeface="Times New Roman" panose="02020603050405020304" pitchFamily="18" charset="0"/>
                <a:cs typeface="Times New Roman" panose="02020603050405020304" pitchFamily="18" charset="0"/>
              </a:rPr>
              <a:t> і </a:t>
            </a:r>
            <a:r>
              <a:rPr lang="ru-RU" sz="1500" dirty="0" err="1">
                <a:latin typeface="Times New Roman" panose="02020603050405020304" pitchFamily="18" charset="0"/>
                <a:cs typeface="Times New Roman" panose="02020603050405020304" pitchFamily="18" charset="0"/>
              </a:rPr>
              <a:t>висока</a:t>
            </a:r>
            <a:r>
              <a:rPr lang="ru-RU" sz="1500" dirty="0">
                <a:latin typeface="Times New Roman" panose="02020603050405020304" pitchFamily="18" charset="0"/>
                <a:cs typeface="Times New Roman" panose="02020603050405020304" pitchFamily="18" charset="0"/>
              </a:rPr>
              <a:t> </a:t>
            </a:r>
            <a:r>
              <a:rPr lang="ru-RU" sz="1500" dirty="0" err="1">
                <a:latin typeface="Times New Roman" panose="02020603050405020304" pitchFamily="18" charset="0"/>
                <a:cs typeface="Times New Roman" panose="02020603050405020304" pitchFamily="18" charset="0"/>
              </a:rPr>
              <a:t>продуктивність</a:t>
            </a:r>
            <a:r>
              <a:rPr lang="ru-RU" sz="1500" dirty="0">
                <a:latin typeface="Times New Roman" panose="02020603050405020304" pitchFamily="18" charset="0"/>
                <a:cs typeface="Times New Roman" panose="02020603050405020304" pitchFamily="18" charset="0"/>
              </a:rPr>
              <a:t>. До </a:t>
            </a:r>
            <a:r>
              <a:rPr lang="ru-RU" sz="1500" dirty="0" err="1">
                <a:latin typeface="Times New Roman" panose="02020603050405020304" pitchFamily="18" charset="0"/>
                <a:cs typeface="Times New Roman" panose="02020603050405020304" pitchFamily="18" charset="0"/>
              </a:rPr>
              <a:t>управління</a:t>
            </a:r>
            <a:r>
              <a:rPr lang="ru-RU" sz="1500" dirty="0">
                <a:latin typeface="Times New Roman" panose="02020603050405020304" pitchFamily="18" charset="0"/>
                <a:cs typeface="Times New Roman" panose="02020603050405020304" pitchFamily="18" charset="0"/>
              </a:rPr>
              <a:t> </a:t>
            </a:r>
            <a:r>
              <a:rPr lang="ru-RU" sz="1500" dirty="0" err="1">
                <a:latin typeface="Times New Roman" panose="02020603050405020304" pitchFamily="18" charset="0"/>
                <a:cs typeface="Times New Roman" panose="02020603050405020304" pitchFamily="18" charset="0"/>
              </a:rPr>
              <a:t>подібним</a:t>
            </a:r>
            <a:r>
              <a:rPr lang="ru-RU" sz="1500" dirty="0">
                <a:latin typeface="Times New Roman" panose="02020603050405020304" pitchFamily="18" charset="0"/>
                <a:cs typeface="Times New Roman" panose="02020603050405020304" pitchFamily="18" charset="0"/>
              </a:rPr>
              <a:t> </a:t>
            </a:r>
            <a:r>
              <a:rPr lang="ru-RU" sz="1500" dirty="0" err="1">
                <a:latin typeface="Times New Roman" panose="02020603050405020304" pitchFamily="18" charset="0"/>
                <a:cs typeface="Times New Roman" panose="02020603050405020304" pitchFamily="18" charset="0"/>
              </a:rPr>
              <a:t>обладнанням</a:t>
            </a:r>
            <a:r>
              <a:rPr lang="ru-RU" sz="1500" dirty="0">
                <a:latin typeface="Times New Roman" panose="02020603050405020304" pitchFamily="18" charset="0"/>
                <a:cs typeface="Times New Roman" panose="02020603050405020304" pitchFamily="18" charset="0"/>
              </a:rPr>
              <a:t> </a:t>
            </a:r>
            <a:r>
              <a:rPr lang="ru-RU" sz="1500" dirty="0" err="1">
                <a:latin typeface="Times New Roman" panose="02020603050405020304" pitchFamily="18" charset="0"/>
                <a:cs typeface="Times New Roman" panose="02020603050405020304" pitchFamily="18" charset="0"/>
              </a:rPr>
              <a:t>допускаються</a:t>
            </a:r>
            <a:r>
              <a:rPr lang="ru-RU" sz="1500" dirty="0">
                <a:latin typeface="Times New Roman" panose="02020603050405020304" pitchFamily="18" charset="0"/>
                <a:cs typeface="Times New Roman" panose="02020603050405020304" pitchFamily="18" charset="0"/>
              </a:rPr>
              <a:t> </a:t>
            </a:r>
            <a:r>
              <a:rPr lang="ru-RU" sz="1500" dirty="0" err="1">
                <a:latin typeface="Times New Roman" panose="02020603050405020304" pitchFamily="18" charset="0"/>
                <a:cs typeface="Times New Roman" panose="02020603050405020304" pitchFamily="18" charset="0"/>
              </a:rPr>
              <a:t>тільки</a:t>
            </a:r>
            <a:r>
              <a:rPr lang="ru-RU" sz="1500" dirty="0">
                <a:latin typeface="Times New Roman" panose="02020603050405020304" pitchFamily="18" charset="0"/>
                <a:cs typeface="Times New Roman" panose="02020603050405020304" pitchFamily="18" charset="0"/>
              </a:rPr>
              <a:t> </a:t>
            </a:r>
            <a:r>
              <a:rPr lang="ru-RU" sz="1500" dirty="0" err="1">
                <a:latin typeface="Times New Roman" panose="02020603050405020304" pitchFamily="18" charset="0"/>
                <a:cs typeface="Times New Roman" panose="02020603050405020304" pitchFamily="18" charset="0"/>
              </a:rPr>
              <a:t>кваліфіковані</a:t>
            </a:r>
            <a:r>
              <a:rPr lang="ru-RU" sz="1500" dirty="0">
                <a:latin typeface="Times New Roman" panose="02020603050405020304" pitchFamily="18" charset="0"/>
                <a:cs typeface="Times New Roman" panose="02020603050405020304" pitchFamily="18" charset="0"/>
              </a:rPr>
              <a:t> </a:t>
            </a:r>
            <a:r>
              <a:rPr lang="ru-RU" sz="1500" dirty="0" err="1">
                <a:latin typeface="Times New Roman" panose="02020603050405020304" pitchFamily="18" charset="0"/>
                <a:cs typeface="Times New Roman" panose="02020603050405020304" pitchFamily="18" charset="0"/>
              </a:rPr>
              <a:t>фахівці</a:t>
            </a:r>
            <a:r>
              <a:rPr lang="ru-RU" sz="1500" dirty="0">
                <a:latin typeface="Times New Roman" panose="02020603050405020304" pitchFamily="18" charset="0"/>
                <a:cs typeface="Times New Roman" panose="02020603050405020304" pitchFamily="18" charset="0"/>
              </a:rPr>
              <a:t> </a:t>
            </a:r>
            <a:r>
              <a:rPr lang="ru-RU" sz="1500" dirty="0" err="1">
                <a:latin typeface="Times New Roman" panose="02020603050405020304" pitchFamily="18" charset="0"/>
                <a:cs typeface="Times New Roman" panose="02020603050405020304" pitchFamily="18" charset="0"/>
              </a:rPr>
              <a:t>збройних</a:t>
            </a:r>
            <a:r>
              <a:rPr lang="ru-RU" sz="1500" dirty="0">
                <a:latin typeface="Times New Roman" panose="02020603050405020304" pitchFamily="18" charset="0"/>
                <a:cs typeface="Times New Roman" panose="02020603050405020304" pitchFamily="18" charset="0"/>
              </a:rPr>
              <a:t> сил. </a:t>
            </a:r>
          </a:p>
          <a:p>
            <a:pPr>
              <a:lnSpc>
                <a:spcPct val="100000"/>
              </a:lnSpc>
            </a:pPr>
            <a:r>
              <a:rPr lang="uk-UA" sz="1500" dirty="0">
                <a:latin typeface="Times New Roman" panose="02020603050405020304" pitchFamily="18" charset="0"/>
                <a:cs typeface="Times New Roman" panose="02020603050405020304" pitchFamily="18" charset="0"/>
              </a:rPr>
              <a:t>Моє нестримне зацікавлення темою </a:t>
            </a:r>
            <a:r>
              <a:rPr lang="uk-UA" sz="1500" dirty="0" err="1">
                <a:latin typeface="Times New Roman" panose="02020603050405020304" pitchFamily="18" charset="0"/>
                <a:cs typeface="Times New Roman" panose="02020603050405020304" pitchFamily="18" charset="0"/>
              </a:rPr>
              <a:t>дронів</a:t>
            </a:r>
            <a:r>
              <a:rPr lang="uk-UA" sz="1500" dirty="0">
                <a:latin typeface="Times New Roman" panose="02020603050405020304" pitchFamily="18" charset="0"/>
                <a:cs typeface="Times New Roman" panose="02020603050405020304" pitchFamily="18" charset="0"/>
              </a:rPr>
              <a:t> </a:t>
            </a:r>
            <a:r>
              <a:rPr lang="uk-UA" sz="1500" dirty="0" err="1">
                <a:latin typeface="Times New Roman" panose="02020603050405020304" pitchFamily="18" charset="0"/>
                <a:cs typeface="Times New Roman" panose="02020603050405020304" pitchFamily="18" charset="0"/>
              </a:rPr>
              <a:t>виникло</a:t>
            </a:r>
            <a:r>
              <a:rPr lang="uk-UA" sz="1500" dirty="0">
                <a:latin typeface="Times New Roman" panose="02020603050405020304" pitchFamily="18" charset="0"/>
                <a:cs typeface="Times New Roman" panose="02020603050405020304" pitchFamily="18" charset="0"/>
              </a:rPr>
              <a:t> насамперед через величезне бажання допомогти нашим воїнам, зокрема моєму батькові та двоюрідним братам, які захищають нашу державу саме на передовій, та через захоплення сучасними технологіями та їх практичним застосуванням у складних умовах, таких як воєнний час. Ідея дослідницького </a:t>
            </a:r>
            <a:r>
              <a:rPr lang="uk-UA" sz="1500" dirty="0" err="1">
                <a:latin typeface="Times New Roman" panose="02020603050405020304" pitchFamily="18" charset="0"/>
                <a:cs typeface="Times New Roman" panose="02020603050405020304" pitchFamily="18" charset="0"/>
              </a:rPr>
              <a:t>проєкту</a:t>
            </a:r>
            <a:r>
              <a:rPr lang="uk-UA" sz="1500" dirty="0">
                <a:latin typeface="Times New Roman" panose="02020603050405020304" pitchFamily="18" charset="0"/>
                <a:cs typeface="Times New Roman" panose="02020603050405020304" pitchFamily="18" charset="0"/>
              </a:rPr>
              <a:t> з’явилася під час перегляду новин про використання </a:t>
            </a:r>
            <a:r>
              <a:rPr lang="uk-UA" sz="1500" dirty="0" err="1">
                <a:latin typeface="Times New Roman" panose="02020603050405020304" pitchFamily="18" charset="0"/>
                <a:cs typeface="Times New Roman" panose="02020603050405020304" pitchFamily="18" charset="0"/>
              </a:rPr>
              <a:t>дронів</a:t>
            </a:r>
            <a:r>
              <a:rPr lang="uk-UA" sz="1500" dirty="0">
                <a:latin typeface="Times New Roman" panose="02020603050405020304" pitchFamily="18" charset="0"/>
                <a:cs typeface="Times New Roman" panose="02020603050405020304" pitchFamily="18" charset="0"/>
              </a:rPr>
              <a:t> у гуманітарних, розвідувальних і оборонних місіях. Я зрозумів, що </a:t>
            </a:r>
            <a:r>
              <a:rPr lang="uk-UA" sz="1500" dirty="0" err="1">
                <a:latin typeface="Times New Roman" panose="02020603050405020304" pitchFamily="18" charset="0"/>
                <a:cs typeface="Times New Roman" panose="02020603050405020304" pitchFamily="18" charset="0"/>
              </a:rPr>
              <a:t>дрони</a:t>
            </a:r>
            <a:r>
              <a:rPr lang="uk-UA" sz="1500" dirty="0">
                <a:latin typeface="Times New Roman" panose="02020603050405020304" pitchFamily="18" charset="0"/>
                <a:cs typeface="Times New Roman" panose="02020603050405020304" pitchFamily="18" charset="0"/>
              </a:rPr>
              <a:t> стали не просто технічним досягненням, а інструментом, який може змінити хід історії та врятувати життя. </a:t>
            </a:r>
            <a:r>
              <a:rPr lang="uk-UA" sz="1600" dirty="0">
                <a:latin typeface="Times New Roman" panose="02020603050405020304" pitchFamily="18" charset="0"/>
                <a:cs typeface="Times New Roman" panose="02020603050405020304" pitchFamily="18" charset="0"/>
              </a:rPr>
              <a:t> </a:t>
            </a:r>
          </a:p>
          <a:p>
            <a:endParaRPr lang="ru-RU" sz="2000" dirty="0">
              <a:latin typeface="Times New Roman" panose="02020603050405020304" pitchFamily="18" charset="0"/>
              <a:cs typeface="Times New Roman" panose="02020603050405020304" pitchFamily="18" charset="0"/>
            </a:endParaRPr>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52712" y="5022687"/>
            <a:ext cx="2600326" cy="1582552"/>
          </a:xfrm>
          <a:prstGeom prst="rect">
            <a:avLst/>
          </a:prstGeom>
        </p:spPr>
      </p:pic>
      <p:pic>
        <p:nvPicPr>
          <p:cNvPr id="5" name="Рисунок 4"/>
          <p:cNvPicPr>
            <a:picLocks noChangeAspect="1"/>
          </p:cNvPicPr>
          <p:nvPr/>
        </p:nvPicPr>
        <p:blipFill>
          <a:blip r:embed="rId3"/>
          <a:stretch>
            <a:fillRect/>
          </a:stretch>
        </p:blipFill>
        <p:spPr>
          <a:xfrm>
            <a:off x="6252712" y="966103"/>
            <a:ext cx="2600326" cy="1458010"/>
          </a:xfrm>
          <a:prstGeom prst="rect">
            <a:avLst/>
          </a:prstGeom>
        </p:spPr>
      </p:pic>
      <p:pic>
        <p:nvPicPr>
          <p:cNvPr id="6" name="Рисунок 5"/>
          <p:cNvPicPr>
            <a:picLocks noChangeAspect="1"/>
          </p:cNvPicPr>
          <p:nvPr/>
        </p:nvPicPr>
        <p:blipFill>
          <a:blip r:embed="rId4"/>
          <a:stretch>
            <a:fillRect/>
          </a:stretch>
        </p:blipFill>
        <p:spPr>
          <a:xfrm>
            <a:off x="6252712" y="3021980"/>
            <a:ext cx="2587083" cy="1533632"/>
          </a:xfrm>
          <a:prstGeom prst="rect">
            <a:avLst/>
          </a:prstGeom>
        </p:spPr>
      </p:pic>
    </p:spTree>
    <p:extLst>
      <p:ext uri="{BB962C8B-B14F-4D97-AF65-F5344CB8AC3E}">
        <p14:creationId xmlns:p14="http://schemas.microsoft.com/office/powerpoint/2010/main" val="282539087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28650" y="365126"/>
            <a:ext cx="7886700" cy="463549"/>
          </a:xfrm>
        </p:spPr>
        <p:txBody>
          <a:bodyPr>
            <a:normAutofit fontScale="90000"/>
          </a:bodyPr>
          <a:lstStyle/>
          <a:p>
            <a:r>
              <a:rPr lang="uk-UA" sz="2800" b="1" dirty="0" smtClean="0">
                <a:latin typeface="Times New Roman" panose="02020603050405020304" pitchFamily="18" charset="0"/>
                <a:cs typeface="Times New Roman" panose="02020603050405020304" pitchFamily="18" charset="0"/>
              </a:rPr>
              <a:t>У чому ж полягає оригінальність теми</a:t>
            </a:r>
            <a:endParaRPr lang="ru-RU" sz="2800" b="1"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628650" y="828675"/>
            <a:ext cx="7886700" cy="5657849"/>
          </a:xfrm>
        </p:spPr>
        <p:txBody>
          <a:bodyPr>
            <a:normAutofit fontScale="55000" lnSpcReduction="20000"/>
          </a:bodyPr>
          <a:lstStyle/>
          <a:p>
            <a:pPr marL="0" indent="0">
              <a:buNone/>
            </a:pPr>
            <a:r>
              <a:rPr lang="ru-RU" sz="2900" dirty="0" err="1">
                <a:latin typeface="Times New Roman" panose="02020603050405020304" pitchFamily="18" charset="0"/>
                <a:cs typeface="Times New Roman" panose="02020603050405020304" pitchFamily="18" charset="0"/>
              </a:rPr>
              <a:t>Обрання</a:t>
            </a:r>
            <a:r>
              <a:rPr lang="ru-RU" sz="2900" dirty="0">
                <a:latin typeface="Times New Roman" panose="02020603050405020304" pitchFamily="18" charset="0"/>
                <a:cs typeface="Times New Roman" panose="02020603050405020304" pitchFamily="18" charset="0"/>
              </a:rPr>
              <a:t> </a:t>
            </a:r>
            <a:r>
              <a:rPr lang="ru-RU" sz="2900" dirty="0" err="1" smtClean="0">
                <a:latin typeface="Times New Roman" panose="02020603050405020304" pitchFamily="18" charset="0"/>
                <a:cs typeface="Times New Roman" panose="02020603050405020304" pitchFamily="18" charset="0"/>
              </a:rPr>
              <a:t>нижче</a:t>
            </a:r>
            <a:r>
              <a:rPr lang="ru-RU" sz="2900" dirty="0" smtClean="0">
                <a:latin typeface="Times New Roman" panose="02020603050405020304" pitchFamily="18" charset="0"/>
                <a:cs typeface="Times New Roman" panose="02020603050405020304" pitchFamily="18" charset="0"/>
              </a:rPr>
              <a:t> </a:t>
            </a:r>
            <a:r>
              <a:rPr lang="ru-RU" sz="2900" dirty="0" err="1" smtClean="0">
                <a:latin typeface="Times New Roman" panose="02020603050405020304" pitchFamily="18" charset="0"/>
                <a:cs typeface="Times New Roman" panose="02020603050405020304" pitchFamily="18" charset="0"/>
              </a:rPr>
              <a:t>зазначених</a:t>
            </a:r>
            <a:r>
              <a:rPr lang="ru-RU" sz="2900" dirty="0" smtClean="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напрямків</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може</a:t>
            </a:r>
            <a:r>
              <a:rPr lang="ru-RU" sz="2900" dirty="0">
                <a:latin typeface="Times New Roman" panose="02020603050405020304" pitchFamily="18" charset="0"/>
                <a:cs typeface="Times New Roman" panose="02020603050405020304" pitchFamily="18" charset="0"/>
              </a:rPr>
              <a:t> не </a:t>
            </a:r>
            <a:r>
              <a:rPr lang="ru-RU" sz="2900" dirty="0" err="1">
                <a:latin typeface="Times New Roman" panose="02020603050405020304" pitchFamily="18" charset="0"/>
                <a:cs typeface="Times New Roman" panose="02020603050405020304" pitchFamily="18" charset="0"/>
              </a:rPr>
              <a:t>лише</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сприяти</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розробці</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більш</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надійних</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дронів</a:t>
            </a:r>
            <a:r>
              <a:rPr lang="ru-RU" sz="2900" dirty="0">
                <a:latin typeface="Times New Roman" panose="02020603050405020304" pitchFamily="18" charset="0"/>
                <a:cs typeface="Times New Roman" panose="02020603050405020304" pitchFamily="18" charset="0"/>
              </a:rPr>
              <a:t> для </a:t>
            </a:r>
            <a:r>
              <a:rPr lang="ru-RU" sz="2900" dirty="0" err="1">
                <a:latin typeface="Times New Roman" panose="02020603050405020304" pitchFamily="18" charset="0"/>
                <a:cs typeface="Times New Roman" panose="02020603050405020304" pitchFamily="18" charset="0"/>
              </a:rPr>
              <a:t>зимового</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використання</a:t>
            </a:r>
            <a:r>
              <a:rPr lang="ru-RU" sz="2900" dirty="0">
                <a:latin typeface="Times New Roman" panose="02020603050405020304" pitchFamily="18" charset="0"/>
                <a:cs typeface="Times New Roman" panose="02020603050405020304" pitchFamily="18" charset="0"/>
              </a:rPr>
              <a:t>, а й </a:t>
            </a:r>
            <a:r>
              <a:rPr lang="ru-RU" sz="2900" dirty="0" err="1">
                <a:latin typeface="Times New Roman" panose="02020603050405020304" pitchFamily="18" charset="0"/>
                <a:cs typeface="Times New Roman" panose="02020603050405020304" pitchFamily="18" charset="0"/>
              </a:rPr>
              <a:t>поліпшити</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їх</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функціональність</a:t>
            </a:r>
            <a:r>
              <a:rPr lang="ru-RU" sz="2900" dirty="0">
                <a:latin typeface="Times New Roman" panose="02020603050405020304" pitchFamily="18" charset="0"/>
                <a:cs typeface="Times New Roman" panose="02020603050405020304" pitchFamily="18" charset="0"/>
              </a:rPr>
              <a:t> і </a:t>
            </a:r>
            <a:r>
              <a:rPr lang="ru-RU" sz="2900" dirty="0" err="1">
                <a:latin typeface="Times New Roman" panose="02020603050405020304" pitchFamily="18" charset="0"/>
                <a:cs typeface="Times New Roman" panose="02020603050405020304" pitchFamily="18" charset="0"/>
              </a:rPr>
              <a:t>ефективність</a:t>
            </a:r>
            <a:r>
              <a:rPr lang="ru-RU" sz="2900" dirty="0">
                <a:latin typeface="Times New Roman" panose="02020603050405020304" pitchFamily="18" charset="0"/>
                <a:cs typeface="Times New Roman" panose="02020603050405020304" pitchFamily="18" charset="0"/>
              </a:rPr>
              <a:t> у </a:t>
            </a:r>
            <a:r>
              <a:rPr lang="ru-RU" sz="2900" dirty="0" err="1">
                <a:latin typeface="Times New Roman" panose="02020603050405020304" pitchFamily="18" charset="0"/>
                <a:cs typeface="Times New Roman" panose="02020603050405020304" pitchFamily="18" charset="0"/>
              </a:rPr>
              <a:t>важких</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умовах</a:t>
            </a:r>
            <a:r>
              <a:rPr lang="ru-RU" sz="2900" dirty="0" smtClean="0">
                <a:latin typeface="Times New Roman" panose="02020603050405020304" pitchFamily="18" charset="0"/>
                <a:cs typeface="Times New Roman" panose="02020603050405020304" pitchFamily="18" charset="0"/>
              </a:rPr>
              <a:t>.</a:t>
            </a:r>
          </a:p>
          <a:p>
            <a:r>
              <a:rPr lang="ru-RU" dirty="0">
                <a:latin typeface="Times New Roman" panose="02020603050405020304" pitchFamily="18" charset="0"/>
                <a:cs typeface="Times New Roman" panose="02020603050405020304" pitchFamily="18" charset="0"/>
              </a:rPr>
              <a:t>1. </a:t>
            </a:r>
            <a:r>
              <a:rPr lang="ru-RU" dirty="0" err="1" smtClean="0">
                <a:latin typeface="Times New Roman" panose="02020603050405020304" pitchFamily="18" charset="0"/>
                <a:cs typeface="Times New Roman" panose="02020603050405020304" pitchFamily="18" charset="0"/>
              </a:rPr>
              <a:t>Вивчення</a:t>
            </a:r>
            <a:r>
              <a:rPr lang="ru-RU" dirty="0" smtClean="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і </a:t>
            </a:r>
            <a:r>
              <a:rPr lang="ru-RU" dirty="0" err="1">
                <a:latin typeface="Times New Roman" panose="02020603050405020304" pitchFamily="18" charset="0"/>
                <a:cs typeface="Times New Roman" panose="02020603050405020304" pitchFamily="18" charset="0"/>
              </a:rPr>
              <a:t>використання</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композитних</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матеріалів</a:t>
            </a:r>
            <a:r>
              <a:rPr lang="ru-RU" dirty="0">
                <a:latin typeface="Times New Roman" panose="02020603050405020304" pitchFamily="18" charset="0"/>
                <a:cs typeface="Times New Roman" panose="02020603050405020304" pitchFamily="18" charset="0"/>
              </a:rPr>
              <a:t> та </a:t>
            </a:r>
            <a:r>
              <a:rPr lang="ru-RU" dirty="0" err="1">
                <a:latin typeface="Times New Roman" panose="02020603050405020304" pitchFamily="18" charset="0"/>
                <a:cs typeface="Times New Roman" panose="02020603050405020304" pitchFamily="18" charset="0"/>
              </a:rPr>
              <a:t>термостійких</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сплавів</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які</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зберігають</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легкість</a:t>
            </a:r>
            <a:r>
              <a:rPr lang="ru-RU" dirty="0">
                <a:latin typeface="Times New Roman" panose="02020603050405020304" pitchFamily="18" charset="0"/>
                <a:cs typeface="Times New Roman" panose="02020603050405020304" pitchFamily="18" charset="0"/>
              </a:rPr>
              <a:t>, але при </a:t>
            </a:r>
            <a:r>
              <a:rPr lang="ru-RU" dirty="0" err="1">
                <a:latin typeface="Times New Roman" panose="02020603050405020304" pitchFamily="18" charset="0"/>
                <a:cs typeface="Times New Roman" panose="02020603050405020304" pitchFamily="18" charset="0"/>
              </a:rPr>
              <a:t>цьому</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стійкі</a:t>
            </a:r>
            <a:r>
              <a:rPr lang="ru-RU" dirty="0">
                <a:latin typeface="Times New Roman" panose="02020603050405020304" pitchFamily="18" charset="0"/>
                <a:cs typeface="Times New Roman" panose="02020603050405020304" pitchFamily="18" charset="0"/>
              </a:rPr>
              <a:t> до </a:t>
            </a:r>
            <a:r>
              <a:rPr lang="ru-RU" dirty="0" err="1">
                <a:latin typeface="Times New Roman" panose="02020603050405020304" pitchFamily="18" charset="0"/>
                <a:cs typeface="Times New Roman" panose="02020603050405020304" pitchFamily="18" charset="0"/>
              </a:rPr>
              <a:t>низьких</a:t>
            </a:r>
            <a:r>
              <a:rPr lang="ru-RU" dirty="0">
                <a:latin typeface="Times New Roman" panose="02020603050405020304" pitchFamily="18" charset="0"/>
                <a:cs typeface="Times New Roman" panose="02020603050405020304" pitchFamily="18" charset="0"/>
              </a:rPr>
              <a:t> температур та </a:t>
            </a:r>
            <a:r>
              <a:rPr lang="ru-RU" dirty="0" err="1">
                <a:latin typeface="Times New Roman" panose="02020603050405020304" pitchFamily="18" charset="0"/>
                <a:cs typeface="Times New Roman" panose="02020603050405020304" pitchFamily="18" charset="0"/>
              </a:rPr>
              <a:t>механічних</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навантажень</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Наприклад</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використання</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полімерів</a:t>
            </a:r>
            <a:r>
              <a:rPr lang="ru-RU" dirty="0">
                <a:latin typeface="Times New Roman" panose="02020603050405020304" pitchFamily="18" charset="0"/>
                <a:cs typeface="Times New Roman" panose="02020603050405020304" pitchFamily="18" charset="0"/>
              </a:rPr>
              <a:t> з </a:t>
            </a:r>
            <a:r>
              <a:rPr lang="ru-RU" dirty="0" err="1">
                <a:latin typeface="Times New Roman" panose="02020603050405020304" pitchFamily="18" charset="0"/>
                <a:cs typeface="Times New Roman" panose="02020603050405020304" pitchFamily="18" charset="0"/>
              </a:rPr>
              <a:t>додаванням</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наночастинок</a:t>
            </a:r>
            <a:r>
              <a:rPr lang="ru-RU" dirty="0">
                <a:latin typeface="Times New Roman" panose="02020603050405020304" pitchFamily="18" charset="0"/>
                <a:cs typeface="Times New Roman" panose="02020603050405020304" pitchFamily="18" charset="0"/>
              </a:rPr>
              <a:t> для </a:t>
            </a:r>
            <a:r>
              <a:rPr lang="ru-RU" dirty="0" err="1">
                <a:latin typeface="Times New Roman" panose="02020603050405020304" pitchFamily="18" charset="0"/>
                <a:cs typeface="Times New Roman" panose="02020603050405020304" pitchFamily="18" charset="0"/>
              </a:rPr>
              <a:t>підвищення</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міцності</a:t>
            </a:r>
            <a:r>
              <a:rPr lang="ru-RU" dirty="0">
                <a:latin typeface="Times New Roman" panose="02020603050405020304" pitchFamily="18" charset="0"/>
                <a:cs typeface="Times New Roman" panose="02020603050405020304" pitchFamily="18" charset="0"/>
              </a:rPr>
              <a:t> та </a:t>
            </a:r>
            <a:r>
              <a:rPr lang="ru-RU" dirty="0" err="1">
                <a:latin typeface="Times New Roman" panose="02020603050405020304" pitchFamily="18" charset="0"/>
                <a:cs typeface="Times New Roman" panose="02020603050405020304" pitchFamily="18" charset="0"/>
              </a:rPr>
              <a:t>теплоізоляції</a:t>
            </a:r>
            <a:r>
              <a:rPr lang="ru-RU" dirty="0">
                <a:latin typeface="Times New Roman" panose="02020603050405020304" pitchFamily="18" charset="0"/>
                <a:cs typeface="Times New Roman" panose="02020603050405020304" pitchFamily="18" charset="0"/>
              </a:rPr>
              <a:t>.</a:t>
            </a:r>
            <a:r>
              <a:rPr lang="ru-RU" sz="2000" dirty="0">
                <a:latin typeface="Times New Roman" panose="02020603050405020304" pitchFamily="18" charset="0"/>
                <a:cs typeface="Times New Roman" panose="02020603050405020304" pitchFamily="18" charset="0"/>
              </a:rPr>
              <a:t/>
            </a:r>
            <a:br>
              <a:rPr lang="ru-RU" sz="2000" dirty="0">
                <a:latin typeface="Times New Roman" panose="02020603050405020304" pitchFamily="18" charset="0"/>
                <a:cs typeface="Times New Roman" panose="02020603050405020304" pitchFamily="18" charset="0"/>
              </a:rPr>
            </a:br>
            <a:r>
              <a:rPr lang="ru-RU" sz="2000" dirty="0">
                <a:latin typeface="Times New Roman" panose="02020603050405020304" pitchFamily="18" charset="0"/>
                <a:cs typeface="Times New Roman" panose="02020603050405020304" pitchFamily="18" charset="0"/>
              </a:rPr>
              <a:t/>
            </a:r>
            <a:br>
              <a:rPr lang="ru-RU" sz="2000" dirty="0">
                <a:latin typeface="Times New Roman" panose="02020603050405020304" pitchFamily="18" charset="0"/>
                <a:cs typeface="Times New Roman" panose="02020603050405020304" pitchFamily="18" charset="0"/>
              </a:rPr>
            </a:br>
            <a:r>
              <a:rPr lang="ru-RU" dirty="0">
                <a:latin typeface="Times New Roman" panose="02020603050405020304" pitchFamily="18" charset="0"/>
                <a:cs typeface="Times New Roman" panose="02020603050405020304" pitchFamily="18" charset="0"/>
              </a:rPr>
              <a:t>2. </a:t>
            </a:r>
            <a:r>
              <a:rPr lang="ru-RU" dirty="0" err="1" smtClean="0">
                <a:latin typeface="Times New Roman" panose="02020603050405020304" pitchFamily="18" charset="0"/>
                <a:cs typeface="Times New Roman" panose="02020603050405020304" pitchFamily="18" charset="0"/>
              </a:rPr>
              <a:t>Розробка</a:t>
            </a:r>
            <a:r>
              <a:rPr lang="ru-RU" dirty="0" smtClean="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системи</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обігріву</a:t>
            </a:r>
            <a:r>
              <a:rPr lang="ru-RU" dirty="0">
                <a:latin typeface="Times New Roman" panose="02020603050405020304" pitchFamily="18" charset="0"/>
                <a:cs typeface="Times New Roman" panose="02020603050405020304" pitchFamily="18" charset="0"/>
              </a:rPr>
              <a:t> для </a:t>
            </a:r>
            <a:r>
              <a:rPr lang="ru-RU" dirty="0" err="1">
                <a:latin typeface="Times New Roman" panose="02020603050405020304" pitchFamily="18" charset="0"/>
                <a:cs typeface="Times New Roman" panose="02020603050405020304" pitchFamily="18" charset="0"/>
              </a:rPr>
              <a:t>камери</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дрона</a:t>
            </a:r>
            <a:r>
              <a:rPr lang="ru-RU" dirty="0">
                <a:latin typeface="Times New Roman" panose="02020603050405020304" pitchFamily="18" charset="0"/>
                <a:cs typeface="Times New Roman" panose="02020603050405020304" pitchFamily="18" charset="0"/>
              </a:rPr>
              <a:t>, яка автоматично </a:t>
            </a:r>
            <a:r>
              <a:rPr lang="ru-RU" dirty="0" err="1">
                <a:latin typeface="Times New Roman" panose="02020603050405020304" pitchFamily="18" charset="0"/>
                <a:cs typeface="Times New Roman" panose="02020603050405020304" pitchFamily="18" charset="0"/>
              </a:rPr>
              <a:t>включається</a:t>
            </a:r>
            <a:r>
              <a:rPr lang="ru-RU" dirty="0">
                <a:latin typeface="Times New Roman" panose="02020603050405020304" pitchFamily="18" charset="0"/>
                <a:cs typeface="Times New Roman" panose="02020603050405020304" pitchFamily="18" charset="0"/>
              </a:rPr>
              <a:t> при </a:t>
            </a:r>
            <a:r>
              <a:rPr lang="ru-RU" dirty="0" err="1">
                <a:latin typeface="Times New Roman" panose="02020603050405020304" pitchFamily="18" charset="0"/>
                <a:cs typeface="Times New Roman" panose="02020603050405020304" pitchFamily="18" charset="0"/>
              </a:rPr>
              <a:t>зниженні</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температури</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Це</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може</a:t>
            </a:r>
            <a:r>
              <a:rPr lang="ru-RU" dirty="0">
                <a:latin typeface="Times New Roman" panose="02020603050405020304" pitchFamily="18" charset="0"/>
                <a:cs typeface="Times New Roman" panose="02020603050405020304" pitchFamily="18" charset="0"/>
              </a:rPr>
              <a:t> бути </a:t>
            </a:r>
            <a:r>
              <a:rPr lang="ru-RU" dirty="0" err="1">
                <a:latin typeface="Times New Roman" panose="02020603050405020304" pitchFamily="18" charset="0"/>
                <a:cs typeface="Times New Roman" panose="02020603050405020304" pitchFamily="18" charset="0"/>
              </a:rPr>
              <a:t>реалізовано</a:t>
            </a:r>
            <a:r>
              <a:rPr lang="ru-RU" dirty="0">
                <a:latin typeface="Times New Roman" panose="02020603050405020304" pitchFamily="18" charset="0"/>
                <a:cs typeface="Times New Roman" panose="02020603050405020304" pitchFamily="18" charset="0"/>
              </a:rPr>
              <a:t> за </a:t>
            </a:r>
            <a:r>
              <a:rPr lang="ru-RU" dirty="0" err="1">
                <a:latin typeface="Times New Roman" panose="02020603050405020304" pitchFamily="18" charset="0"/>
                <a:cs typeface="Times New Roman" panose="02020603050405020304" pitchFamily="18" charset="0"/>
              </a:rPr>
              <a:t>допомогою</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електричних</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нагрівачів</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або</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навіть</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використанням</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термоелектричних</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генераторів</a:t>
            </a:r>
            <a:r>
              <a:rPr lang="ru-RU" dirty="0">
                <a:latin typeface="Times New Roman" panose="02020603050405020304" pitchFamily="18" charset="0"/>
                <a:cs typeface="Times New Roman" panose="02020603050405020304" pitchFamily="18" charset="0"/>
              </a:rPr>
              <a:t>.</a:t>
            </a:r>
            <a:r>
              <a:rPr lang="ru-RU" sz="2000" dirty="0">
                <a:latin typeface="Times New Roman" panose="02020603050405020304" pitchFamily="18" charset="0"/>
                <a:cs typeface="Times New Roman" panose="02020603050405020304" pitchFamily="18" charset="0"/>
              </a:rPr>
              <a:t/>
            </a:r>
            <a:br>
              <a:rPr lang="ru-RU" sz="2000" dirty="0">
                <a:latin typeface="Times New Roman" panose="02020603050405020304" pitchFamily="18" charset="0"/>
                <a:cs typeface="Times New Roman" panose="02020603050405020304" pitchFamily="18" charset="0"/>
              </a:rPr>
            </a:br>
            <a:r>
              <a:rPr lang="ru-RU" sz="2000" dirty="0">
                <a:latin typeface="Times New Roman" panose="02020603050405020304" pitchFamily="18" charset="0"/>
                <a:cs typeface="Times New Roman" panose="02020603050405020304" pitchFamily="18" charset="0"/>
              </a:rPr>
              <a:t/>
            </a:r>
            <a:br>
              <a:rPr lang="ru-RU" sz="2000" dirty="0">
                <a:latin typeface="Times New Roman" panose="02020603050405020304" pitchFamily="18" charset="0"/>
                <a:cs typeface="Times New Roman" panose="02020603050405020304" pitchFamily="18" charset="0"/>
              </a:rPr>
            </a:br>
            <a:r>
              <a:rPr lang="ru-RU" dirty="0">
                <a:latin typeface="Times New Roman" panose="02020603050405020304" pitchFamily="18" charset="0"/>
                <a:cs typeface="Times New Roman" panose="02020603050405020304" pitchFamily="18" charset="0"/>
              </a:rPr>
              <a:t>3. </a:t>
            </a:r>
            <a:r>
              <a:rPr lang="ru-RU" dirty="0" err="1" smtClean="0">
                <a:latin typeface="Times New Roman" panose="02020603050405020304" pitchFamily="18" charset="0"/>
                <a:cs typeface="Times New Roman" panose="02020603050405020304" pitchFamily="18" charset="0"/>
              </a:rPr>
              <a:t>Проектування</a:t>
            </a:r>
            <a:r>
              <a:rPr lang="ru-RU" dirty="0" smtClean="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деталей, </a:t>
            </a:r>
            <a:r>
              <a:rPr lang="ru-RU" dirty="0" err="1">
                <a:latin typeface="Times New Roman" panose="02020603050405020304" pitchFamily="18" charset="0"/>
                <a:cs typeface="Times New Roman" panose="02020603050405020304" pitchFamily="18" charset="0"/>
              </a:rPr>
              <a:t>які</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забезпечують</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кращу</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аеродинаміку</a:t>
            </a:r>
            <a:r>
              <a:rPr lang="ru-RU" dirty="0">
                <a:latin typeface="Times New Roman" panose="02020603050405020304" pitchFamily="18" charset="0"/>
                <a:cs typeface="Times New Roman" panose="02020603050405020304" pitchFamily="18" charset="0"/>
              </a:rPr>
              <a:t> та </a:t>
            </a:r>
            <a:r>
              <a:rPr lang="ru-RU" dirty="0" err="1">
                <a:latin typeface="Times New Roman" panose="02020603050405020304" pitchFamily="18" charset="0"/>
                <a:cs typeface="Times New Roman" panose="02020603050405020304" pitchFamily="18" charset="0"/>
              </a:rPr>
              <a:t>менше</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забруднення</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снігом</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або</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льодовими</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кристалами</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Використання</a:t>
            </a:r>
            <a:r>
              <a:rPr lang="ru-RU" dirty="0">
                <a:latin typeface="Times New Roman" panose="02020603050405020304" pitchFamily="18" charset="0"/>
                <a:cs typeface="Times New Roman" panose="02020603050405020304" pitchFamily="18" charset="0"/>
              </a:rPr>
              <a:t> форм, </a:t>
            </a:r>
            <a:r>
              <a:rPr lang="ru-RU" dirty="0" err="1">
                <a:latin typeface="Times New Roman" panose="02020603050405020304" pitchFamily="18" charset="0"/>
                <a:cs typeface="Times New Roman" panose="02020603050405020304" pitchFamily="18" charset="0"/>
              </a:rPr>
              <a:t>які</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зменшують</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накопичення</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снігу</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або</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решток</a:t>
            </a:r>
            <a:r>
              <a:rPr lang="ru-RU" dirty="0">
                <a:latin typeface="Times New Roman" panose="02020603050405020304" pitchFamily="18" charset="0"/>
                <a:cs typeface="Times New Roman" panose="02020603050405020304" pitchFamily="18" charset="0"/>
              </a:rPr>
              <a:t> на </a:t>
            </a:r>
            <a:r>
              <a:rPr lang="ru-RU" dirty="0" err="1">
                <a:latin typeface="Times New Roman" panose="02020603050405020304" pitchFamily="18" charset="0"/>
                <a:cs typeface="Times New Roman" panose="02020603050405020304" pitchFamily="18" charset="0"/>
              </a:rPr>
              <a:t>оптичних</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елементах</a:t>
            </a:r>
            <a:r>
              <a:rPr lang="ru-RU" dirty="0">
                <a:latin typeface="Times New Roman" panose="02020603050405020304" pitchFamily="18" charset="0"/>
                <a:cs typeface="Times New Roman" panose="02020603050405020304" pitchFamily="18" charset="0"/>
              </a:rPr>
              <a:t>.</a:t>
            </a:r>
            <a:r>
              <a:rPr lang="ru-RU" sz="2000" dirty="0">
                <a:latin typeface="Times New Roman" panose="02020603050405020304" pitchFamily="18" charset="0"/>
                <a:cs typeface="Times New Roman" panose="02020603050405020304" pitchFamily="18" charset="0"/>
              </a:rPr>
              <a:t/>
            </a:r>
            <a:br>
              <a:rPr lang="ru-RU" sz="2000" dirty="0">
                <a:latin typeface="Times New Roman" panose="02020603050405020304" pitchFamily="18" charset="0"/>
                <a:cs typeface="Times New Roman" panose="02020603050405020304" pitchFamily="18" charset="0"/>
              </a:rPr>
            </a:br>
            <a:r>
              <a:rPr lang="ru-RU" sz="2000" dirty="0">
                <a:latin typeface="Times New Roman" panose="02020603050405020304" pitchFamily="18" charset="0"/>
                <a:cs typeface="Times New Roman" panose="02020603050405020304" pitchFamily="18" charset="0"/>
              </a:rPr>
              <a:t/>
            </a:r>
            <a:br>
              <a:rPr lang="ru-RU" sz="2000" dirty="0">
                <a:latin typeface="Times New Roman" panose="02020603050405020304" pitchFamily="18" charset="0"/>
                <a:cs typeface="Times New Roman" panose="02020603050405020304" pitchFamily="18" charset="0"/>
              </a:rPr>
            </a:br>
            <a:r>
              <a:rPr lang="ru-RU" dirty="0">
                <a:latin typeface="Times New Roman" panose="02020603050405020304" pitchFamily="18" charset="0"/>
                <a:cs typeface="Times New Roman" panose="02020603050405020304" pitchFamily="18" charset="0"/>
              </a:rPr>
              <a:t>4. </a:t>
            </a:r>
            <a:r>
              <a:rPr lang="ru-RU" dirty="0" err="1" smtClean="0">
                <a:latin typeface="Times New Roman" panose="02020603050405020304" pitchFamily="18" charset="0"/>
                <a:cs typeface="Times New Roman" panose="02020603050405020304" pitchFamily="18" charset="0"/>
              </a:rPr>
              <a:t>Розробка</a:t>
            </a:r>
            <a:r>
              <a:rPr lang="ru-RU" dirty="0" smtClean="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спеціальних</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конструкцій</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або</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покриттів</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які</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запобігають</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утворенню</a:t>
            </a:r>
            <a:r>
              <a:rPr lang="ru-RU" dirty="0">
                <a:latin typeface="Times New Roman" panose="02020603050405020304" pitchFamily="18" charset="0"/>
                <a:cs typeface="Times New Roman" panose="02020603050405020304" pitchFamily="18" charset="0"/>
              </a:rPr>
              <a:t> конденсату на </a:t>
            </a:r>
            <a:r>
              <a:rPr lang="ru-RU" dirty="0" err="1">
                <a:latin typeface="Times New Roman" panose="02020603050405020304" pitchFamily="18" charset="0"/>
                <a:cs typeface="Times New Roman" panose="02020603050405020304" pitchFamily="18" charset="0"/>
              </a:rPr>
              <a:t>оптиці</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камери</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Це</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може</a:t>
            </a:r>
            <a:r>
              <a:rPr lang="ru-RU" dirty="0">
                <a:latin typeface="Times New Roman" panose="02020603050405020304" pitchFamily="18" charset="0"/>
                <a:cs typeface="Times New Roman" panose="02020603050405020304" pitchFamily="18" charset="0"/>
              </a:rPr>
              <a:t> бути </a:t>
            </a:r>
            <a:r>
              <a:rPr lang="ru-RU" dirty="0" err="1">
                <a:latin typeface="Times New Roman" panose="02020603050405020304" pitchFamily="18" charset="0"/>
                <a:cs typeface="Times New Roman" panose="02020603050405020304" pitchFamily="18" charset="0"/>
              </a:rPr>
              <a:t>досягнуто</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завдяки</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використанню</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гідрофобних</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матеріалів</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або</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системи</a:t>
            </a:r>
            <a:r>
              <a:rPr lang="ru-RU" dirty="0">
                <a:latin typeface="Times New Roman" panose="02020603050405020304" pitchFamily="18" charset="0"/>
                <a:cs typeface="Times New Roman" panose="02020603050405020304" pitchFamily="18" charset="0"/>
              </a:rPr>
              <a:t> активного контролю </a:t>
            </a:r>
            <a:r>
              <a:rPr lang="ru-RU" dirty="0" err="1">
                <a:latin typeface="Times New Roman" panose="02020603050405020304" pitchFamily="18" charset="0"/>
                <a:cs typeface="Times New Roman" panose="02020603050405020304" pitchFamily="18" charset="0"/>
              </a:rPr>
              <a:t>вологості</a:t>
            </a:r>
            <a:r>
              <a:rPr lang="ru-RU" dirty="0">
                <a:latin typeface="Times New Roman" panose="02020603050405020304" pitchFamily="18" charset="0"/>
                <a:cs typeface="Times New Roman" panose="02020603050405020304" pitchFamily="18" charset="0"/>
              </a:rPr>
              <a:t>.</a:t>
            </a:r>
            <a:r>
              <a:rPr lang="ru-RU" sz="2000" dirty="0">
                <a:latin typeface="Times New Roman" panose="02020603050405020304" pitchFamily="18" charset="0"/>
                <a:cs typeface="Times New Roman" panose="02020603050405020304" pitchFamily="18" charset="0"/>
              </a:rPr>
              <a:t/>
            </a:r>
            <a:br>
              <a:rPr lang="ru-RU" sz="2000" dirty="0">
                <a:latin typeface="Times New Roman" panose="02020603050405020304" pitchFamily="18" charset="0"/>
                <a:cs typeface="Times New Roman" panose="02020603050405020304" pitchFamily="18" charset="0"/>
              </a:rPr>
            </a:br>
            <a:r>
              <a:rPr lang="ru-RU" sz="2000" dirty="0">
                <a:latin typeface="Times New Roman" panose="02020603050405020304" pitchFamily="18" charset="0"/>
                <a:cs typeface="Times New Roman" panose="02020603050405020304" pitchFamily="18" charset="0"/>
              </a:rPr>
              <a:t/>
            </a:r>
            <a:br>
              <a:rPr lang="ru-RU" sz="2000" dirty="0">
                <a:latin typeface="Times New Roman" panose="02020603050405020304" pitchFamily="18" charset="0"/>
                <a:cs typeface="Times New Roman" panose="02020603050405020304" pitchFamily="18" charset="0"/>
              </a:rPr>
            </a:br>
            <a:r>
              <a:rPr lang="ru-RU" dirty="0">
                <a:latin typeface="Times New Roman" panose="02020603050405020304" pitchFamily="18" charset="0"/>
                <a:cs typeface="Times New Roman" panose="02020603050405020304" pitchFamily="18" charset="0"/>
              </a:rPr>
              <a:t>5. </a:t>
            </a:r>
            <a:r>
              <a:rPr lang="ru-RU" dirty="0" err="1" smtClean="0">
                <a:latin typeface="Times New Roman" panose="02020603050405020304" pitchFamily="18" charset="0"/>
                <a:cs typeface="Times New Roman" panose="02020603050405020304" pitchFamily="18" charset="0"/>
              </a:rPr>
              <a:t>Організація</a:t>
            </a:r>
            <a:r>
              <a:rPr lang="ru-RU" dirty="0" smtClean="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експериментальних</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польотів</a:t>
            </a:r>
            <a:r>
              <a:rPr lang="ru-RU" dirty="0">
                <a:latin typeface="Times New Roman" panose="02020603050405020304" pitchFamily="18" charset="0"/>
                <a:cs typeface="Times New Roman" panose="02020603050405020304" pitchFamily="18" charset="0"/>
              </a:rPr>
              <a:t> у </a:t>
            </a:r>
            <a:r>
              <a:rPr lang="ru-RU" dirty="0" err="1">
                <a:latin typeface="Times New Roman" panose="02020603050405020304" pitchFamily="18" charset="0"/>
                <a:cs typeface="Times New Roman" panose="02020603050405020304" pitchFamily="18" charset="0"/>
              </a:rPr>
              <a:t>справжніх</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зимових</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умовах</a:t>
            </a:r>
            <a:r>
              <a:rPr lang="ru-RU" dirty="0">
                <a:latin typeface="Times New Roman" panose="02020603050405020304" pitchFamily="18" charset="0"/>
                <a:cs typeface="Times New Roman" panose="02020603050405020304" pitchFamily="18" charset="0"/>
              </a:rPr>
              <a:t> для </a:t>
            </a:r>
            <a:r>
              <a:rPr lang="ru-RU" dirty="0" err="1">
                <a:latin typeface="Times New Roman" panose="02020603050405020304" pitchFamily="18" charset="0"/>
                <a:cs typeface="Times New Roman" panose="02020603050405020304" pitchFamily="18" charset="0"/>
              </a:rPr>
              <a:t>збору</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даних</a:t>
            </a:r>
            <a:r>
              <a:rPr lang="ru-RU" dirty="0">
                <a:latin typeface="Times New Roman" panose="02020603050405020304" pitchFamily="18" charset="0"/>
                <a:cs typeface="Times New Roman" panose="02020603050405020304" pitchFamily="18" charset="0"/>
              </a:rPr>
              <a:t> про </a:t>
            </a:r>
            <a:r>
              <a:rPr lang="ru-RU" dirty="0" err="1">
                <a:latin typeface="Times New Roman" panose="02020603050405020304" pitchFamily="18" charset="0"/>
                <a:cs typeface="Times New Roman" panose="02020603050405020304" pitchFamily="18" charset="0"/>
              </a:rPr>
              <a:t>ефективність</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нових</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матеріалів</a:t>
            </a:r>
            <a:r>
              <a:rPr lang="ru-RU" dirty="0">
                <a:latin typeface="Times New Roman" panose="02020603050405020304" pitchFamily="18" charset="0"/>
                <a:cs typeface="Times New Roman" panose="02020603050405020304" pitchFamily="18" charset="0"/>
              </a:rPr>
              <a:t> та </a:t>
            </a:r>
            <a:r>
              <a:rPr lang="ru-RU" dirty="0" err="1">
                <a:latin typeface="Times New Roman" panose="02020603050405020304" pitchFamily="18" charset="0"/>
                <a:cs typeface="Times New Roman" panose="02020603050405020304" pitchFamily="18" charset="0"/>
              </a:rPr>
              <a:t>технологій</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оцінка</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продуктивності</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дрона</a:t>
            </a:r>
            <a:r>
              <a:rPr lang="ru-RU" dirty="0">
                <a:latin typeface="Times New Roman" panose="02020603050405020304" pitchFamily="18" charset="0"/>
                <a:cs typeface="Times New Roman" panose="02020603050405020304" pitchFamily="18" charset="0"/>
              </a:rPr>
              <a:t> та </a:t>
            </a:r>
            <a:r>
              <a:rPr lang="ru-RU" dirty="0" err="1">
                <a:latin typeface="Times New Roman" panose="02020603050405020304" pitchFamily="18" charset="0"/>
                <a:cs typeface="Times New Roman" panose="02020603050405020304" pitchFamily="18" charset="0"/>
              </a:rPr>
              <a:t>його</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компонентів</a:t>
            </a:r>
            <a:r>
              <a:rPr lang="ru-RU" dirty="0">
                <a:latin typeface="Times New Roman" panose="02020603050405020304" pitchFamily="18" charset="0"/>
                <a:cs typeface="Times New Roman" panose="02020603050405020304" pitchFamily="18" charset="0"/>
              </a:rPr>
              <a:t> при </a:t>
            </a:r>
            <a:r>
              <a:rPr lang="ru-RU" dirty="0" err="1">
                <a:latin typeface="Times New Roman" panose="02020603050405020304" pitchFamily="18" charset="0"/>
                <a:cs typeface="Times New Roman" panose="02020603050405020304" pitchFamily="18" charset="0"/>
              </a:rPr>
              <a:t>низьких</a:t>
            </a:r>
            <a:r>
              <a:rPr lang="ru-RU" dirty="0">
                <a:latin typeface="Times New Roman" panose="02020603050405020304" pitchFamily="18" charset="0"/>
                <a:cs typeface="Times New Roman" panose="02020603050405020304" pitchFamily="18" charset="0"/>
              </a:rPr>
              <a:t> температурах.</a:t>
            </a:r>
            <a:r>
              <a:rPr lang="ru-RU" sz="2000" dirty="0">
                <a:latin typeface="Times New Roman" panose="02020603050405020304" pitchFamily="18" charset="0"/>
                <a:cs typeface="Times New Roman" panose="02020603050405020304" pitchFamily="18" charset="0"/>
              </a:rPr>
              <a:t/>
            </a:r>
            <a:br>
              <a:rPr lang="ru-RU" sz="2000" dirty="0">
                <a:latin typeface="Times New Roman" panose="02020603050405020304" pitchFamily="18" charset="0"/>
                <a:cs typeface="Times New Roman" panose="02020603050405020304" pitchFamily="18" charset="0"/>
              </a:rPr>
            </a:br>
            <a:r>
              <a:rPr lang="ru-RU" sz="2000" dirty="0">
                <a:latin typeface="Times New Roman" panose="02020603050405020304" pitchFamily="18" charset="0"/>
                <a:cs typeface="Times New Roman" panose="02020603050405020304" pitchFamily="18" charset="0"/>
              </a:rPr>
              <a:t/>
            </a:r>
            <a:br>
              <a:rPr lang="ru-RU" sz="2000" dirty="0">
                <a:latin typeface="Times New Roman" panose="02020603050405020304" pitchFamily="18" charset="0"/>
                <a:cs typeface="Times New Roman" panose="02020603050405020304" pitchFamily="18" charset="0"/>
              </a:rPr>
            </a:br>
            <a:r>
              <a:rPr lang="ru-RU" dirty="0">
                <a:latin typeface="Times New Roman" panose="02020603050405020304" pitchFamily="18" charset="0"/>
                <a:cs typeface="Times New Roman" panose="02020603050405020304" pitchFamily="18" charset="0"/>
              </a:rPr>
              <a:t>6. </a:t>
            </a:r>
            <a:r>
              <a:rPr lang="ru-RU" dirty="0" err="1" smtClean="0">
                <a:latin typeface="Times New Roman" panose="02020603050405020304" pitchFamily="18" charset="0"/>
                <a:cs typeface="Times New Roman" panose="02020603050405020304" pitchFamily="18" charset="0"/>
              </a:rPr>
              <a:t>Використання</a:t>
            </a:r>
            <a:r>
              <a:rPr lang="ru-RU" dirty="0" smtClean="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екологічно</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чистих</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матеріалів</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які</a:t>
            </a:r>
            <a:r>
              <a:rPr lang="ru-RU" dirty="0">
                <a:latin typeface="Times New Roman" panose="02020603050405020304" pitchFamily="18" charset="0"/>
                <a:cs typeface="Times New Roman" panose="02020603050405020304" pitchFamily="18" charset="0"/>
              </a:rPr>
              <a:t> не </a:t>
            </a:r>
            <a:r>
              <a:rPr lang="ru-RU" dirty="0" err="1">
                <a:latin typeface="Times New Roman" panose="02020603050405020304" pitchFamily="18" charset="0"/>
                <a:cs typeface="Times New Roman" panose="02020603050405020304" pitchFamily="18" charset="0"/>
              </a:rPr>
              <a:t>лише</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витримують</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низькі</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температури</a:t>
            </a:r>
            <a:r>
              <a:rPr lang="ru-RU" dirty="0">
                <a:latin typeface="Times New Roman" panose="02020603050405020304" pitchFamily="18" charset="0"/>
                <a:cs typeface="Times New Roman" panose="02020603050405020304" pitchFamily="18" charset="0"/>
              </a:rPr>
              <a:t>, але й </a:t>
            </a:r>
            <a:r>
              <a:rPr lang="ru-RU" dirty="0" err="1">
                <a:latin typeface="Times New Roman" panose="02020603050405020304" pitchFamily="18" charset="0"/>
                <a:cs typeface="Times New Roman" panose="02020603050405020304" pitchFamily="18" charset="0"/>
              </a:rPr>
              <a:t>мінімізують</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негативний</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вплив</a:t>
            </a:r>
            <a:r>
              <a:rPr lang="ru-RU" dirty="0">
                <a:latin typeface="Times New Roman" panose="02020603050405020304" pitchFamily="18" charset="0"/>
                <a:cs typeface="Times New Roman" panose="02020603050405020304" pitchFamily="18" charset="0"/>
              </a:rPr>
              <a:t> на </a:t>
            </a:r>
            <a:r>
              <a:rPr lang="ru-RU" dirty="0" err="1">
                <a:latin typeface="Times New Roman" panose="02020603050405020304" pitchFamily="18" charset="0"/>
                <a:cs typeface="Times New Roman" panose="02020603050405020304" pitchFamily="18" charset="0"/>
              </a:rPr>
              <a:t>навколишнє</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середовище</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під</a:t>
            </a:r>
            <a:r>
              <a:rPr lang="ru-RU" dirty="0">
                <a:latin typeface="Times New Roman" panose="02020603050405020304" pitchFamily="18" charset="0"/>
                <a:cs typeface="Times New Roman" panose="02020603050405020304" pitchFamily="18" charset="0"/>
              </a:rPr>
              <a:t> час </a:t>
            </a:r>
            <a:r>
              <a:rPr lang="ru-RU" dirty="0" err="1">
                <a:latin typeface="Times New Roman" panose="02020603050405020304" pitchFamily="18" charset="0"/>
                <a:cs typeface="Times New Roman" panose="02020603050405020304" pitchFamily="18" charset="0"/>
              </a:rPr>
              <a:t>експлуатації</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дрона</a:t>
            </a:r>
            <a:r>
              <a:rPr lang="ru-RU" dirty="0" smtClean="0">
                <a:latin typeface="Times New Roman" panose="02020603050405020304" pitchFamily="18" charset="0"/>
                <a:cs typeface="Times New Roman" panose="02020603050405020304" pitchFamily="18" charset="0"/>
              </a:rPr>
              <a:t>.</a:t>
            </a:r>
          </a:p>
          <a:p>
            <a:r>
              <a:rPr lang="ru-RU" sz="2000" dirty="0">
                <a:latin typeface="Times New Roman" panose="02020603050405020304" pitchFamily="18" charset="0"/>
                <a:cs typeface="Times New Roman" panose="02020603050405020304" pitchFamily="18" charset="0"/>
              </a:rPr>
              <a:t/>
            </a:r>
            <a:br>
              <a:rPr lang="ru-RU" sz="2000" dirty="0">
                <a:latin typeface="Times New Roman" panose="02020603050405020304" pitchFamily="18" charset="0"/>
                <a:cs typeface="Times New Roman" panose="02020603050405020304" pitchFamily="18" charset="0"/>
              </a:rPr>
            </a:br>
            <a:endParaRPr lang="ru-RU" sz="2000" dirty="0">
              <a:latin typeface="Times New Roman" panose="02020603050405020304" pitchFamily="18" charset="0"/>
              <a:cs typeface="Times New Roman" panose="02020603050405020304" pitchFamily="18" charset="0"/>
            </a:endParaRPr>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8762" y="5124450"/>
            <a:ext cx="2947988" cy="1600200"/>
          </a:xfrm>
          <a:prstGeom prst="rect">
            <a:avLst/>
          </a:prstGeom>
        </p:spPr>
      </p:pic>
      <p:pic>
        <p:nvPicPr>
          <p:cNvPr id="5" name="Рисунок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62075" y="5191124"/>
            <a:ext cx="3009900" cy="1533526"/>
          </a:xfrm>
          <a:prstGeom prst="rect">
            <a:avLst/>
          </a:prstGeom>
        </p:spPr>
      </p:pic>
    </p:spTree>
    <p:extLst>
      <p:ext uri="{BB962C8B-B14F-4D97-AF65-F5344CB8AC3E}">
        <p14:creationId xmlns:p14="http://schemas.microsoft.com/office/powerpoint/2010/main" val="164429600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69580" y="127591"/>
            <a:ext cx="3434317" cy="636915"/>
          </a:xfrm>
        </p:spPr>
        <p:txBody>
          <a:bodyPr>
            <a:noAutofit/>
          </a:bodyPr>
          <a:lstStyle/>
          <a:p>
            <a:r>
              <a:rPr lang="uk-UA" sz="2400" b="1" dirty="0">
                <a:latin typeface="Times New Roman" panose="02020603050405020304" pitchFamily="18" charset="0"/>
                <a:cs typeface="Times New Roman" panose="02020603050405020304" pitchFamily="18" charset="0"/>
              </a:rPr>
              <a:t>Що ж таке ДРОН?</a:t>
            </a:r>
            <a:br>
              <a:rPr lang="uk-UA" sz="2400" b="1" dirty="0">
                <a:latin typeface="Times New Roman" panose="02020603050405020304" pitchFamily="18" charset="0"/>
                <a:cs typeface="Times New Roman" panose="02020603050405020304" pitchFamily="18" charset="0"/>
              </a:rPr>
            </a:br>
            <a:endParaRPr lang="ru-RU" sz="2400"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203580" y="2604977"/>
            <a:ext cx="8302698" cy="4253023"/>
          </a:xfrm>
        </p:spPr>
        <p:txBody>
          <a:bodyPr>
            <a:normAutofit fontScale="25000" lnSpcReduction="20000"/>
          </a:bodyPr>
          <a:lstStyle/>
          <a:p>
            <a:pPr marL="0" indent="0">
              <a:buNone/>
            </a:pPr>
            <a:endParaRPr lang="uk-UA" dirty="0"/>
          </a:p>
          <a:p>
            <a:r>
              <a:rPr lang="uk-UA" sz="4300" dirty="0" smtClean="0">
                <a:latin typeface="Times New Roman" panose="02020603050405020304" pitchFamily="18" charset="0"/>
                <a:cs typeface="Times New Roman" panose="02020603050405020304" pitchFamily="18" charset="0"/>
              </a:rPr>
              <a:t>          </a:t>
            </a:r>
            <a:r>
              <a:rPr lang="uk-UA" sz="4300" dirty="0" smtClean="0">
                <a:latin typeface="Times New Roman" panose="02020603050405020304" pitchFamily="18" charset="0"/>
                <a:cs typeface="Times New Roman" panose="02020603050405020304" pitchFamily="18" charset="0"/>
              </a:rPr>
              <a:t> </a:t>
            </a:r>
            <a:r>
              <a:rPr lang="uk-UA" sz="5600" dirty="0" smtClean="0">
                <a:latin typeface="Times New Roman" panose="02020603050405020304" pitchFamily="18" charset="0"/>
                <a:cs typeface="Times New Roman" panose="02020603050405020304" pitchFamily="18" charset="0"/>
              </a:rPr>
              <a:t> </a:t>
            </a:r>
            <a:r>
              <a:rPr lang="uk-UA" sz="5600" dirty="0" err="1" smtClean="0">
                <a:latin typeface="Times New Roman" panose="02020603050405020304" pitchFamily="18" charset="0"/>
                <a:cs typeface="Times New Roman" panose="02020603050405020304" pitchFamily="18" charset="0"/>
              </a:rPr>
              <a:t>Дрон</a:t>
            </a:r>
            <a:r>
              <a:rPr lang="uk-UA" sz="5600" dirty="0" smtClean="0">
                <a:latin typeface="Times New Roman" panose="02020603050405020304" pitchFamily="18" charset="0"/>
                <a:cs typeface="Times New Roman" panose="02020603050405020304" pitchFamily="18" charset="0"/>
              </a:rPr>
              <a:t> </a:t>
            </a:r>
            <a:r>
              <a:rPr lang="uk-UA" sz="5600" dirty="0" smtClean="0">
                <a:latin typeface="Times New Roman" panose="02020603050405020304" pitchFamily="18" charset="0"/>
                <a:cs typeface="Times New Roman" panose="02020603050405020304" pitchFamily="18" charset="0"/>
              </a:rPr>
              <a:t>– це </a:t>
            </a:r>
            <a:r>
              <a:rPr lang="ru-RU" sz="5600" b="1" dirty="0" err="1">
                <a:latin typeface="Times New Roman" panose="02020603050405020304" pitchFamily="18" charset="0"/>
                <a:cs typeface="Times New Roman" panose="02020603050405020304" pitchFamily="18" charset="0"/>
              </a:rPr>
              <a:t>б</a:t>
            </a:r>
            <a:r>
              <a:rPr lang="ru-RU" sz="5600" b="1" dirty="0" err="1" smtClean="0">
                <a:latin typeface="Times New Roman" panose="02020603050405020304" pitchFamily="18" charset="0"/>
                <a:cs typeface="Times New Roman" panose="02020603050405020304" pitchFamily="18" charset="0"/>
              </a:rPr>
              <a:t>езпілотне</a:t>
            </a:r>
            <a:r>
              <a:rPr lang="ru-RU" sz="5600" b="1" dirty="0" smtClean="0">
                <a:latin typeface="Times New Roman" panose="02020603050405020304" pitchFamily="18" charset="0"/>
                <a:cs typeface="Times New Roman" panose="02020603050405020304" pitchFamily="18" charset="0"/>
              </a:rPr>
              <a:t> </a:t>
            </a:r>
            <a:r>
              <a:rPr lang="ru-RU" sz="5600" b="1" dirty="0" err="1">
                <a:latin typeface="Times New Roman" panose="02020603050405020304" pitchFamily="18" charset="0"/>
                <a:cs typeface="Times New Roman" panose="02020603050405020304" pitchFamily="18" charset="0"/>
              </a:rPr>
              <a:t>повітряне</a:t>
            </a:r>
            <a:r>
              <a:rPr lang="ru-RU" sz="5600" b="1" dirty="0">
                <a:latin typeface="Times New Roman" panose="02020603050405020304" pitchFamily="18" charset="0"/>
                <a:cs typeface="Times New Roman" panose="02020603050405020304" pitchFamily="18" charset="0"/>
              </a:rPr>
              <a:t> судно</a:t>
            </a:r>
            <a:r>
              <a:rPr lang="ru-RU" sz="5600" dirty="0">
                <a:latin typeface="Times New Roman" panose="02020603050405020304" pitchFamily="18" charset="0"/>
                <a:cs typeface="Times New Roman" panose="02020603050405020304" pitchFamily="18" charset="0"/>
              </a:rPr>
              <a:t> </a:t>
            </a:r>
            <a:r>
              <a:rPr lang="ru-RU" sz="5600" dirty="0" smtClean="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керування</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польотом</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якого</a:t>
            </a:r>
            <a:r>
              <a:rPr lang="ru-RU" sz="5600" dirty="0">
                <a:latin typeface="Times New Roman" panose="02020603050405020304" pitchFamily="18" charset="0"/>
                <a:cs typeface="Times New Roman" panose="02020603050405020304" pitchFamily="18" charset="0"/>
              </a:rPr>
              <a:t> і контроль за </a:t>
            </a:r>
            <a:r>
              <a:rPr lang="ru-RU" sz="5600" dirty="0" err="1">
                <a:latin typeface="Times New Roman" panose="02020603050405020304" pitchFamily="18" charset="0"/>
                <a:cs typeface="Times New Roman" panose="02020603050405020304" pitchFamily="18" charset="0"/>
              </a:rPr>
              <a:t>яким</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здійснюються</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дистанційно</a:t>
            </a:r>
            <a:r>
              <a:rPr lang="ru-RU" sz="5600" dirty="0">
                <a:latin typeface="Times New Roman" panose="02020603050405020304" pitchFamily="18" charset="0"/>
                <a:cs typeface="Times New Roman" panose="02020603050405020304" pitchFamily="18" charset="0"/>
              </a:rPr>
              <a:t> за </a:t>
            </a:r>
            <a:r>
              <a:rPr lang="ru-RU" sz="5600" dirty="0" err="1">
                <a:latin typeface="Times New Roman" panose="02020603050405020304" pitchFamily="18" charset="0"/>
                <a:cs typeface="Times New Roman" panose="02020603050405020304" pitchFamily="18" charset="0"/>
              </a:rPr>
              <a:t>допомогою</a:t>
            </a:r>
            <a:r>
              <a:rPr lang="ru-RU" sz="5600" dirty="0">
                <a:latin typeface="Times New Roman" panose="02020603050405020304" pitchFamily="18" charset="0"/>
                <a:cs typeface="Times New Roman" panose="02020603050405020304" pitchFamily="18" charset="0"/>
              </a:rPr>
              <a:t> пункту </a:t>
            </a:r>
            <a:r>
              <a:rPr lang="ru-RU" sz="5600" dirty="0" err="1">
                <a:latin typeface="Times New Roman" panose="02020603050405020304" pitchFamily="18" charset="0"/>
                <a:cs typeface="Times New Roman" panose="02020603050405020304" pitchFamily="18" charset="0"/>
              </a:rPr>
              <a:t>дистанційного</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пілотування</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що</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розташований</a:t>
            </a:r>
            <a:r>
              <a:rPr lang="ru-RU" sz="5600" dirty="0">
                <a:latin typeface="Times New Roman" panose="02020603050405020304" pitchFamily="18" charset="0"/>
                <a:cs typeface="Times New Roman" panose="02020603050405020304" pitchFamily="18" charset="0"/>
              </a:rPr>
              <a:t> поза </a:t>
            </a:r>
            <a:r>
              <a:rPr lang="ru-RU" sz="5600" dirty="0" err="1">
                <a:latin typeface="Times New Roman" panose="02020603050405020304" pitchFamily="18" charset="0"/>
                <a:cs typeface="Times New Roman" panose="02020603050405020304" pitchFamily="18" charset="0"/>
              </a:rPr>
              <a:t>повітряним</a:t>
            </a:r>
            <a:r>
              <a:rPr lang="ru-RU" sz="5600" dirty="0">
                <a:latin typeface="Times New Roman" panose="02020603050405020304" pitchFamily="18" charset="0"/>
                <a:cs typeface="Times New Roman" panose="02020603050405020304" pitchFamily="18" charset="0"/>
              </a:rPr>
              <a:t> судном, </a:t>
            </a:r>
            <a:r>
              <a:rPr lang="ru-RU" sz="5600" dirty="0" err="1">
                <a:latin typeface="Times New Roman" panose="02020603050405020304" pitchFamily="18" charset="0"/>
                <a:cs typeface="Times New Roman" panose="02020603050405020304" pitchFamily="18" charset="0"/>
              </a:rPr>
              <a:t>або</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повітряне</a:t>
            </a:r>
            <a:r>
              <a:rPr lang="ru-RU" sz="5600" dirty="0">
                <a:latin typeface="Times New Roman" panose="02020603050405020304" pitchFamily="18" charset="0"/>
                <a:cs typeface="Times New Roman" panose="02020603050405020304" pitchFamily="18" charset="0"/>
              </a:rPr>
              <a:t> судно, </a:t>
            </a:r>
            <a:r>
              <a:rPr lang="ru-RU" sz="5600" dirty="0" err="1">
                <a:latin typeface="Times New Roman" panose="02020603050405020304" pitchFamily="18" charset="0"/>
                <a:cs typeface="Times New Roman" panose="02020603050405020304" pitchFamily="18" charset="0"/>
              </a:rPr>
              <a:t>що</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здійснює</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політ</a:t>
            </a:r>
            <a:r>
              <a:rPr lang="ru-RU" sz="5600" dirty="0">
                <a:latin typeface="Times New Roman" panose="02020603050405020304" pitchFamily="18" charset="0"/>
                <a:cs typeface="Times New Roman" panose="02020603050405020304" pitchFamily="18" charset="0"/>
              </a:rPr>
              <a:t> автономно за </a:t>
            </a:r>
            <a:r>
              <a:rPr lang="ru-RU" sz="5600" dirty="0" err="1">
                <a:latin typeface="Times New Roman" panose="02020603050405020304" pitchFamily="18" charset="0"/>
                <a:cs typeface="Times New Roman" panose="02020603050405020304" pitchFamily="18" charset="0"/>
              </a:rPr>
              <a:t>відповідною</a:t>
            </a:r>
            <a:r>
              <a:rPr lang="ru-RU" sz="5600" dirty="0">
                <a:latin typeface="Times New Roman" panose="02020603050405020304" pitchFamily="18" charset="0"/>
                <a:cs typeface="Times New Roman" panose="02020603050405020304" pitchFamily="18" charset="0"/>
              </a:rPr>
              <a:t> </a:t>
            </a:r>
            <a:r>
              <a:rPr lang="ru-RU" sz="5600" dirty="0" err="1" smtClean="0">
                <a:latin typeface="Times New Roman" panose="02020603050405020304" pitchFamily="18" charset="0"/>
                <a:cs typeface="Times New Roman" panose="02020603050405020304" pitchFamily="18" charset="0"/>
              </a:rPr>
              <a:t>програмою</a:t>
            </a:r>
            <a:r>
              <a:rPr lang="ru-RU" sz="5600" dirty="0" smtClean="0">
                <a:latin typeface="Times New Roman" panose="02020603050405020304" pitchFamily="18" charset="0"/>
                <a:cs typeface="Times New Roman" panose="02020603050405020304" pitchFamily="18" charset="0"/>
              </a:rPr>
              <a:t>.</a:t>
            </a:r>
          </a:p>
          <a:p>
            <a:r>
              <a:rPr lang="ru-RU" sz="5600" dirty="0" err="1">
                <a:latin typeface="Times New Roman" panose="02020603050405020304" pitchFamily="18" charset="0"/>
                <a:cs typeface="Times New Roman" panose="02020603050405020304" pitchFamily="18" charset="0"/>
              </a:rPr>
              <a:t>БпЛА</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повсюдно</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застосовуються</a:t>
            </a:r>
            <a:r>
              <a:rPr lang="ru-RU" sz="5600" dirty="0">
                <a:latin typeface="Times New Roman" panose="02020603050405020304" pitchFamily="18" charset="0"/>
                <a:cs typeface="Times New Roman" panose="02020603050405020304" pitchFamily="18" charset="0"/>
              </a:rPr>
              <a:t> у </a:t>
            </a:r>
            <a:r>
              <a:rPr lang="ru-RU" sz="5600" dirty="0" err="1">
                <a:latin typeface="Times New Roman" panose="02020603050405020304" pitchFamily="18" charset="0"/>
                <a:cs typeface="Times New Roman" panose="02020603050405020304" pitchFamily="18" charset="0"/>
              </a:rPr>
              <a:t>військовій</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справі</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насамперед</a:t>
            </a:r>
            <a:r>
              <a:rPr lang="ru-RU" sz="5600" dirty="0">
                <a:latin typeface="Times New Roman" panose="02020603050405020304" pitchFamily="18" charset="0"/>
                <a:cs typeface="Times New Roman" panose="02020603050405020304" pitchFamily="18" charset="0"/>
              </a:rPr>
              <a:t> для </a:t>
            </a:r>
            <a:r>
              <a:rPr lang="ru-RU" sz="5600" dirty="0" err="1">
                <a:latin typeface="Times New Roman" panose="02020603050405020304" pitchFamily="18" charset="0"/>
                <a:cs typeface="Times New Roman" panose="02020603050405020304" pitchFamily="18" charset="0"/>
              </a:rPr>
              <a:t>ведення</a:t>
            </a:r>
            <a:r>
              <a:rPr lang="ru-RU" sz="5600" dirty="0">
                <a:latin typeface="Times New Roman" panose="02020603050405020304" pitchFamily="18" charset="0"/>
                <a:cs typeface="Times New Roman" panose="02020603050405020304" pitchFamily="18" charset="0"/>
              </a:rPr>
              <a:t> </a:t>
            </a:r>
            <a:r>
              <a:rPr lang="ru-RU" sz="5600" b="1" dirty="0" err="1">
                <a:latin typeface="Times New Roman" panose="02020603050405020304" pitchFamily="18" charset="0"/>
                <a:cs typeface="Times New Roman" panose="02020603050405020304" pitchFamily="18" charset="0"/>
                <a:hlinkClick r:id="rId2" tooltip="Повітряна розвідка"/>
              </a:rPr>
              <a:t>повітряної</a:t>
            </a:r>
            <a:r>
              <a:rPr lang="ru-RU" sz="5600" b="1" dirty="0">
                <a:latin typeface="Times New Roman" panose="02020603050405020304" pitchFamily="18" charset="0"/>
                <a:cs typeface="Times New Roman" panose="02020603050405020304" pitchFamily="18" charset="0"/>
                <a:hlinkClick r:id="rId2" tooltip="Повітряна розвідка"/>
              </a:rPr>
              <a:t> </a:t>
            </a:r>
            <a:r>
              <a:rPr lang="ru-RU" sz="5600" b="1" dirty="0" err="1">
                <a:latin typeface="Times New Roman" panose="02020603050405020304" pitchFamily="18" charset="0"/>
                <a:cs typeface="Times New Roman" panose="02020603050405020304" pitchFamily="18" charset="0"/>
                <a:hlinkClick r:id="rId2" tooltip="Повітряна розвідка"/>
              </a:rPr>
              <a:t>розвідки</a:t>
            </a:r>
            <a:r>
              <a:rPr lang="ru-RU" sz="5600" b="1" dirty="0">
                <a:latin typeface="Times New Roman" panose="02020603050405020304" pitchFamily="18" charset="0"/>
                <a:cs typeface="Times New Roman" panose="02020603050405020304" pitchFamily="18" charset="0"/>
              </a:rPr>
              <a:t> </a:t>
            </a:r>
            <a:r>
              <a:rPr lang="ru-RU" sz="5600" dirty="0">
                <a:latin typeface="Times New Roman" panose="02020603050405020304" pitchFamily="18" charset="0"/>
                <a:cs typeface="Times New Roman" panose="02020603050405020304" pitchFamily="18" charset="0"/>
              </a:rPr>
              <a:t>— як </a:t>
            </a:r>
            <a:r>
              <a:rPr lang="ru-RU" sz="5600" dirty="0" err="1">
                <a:latin typeface="Times New Roman" panose="02020603050405020304" pitchFamily="18" charset="0"/>
                <a:cs typeface="Times New Roman" panose="02020603050405020304" pitchFamily="18" charset="0"/>
              </a:rPr>
              <a:t>тактичної</a:t>
            </a:r>
            <a:r>
              <a:rPr lang="ru-RU" sz="5600" dirty="0">
                <a:latin typeface="Times New Roman" panose="02020603050405020304" pitchFamily="18" charset="0"/>
                <a:cs typeface="Times New Roman" panose="02020603050405020304" pitchFamily="18" charset="0"/>
              </a:rPr>
              <a:t>, так і </a:t>
            </a:r>
            <a:r>
              <a:rPr lang="ru-RU" sz="5600" dirty="0" err="1">
                <a:latin typeface="Times New Roman" panose="02020603050405020304" pitchFamily="18" charset="0"/>
                <a:cs typeface="Times New Roman" panose="02020603050405020304" pitchFamily="18" charset="0"/>
              </a:rPr>
              <a:t>стратегічної</a:t>
            </a:r>
            <a:r>
              <a:rPr lang="ru-RU" sz="5600" dirty="0" smtClean="0">
                <a:latin typeface="Times New Roman" panose="02020603050405020304" pitchFamily="18" charset="0"/>
                <a:cs typeface="Times New Roman" panose="02020603050405020304" pitchFamily="18" charset="0"/>
              </a:rPr>
              <a:t>.</a:t>
            </a:r>
            <a:r>
              <a:rPr lang="uk-UA" sz="5600" dirty="0">
                <a:latin typeface="Times New Roman" panose="02020603050405020304" pitchFamily="18" charset="0"/>
                <a:cs typeface="Times New Roman" panose="02020603050405020304" pitchFamily="18" charset="0"/>
              </a:rPr>
              <a:t> І другий напрямок – більш </a:t>
            </a:r>
            <a:r>
              <a:rPr lang="uk-UA" sz="5600" dirty="0" err="1">
                <a:latin typeface="Times New Roman" panose="02020603050405020304" pitchFamily="18" charset="0"/>
                <a:cs typeface="Times New Roman" panose="02020603050405020304" pitchFamily="18" charset="0"/>
              </a:rPr>
              <a:t>мілітарний</a:t>
            </a:r>
            <a:r>
              <a:rPr lang="uk-UA" sz="5600" dirty="0">
                <a:latin typeface="Times New Roman" panose="02020603050405020304" pitchFamily="18" charset="0"/>
                <a:cs typeface="Times New Roman" panose="02020603050405020304" pitchFamily="18" charset="0"/>
              </a:rPr>
              <a:t>. </a:t>
            </a:r>
            <a:r>
              <a:rPr lang="uk-UA" sz="5600" dirty="0" smtClean="0">
                <a:latin typeface="Times New Roman" panose="02020603050405020304" pitchFamily="18" charset="0"/>
                <a:cs typeface="Times New Roman" panose="02020603050405020304" pitchFamily="18" charset="0"/>
              </a:rPr>
              <a:t>Це </a:t>
            </a:r>
            <a:r>
              <a:rPr lang="uk-UA" sz="5600" dirty="0">
                <a:latin typeface="Times New Roman" panose="02020603050405020304" pitchFamily="18" charset="0"/>
                <a:cs typeface="Times New Roman" panose="02020603050405020304" pitchFamily="18" charset="0"/>
              </a:rPr>
              <a:t>використання </a:t>
            </a:r>
            <a:r>
              <a:rPr lang="uk-UA" sz="5600" dirty="0" err="1">
                <a:latin typeface="Times New Roman" panose="02020603050405020304" pitchFamily="18" charset="0"/>
                <a:cs typeface="Times New Roman" panose="02020603050405020304" pitchFamily="18" charset="0"/>
              </a:rPr>
              <a:t>дронів</a:t>
            </a:r>
            <a:r>
              <a:rPr lang="uk-UA" sz="5600" dirty="0">
                <a:latin typeface="Times New Roman" panose="02020603050405020304" pitchFamily="18" charset="0"/>
                <a:cs typeface="Times New Roman" panose="02020603050405020304" pitchFamily="18" charset="0"/>
              </a:rPr>
              <a:t> для скидання ракет.</a:t>
            </a:r>
            <a:endParaRPr lang="ru-RU" sz="5600" dirty="0" smtClean="0">
              <a:latin typeface="Times New Roman" panose="02020603050405020304" pitchFamily="18" charset="0"/>
              <a:cs typeface="Times New Roman" panose="02020603050405020304" pitchFamily="18" charset="0"/>
            </a:endParaRPr>
          </a:p>
          <a:p>
            <a:r>
              <a:rPr lang="ru-RU" sz="5600" dirty="0" err="1">
                <a:latin typeface="Times New Roman" panose="02020603050405020304" pitchFamily="18" charset="0"/>
                <a:cs typeface="Times New Roman" panose="02020603050405020304" pitchFamily="18" charset="0"/>
              </a:rPr>
              <a:t>моніторинг</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повітряного</a:t>
            </a:r>
            <a:r>
              <a:rPr lang="ru-RU" sz="5600" dirty="0">
                <a:latin typeface="Times New Roman" panose="02020603050405020304" pitchFamily="18" charset="0"/>
                <a:cs typeface="Times New Roman" panose="02020603050405020304" pitchFamily="18" charset="0"/>
              </a:rPr>
              <a:t> простору, </a:t>
            </a:r>
            <a:r>
              <a:rPr lang="ru-RU" sz="5600" dirty="0" err="1">
                <a:latin typeface="Times New Roman" panose="02020603050405020304" pitchFamily="18" charset="0"/>
                <a:cs typeface="Times New Roman" panose="02020603050405020304" pitchFamily="18" charset="0"/>
              </a:rPr>
              <a:t>земної</a:t>
            </a:r>
            <a:r>
              <a:rPr lang="ru-RU" sz="5600" dirty="0">
                <a:latin typeface="Times New Roman" panose="02020603050405020304" pitchFamily="18" charset="0"/>
                <a:cs typeface="Times New Roman" panose="02020603050405020304" pitchFamily="18" charset="0"/>
              </a:rPr>
              <a:t> й </a:t>
            </a:r>
            <a:r>
              <a:rPr lang="ru-RU" sz="5600" dirty="0" err="1">
                <a:latin typeface="Times New Roman" panose="02020603050405020304" pitchFamily="18" charset="0"/>
                <a:cs typeface="Times New Roman" panose="02020603050405020304" pitchFamily="18" charset="0"/>
              </a:rPr>
              <a:t>водної</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поверхонь</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спостереження</a:t>
            </a:r>
            <a:r>
              <a:rPr lang="ru-RU" sz="5600" dirty="0">
                <a:latin typeface="Times New Roman" panose="02020603050405020304" pitchFamily="18" charset="0"/>
                <a:cs typeface="Times New Roman" panose="02020603050405020304" pitchFamily="18" charset="0"/>
              </a:rPr>
              <a:t> за станом </a:t>
            </a:r>
            <a:r>
              <a:rPr lang="ru-RU" sz="5600" dirty="0" err="1">
                <a:latin typeface="Times New Roman" panose="02020603050405020304" pitchFamily="18" charset="0"/>
                <a:cs typeface="Times New Roman" panose="02020603050405020304" pitchFamily="18" charset="0"/>
              </a:rPr>
              <a:t>інфраструктури</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протяжних</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об'єктів</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патрулювання</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різних</a:t>
            </a:r>
            <a:r>
              <a:rPr lang="ru-RU" sz="5600" dirty="0">
                <a:latin typeface="Times New Roman" panose="02020603050405020304" pitchFamily="18" charset="0"/>
                <a:cs typeface="Times New Roman" panose="02020603050405020304" pitchFamily="18" charset="0"/>
              </a:rPr>
              <a:t> зон і </a:t>
            </a:r>
            <a:r>
              <a:rPr lang="ru-RU" sz="5600" dirty="0" err="1">
                <a:latin typeface="Times New Roman" panose="02020603050405020304" pitchFamily="18" charset="0"/>
                <a:cs typeface="Times New Roman" panose="02020603050405020304" pitchFamily="18" charset="0"/>
              </a:rPr>
              <a:t>об'єктів</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спостереження</a:t>
            </a:r>
            <a:r>
              <a:rPr lang="ru-RU" sz="5600" dirty="0">
                <a:latin typeface="Times New Roman" panose="02020603050405020304" pitchFamily="18" charset="0"/>
                <a:cs typeface="Times New Roman" panose="02020603050405020304" pitchFamily="18" charset="0"/>
              </a:rPr>
              <a:t> за </a:t>
            </a:r>
            <a:r>
              <a:rPr lang="ru-RU" sz="5600" dirty="0" err="1">
                <a:latin typeface="Times New Roman" panose="02020603050405020304" pitchFamily="18" charset="0"/>
                <a:cs typeface="Times New Roman" panose="02020603050405020304" pitchFamily="18" charset="0"/>
              </a:rPr>
              <a:t>рухом</a:t>
            </a:r>
            <a:r>
              <a:rPr lang="ru-RU" sz="5600" dirty="0">
                <a:latin typeface="Times New Roman" panose="02020603050405020304" pitchFamily="18" charset="0"/>
                <a:cs typeface="Times New Roman" panose="02020603050405020304" pitchFamily="18" charset="0"/>
              </a:rPr>
              <a:t> на </a:t>
            </a:r>
            <a:r>
              <a:rPr lang="ru-RU" sz="5600" dirty="0" err="1">
                <a:latin typeface="Times New Roman" panose="02020603050405020304" pitchFamily="18" charset="0"/>
                <a:cs typeface="Times New Roman" panose="02020603050405020304" pitchFamily="18" charset="0"/>
              </a:rPr>
              <a:t>залізничних</a:t>
            </a:r>
            <a:r>
              <a:rPr lang="ru-RU" sz="5600" dirty="0">
                <a:latin typeface="Times New Roman" panose="02020603050405020304" pitchFamily="18" charset="0"/>
                <a:cs typeface="Times New Roman" panose="02020603050405020304" pitchFamily="18" charset="0"/>
              </a:rPr>
              <a:t> і </a:t>
            </a:r>
            <a:r>
              <a:rPr lang="ru-RU" sz="5600" dirty="0" err="1">
                <a:latin typeface="Times New Roman" panose="02020603050405020304" pitchFamily="18" charset="0"/>
                <a:cs typeface="Times New Roman" panose="02020603050405020304" pitchFamily="18" charset="0"/>
              </a:rPr>
              <a:t>шосейних</a:t>
            </a:r>
            <a:r>
              <a:rPr lang="ru-RU" sz="5600" dirty="0">
                <a:latin typeface="Times New Roman" panose="02020603050405020304" pitchFamily="18" charset="0"/>
                <a:cs typeface="Times New Roman" panose="02020603050405020304" pitchFamily="18" charset="0"/>
              </a:rPr>
              <a:t> шляхах; контроль </a:t>
            </a:r>
            <a:r>
              <a:rPr lang="ru-RU" sz="5600" dirty="0" err="1">
                <a:latin typeface="Times New Roman" panose="02020603050405020304" pitchFamily="18" charset="0"/>
                <a:cs typeface="Times New Roman" panose="02020603050405020304" pitchFamily="18" charset="0"/>
              </a:rPr>
              <a:t>судноплавства</a:t>
            </a:r>
            <a:r>
              <a:rPr lang="ru-RU" sz="5600" dirty="0">
                <a:latin typeface="Times New Roman" panose="02020603050405020304" pitchFamily="18" charset="0"/>
                <a:cs typeface="Times New Roman" panose="02020603050405020304" pitchFamily="18" charset="0"/>
              </a:rPr>
              <a:t>; </a:t>
            </a:r>
          </a:p>
          <a:p>
            <a:r>
              <a:rPr lang="ru-RU" sz="5600" dirty="0">
                <a:latin typeface="Times New Roman" panose="02020603050405020304" pitchFamily="18" charset="0"/>
                <a:cs typeface="Times New Roman" panose="02020603050405020304" pitchFamily="18" charset="0"/>
              </a:rPr>
              <a:t>контроль </a:t>
            </a:r>
            <a:r>
              <a:rPr lang="ru-RU" sz="5600" dirty="0" err="1">
                <a:latin typeface="Times New Roman" panose="02020603050405020304" pitchFamily="18" charset="0"/>
                <a:cs typeface="Times New Roman" panose="02020603050405020304" pitchFamily="18" charset="0"/>
              </a:rPr>
              <a:t>морського</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судноплавства</a:t>
            </a:r>
            <a:r>
              <a:rPr lang="ru-RU" sz="5600" dirty="0">
                <a:latin typeface="Times New Roman" panose="02020603050405020304" pitchFamily="18" charset="0"/>
                <a:cs typeface="Times New Roman" panose="02020603050405020304" pitchFamily="18" charset="0"/>
              </a:rPr>
              <a:t>;</a:t>
            </a:r>
          </a:p>
          <a:p>
            <a:r>
              <a:rPr lang="ru-RU" sz="5600" dirty="0" err="1">
                <a:latin typeface="Times New Roman" panose="02020603050405020304" pitchFamily="18" charset="0"/>
                <a:cs typeface="Times New Roman" panose="02020603050405020304" pitchFamily="18" charset="0"/>
              </a:rPr>
              <a:t>ретрансляція</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сигналів</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передавання</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радіосигналів</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задля</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збільшення</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дальності</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дії</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каналів</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зв'язку</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БпЛА</a:t>
            </a:r>
            <a:r>
              <a:rPr lang="ru-RU" sz="5600" dirty="0">
                <a:latin typeface="Times New Roman" panose="02020603050405020304" pitchFamily="18" charset="0"/>
                <a:cs typeface="Times New Roman" panose="02020603050405020304" pitchFamily="18" charset="0"/>
              </a:rPr>
              <a:t> як </a:t>
            </a:r>
            <a:r>
              <a:rPr lang="ru-RU" sz="5600" dirty="0" err="1">
                <a:latin typeface="Times New Roman" panose="02020603050405020304" pitchFamily="18" charset="0"/>
                <a:cs typeface="Times New Roman" panose="02020603050405020304" pitchFamily="18" charset="0"/>
              </a:rPr>
              <a:t>носій</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освітлювального</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обладнання</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гучномовця</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БпЛА</a:t>
            </a:r>
            <a:r>
              <a:rPr lang="ru-RU" sz="5600" dirty="0">
                <a:latin typeface="Times New Roman" panose="02020603050405020304" pitchFamily="18" charset="0"/>
                <a:cs typeface="Times New Roman" panose="02020603050405020304" pitchFamily="18" charset="0"/>
              </a:rPr>
              <a:t> як </a:t>
            </a:r>
            <a:r>
              <a:rPr lang="ru-RU" sz="5600" dirty="0" err="1">
                <a:latin typeface="Times New Roman" panose="02020603050405020304" pitchFamily="18" charset="0"/>
                <a:cs typeface="Times New Roman" panose="02020603050405020304" pitchFamily="18" charset="0"/>
              </a:rPr>
              <a:t>майданчик</a:t>
            </a:r>
            <a:r>
              <a:rPr lang="ru-RU" sz="5600" dirty="0">
                <a:latin typeface="Times New Roman" panose="02020603050405020304" pitchFamily="18" charset="0"/>
                <a:cs typeface="Times New Roman" panose="02020603050405020304" pitchFamily="18" charset="0"/>
              </a:rPr>
              <a:t> для </a:t>
            </a:r>
            <a:r>
              <a:rPr lang="ru-RU" sz="5600" dirty="0" err="1">
                <a:latin typeface="Times New Roman" panose="02020603050405020304" pitchFamily="18" charset="0"/>
                <a:cs typeface="Times New Roman" panose="02020603050405020304" pitchFamily="18" charset="0"/>
              </a:rPr>
              <a:t>вироблення</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або</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відбивання</a:t>
            </a:r>
            <a:r>
              <a:rPr lang="ru-RU" sz="5600" dirty="0">
                <a:latin typeface="Times New Roman" panose="02020603050405020304" pitchFamily="18" charset="0"/>
                <a:cs typeface="Times New Roman" panose="02020603050405020304" pitchFamily="18" charset="0"/>
              </a:rPr>
              <a:t> лазерного </a:t>
            </a:r>
            <a:r>
              <a:rPr lang="ru-RU" sz="5600" dirty="0" err="1">
                <a:latin typeface="Times New Roman" panose="02020603050405020304" pitchFamily="18" charset="0"/>
                <a:cs typeface="Times New Roman" panose="02020603050405020304" pitchFamily="18" charset="0"/>
              </a:rPr>
              <a:t>променя</a:t>
            </a:r>
            <a:r>
              <a:rPr lang="ru-RU" sz="5600" dirty="0" smtClean="0">
                <a:latin typeface="Times New Roman" panose="02020603050405020304" pitchFamily="18" charset="0"/>
                <a:cs typeface="Times New Roman" panose="02020603050405020304" pitchFamily="18" charset="0"/>
              </a:rPr>
              <a:t>);</a:t>
            </a:r>
            <a:endParaRPr lang="ru-RU" sz="5600" dirty="0">
              <a:latin typeface="Times New Roman" panose="02020603050405020304" pitchFamily="18" charset="0"/>
              <a:cs typeface="Times New Roman" panose="02020603050405020304" pitchFamily="18" charset="0"/>
            </a:endParaRPr>
          </a:p>
          <a:p>
            <a:r>
              <a:rPr lang="ru-RU" sz="5600" dirty="0">
                <a:latin typeface="Times New Roman" panose="02020603050405020304" pitchFamily="18" charset="0"/>
                <a:cs typeface="Times New Roman" panose="02020603050405020304" pitchFamily="18" charset="0"/>
              </a:rPr>
              <a:t>доставка </a:t>
            </a:r>
            <a:r>
              <a:rPr lang="ru-RU" sz="5600" dirty="0" err="1">
                <a:latin typeface="Times New Roman" panose="02020603050405020304" pitchFamily="18" charset="0"/>
                <a:cs typeface="Times New Roman" panose="02020603050405020304" pitchFamily="18" charset="0"/>
              </a:rPr>
              <a:t>вантажів</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пошти</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інструментів</a:t>
            </a:r>
            <a:r>
              <a:rPr lang="ru-RU" sz="5600" dirty="0">
                <a:latin typeface="Times New Roman" panose="02020603050405020304" pitchFamily="18" charset="0"/>
                <a:cs typeface="Times New Roman" panose="02020603050405020304" pitchFamily="18" charset="0"/>
              </a:rPr>
              <a:t> і </a:t>
            </a:r>
            <a:r>
              <a:rPr lang="ru-RU" sz="5600" dirty="0" err="1">
                <a:latin typeface="Times New Roman" panose="02020603050405020304" pitchFamily="18" charset="0"/>
                <a:cs typeface="Times New Roman" panose="02020603050405020304" pitchFamily="18" charset="0"/>
              </a:rPr>
              <a:t>матеріалів</a:t>
            </a:r>
            <a:r>
              <a:rPr lang="ru-RU" sz="5600" dirty="0">
                <a:latin typeface="Times New Roman" panose="02020603050405020304" pitchFamily="18" charset="0"/>
                <a:cs typeface="Times New Roman" panose="02020603050405020304" pitchFamily="18" charset="0"/>
              </a:rPr>
              <a:t> на </a:t>
            </a:r>
            <a:r>
              <a:rPr lang="ru-RU" sz="5600" dirty="0" err="1">
                <a:latin typeface="Times New Roman" panose="02020603050405020304" pitchFamily="18" charset="0"/>
                <a:cs typeface="Times New Roman" panose="02020603050405020304" pitchFamily="18" charset="0"/>
              </a:rPr>
              <a:t>будівництво</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ремонтні</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роботи</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дозаправлення</a:t>
            </a:r>
            <a:r>
              <a:rPr lang="ru-RU" sz="5600" dirty="0">
                <a:latin typeface="Times New Roman" panose="02020603050405020304" pitchFamily="18" charset="0"/>
                <a:cs typeface="Times New Roman" panose="02020603050405020304" pitchFamily="18" charset="0"/>
              </a:rPr>
              <a:t>/</a:t>
            </a:r>
            <a:r>
              <a:rPr lang="ru-RU" sz="5600" dirty="0" err="1">
                <a:latin typeface="Times New Roman" panose="02020603050405020304" pitchFamily="18" charset="0"/>
                <a:cs typeface="Times New Roman" panose="02020603050405020304" pitchFamily="18" charset="0"/>
              </a:rPr>
              <a:t>підзарядка</a:t>
            </a:r>
            <a:r>
              <a:rPr lang="ru-RU" sz="5600" dirty="0">
                <a:latin typeface="Times New Roman" panose="02020603050405020304" pitchFamily="18" charset="0"/>
                <a:cs typeface="Times New Roman" panose="02020603050405020304" pitchFamily="18" charset="0"/>
              </a:rPr>
              <a:t> на </a:t>
            </a:r>
            <a:r>
              <a:rPr lang="ru-RU" sz="5600" dirty="0" err="1">
                <a:latin typeface="Times New Roman" panose="02020603050405020304" pitchFamily="18" charset="0"/>
                <a:cs typeface="Times New Roman" panose="02020603050405020304" pitchFamily="18" charset="0"/>
              </a:rPr>
              <a:t>важкодоступних</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об'єктах</a:t>
            </a:r>
            <a:r>
              <a:rPr lang="ru-RU" sz="5600" dirty="0">
                <a:latin typeface="Times New Roman" panose="02020603050405020304" pitchFamily="18" charset="0"/>
                <a:cs typeface="Times New Roman" panose="02020603050405020304" pitchFamily="18" charset="0"/>
              </a:rPr>
              <a:t> і </a:t>
            </a:r>
            <a:r>
              <a:rPr lang="ru-RU" sz="5600" dirty="0" err="1">
                <a:latin typeface="Times New Roman" panose="02020603050405020304" pitchFamily="18" charset="0"/>
                <a:cs typeface="Times New Roman" panose="02020603050405020304" pitchFamily="18" charset="0"/>
              </a:rPr>
              <a:t>віддалених</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автономних</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приладах</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метеостанції</a:t>
            </a:r>
            <a:r>
              <a:rPr lang="ru-RU" sz="5600" dirty="0">
                <a:latin typeface="Times New Roman" panose="02020603050405020304" pitchFamily="18" charset="0"/>
                <a:cs typeface="Times New Roman" panose="02020603050405020304" pitchFamily="18" charset="0"/>
              </a:rPr>
              <a:t>, маяки </a:t>
            </a:r>
            <a:r>
              <a:rPr lang="ru-RU" sz="5600" dirty="0" err="1">
                <a:latin typeface="Times New Roman" panose="02020603050405020304" pitchFamily="18" charset="0"/>
                <a:cs typeface="Times New Roman" panose="02020603050405020304" pitchFamily="18" charset="0"/>
              </a:rPr>
              <a:t>тощо</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розпорошення</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хімікатів</a:t>
            </a:r>
            <a:r>
              <a:rPr lang="ru-RU" sz="5600" dirty="0">
                <a:latin typeface="Times New Roman" panose="02020603050405020304" pitchFamily="18" charset="0"/>
                <a:cs typeface="Times New Roman" panose="02020603050405020304" pitchFamily="18" charset="0"/>
              </a:rPr>
              <a:t> та </a:t>
            </a:r>
            <a:r>
              <a:rPr lang="ru-RU" sz="5600" dirty="0" err="1">
                <a:latin typeface="Times New Roman" panose="02020603050405020304" pitchFamily="18" charset="0"/>
                <a:cs typeface="Times New Roman" panose="02020603050405020304" pitchFamily="18" charset="0"/>
              </a:rPr>
              <a:t>внесення</a:t>
            </a:r>
            <a:r>
              <a:rPr lang="ru-RU" sz="5600" dirty="0">
                <a:latin typeface="Times New Roman" panose="02020603050405020304" pitchFamily="18" charset="0"/>
                <a:cs typeface="Times New Roman" panose="02020603050405020304" pitchFamily="18" charset="0"/>
              </a:rPr>
              <a:t> добрив на полях; </a:t>
            </a:r>
            <a:r>
              <a:rPr lang="ru-RU" sz="5600" dirty="0" err="1">
                <a:latin typeface="Times New Roman" panose="02020603050405020304" pitchFamily="18" charset="0"/>
                <a:cs typeface="Times New Roman" panose="02020603050405020304" pitchFamily="18" charset="0"/>
              </a:rPr>
              <a:t>підтримка</a:t>
            </a:r>
            <a:r>
              <a:rPr lang="ru-RU" sz="5600" dirty="0">
                <a:latin typeface="Times New Roman" panose="02020603050405020304" pitchFamily="18" charset="0"/>
                <a:cs typeface="Times New Roman" panose="02020603050405020304" pitchFamily="18" charset="0"/>
              </a:rPr>
              <a:t> продуктами, пальниками, </a:t>
            </a:r>
            <a:r>
              <a:rPr lang="ru-RU" sz="5600" dirty="0" err="1">
                <a:latin typeface="Times New Roman" panose="02020603050405020304" pitchFamily="18" charset="0"/>
                <a:cs typeface="Times New Roman" panose="02020603050405020304" pitchFamily="18" charset="0"/>
              </a:rPr>
              <a:t>запчастинами</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тощо</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альпіністів</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туристів</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експедицій</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евакуаційні</a:t>
            </a:r>
            <a:r>
              <a:rPr lang="ru-RU" sz="5600" dirty="0">
                <a:latin typeface="Times New Roman" panose="02020603050405020304" pitchFamily="18" charset="0"/>
                <a:cs typeface="Times New Roman" panose="02020603050405020304" pitchFamily="18" charset="0"/>
              </a:rPr>
              <a:t> заходи);</a:t>
            </a:r>
          </a:p>
          <a:p>
            <a:r>
              <a:rPr lang="ru-RU" sz="5600" dirty="0" err="1" smtClean="0">
                <a:latin typeface="Times New Roman" panose="02020603050405020304" pitchFamily="18" charset="0"/>
                <a:cs typeface="Times New Roman" panose="02020603050405020304" pitchFamily="18" charset="0"/>
              </a:rPr>
              <a:t>керування</a:t>
            </a:r>
            <a:r>
              <a:rPr lang="ru-RU" sz="5600" dirty="0" smtClean="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поведінкою</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живих</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істот</a:t>
            </a:r>
            <a:r>
              <a:rPr lang="ru-RU" sz="5600" dirty="0">
                <a:latin typeface="Times New Roman" panose="02020603050405020304" pitchFamily="18" charset="0"/>
                <a:cs typeface="Times New Roman" panose="02020603050405020304" pitchFamily="18" charset="0"/>
              </a:rPr>
              <a:t> («пастух» для </a:t>
            </a:r>
            <a:r>
              <a:rPr lang="ru-RU" sz="5600" dirty="0" err="1">
                <a:latin typeface="Times New Roman" panose="02020603050405020304" pitchFamily="18" charset="0"/>
                <a:cs typeface="Times New Roman" panose="02020603050405020304" pitchFamily="18" charset="0"/>
              </a:rPr>
              <a:t>табунів</a:t>
            </a:r>
            <a:r>
              <a:rPr lang="ru-RU" sz="5600" dirty="0">
                <a:latin typeface="Times New Roman" panose="02020603050405020304" pitchFamily="18" charset="0"/>
                <a:cs typeface="Times New Roman" panose="02020603050405020304" pitchFamily="18" charset="0"/>
              </a:rPr>
              <a:t> коней, отар </a:t>
            </a:r>
            <a:r>
              <a:rPr lang="ru-RU" sz="5600" dirty="0" err="1">
                <a:latin typeface="Times New Roman" panose="02020603050405020304" pitchFamily="18" charset="0"/>
                <a:cs typeface="Times New Roman" panose="02020603050405020304" pitchFamily="18" charset="0"/>
              </a:rPr>
              <a:t>овець</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тощо</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відлякування</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зграй</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птахів</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від</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аеродромів</a:t>
            </a:r>
            <a:r>
              <a:rPr lang="ru-RU" sz="5600" dirty="0" smtClean="0">
                <a:latin typeface="Times New Roman" panose="02020603050405020304" pitchFamily="18" charset="0"/>
                <a:cs typeface="Times New Roman" panose="02020603050405020304" pitchFamily="18" charset="0"/>
              </a:rPr>
              <a:t>).</a:t>
            </a:r>
            <a:endParaRPr lang="ru-RU" sz="5600" dirty="0">
              <a:latin typeface="Times New Roman" panose="02020603050405020304" pitchFamily="18" charset="0"/>
              <a:cs typeface="Times New Roman" panose="02020603050405020304" pitchFamily="18" charset="0"/>
            </a:endParaRPr>
          </a:p>
          <a:p>
            <a:pPr marL="0" indent="0">
              <a:buNone/>
            </a:pPr>
            <a:r>
              <a:rPr lang="ru-RU" sz="5600" dirty="0">
                <a:latin typeface="Times New Roman" panose="02020603050405020304" pitchFamily="18" charset="0"/>
                <a:cs typeface="Times New Roman" panose="02020603050405020304" pitchFamily="18" charset="0"/>
              </a:rPr>
              <a:t> </a:t>
            </a:r>
          </a:p>
          <a:p>
            <a:endParaRPr lang="ru-RU" dirty="0"/>
          </a:p>
        </p:txBody>
      </p:sp>
      <p:pic>
        <p:nvPicPr>
          <p:cNvPr id="4" name="Рисунок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01863" y="294112"/>
            <a:ext cx="3522192" cy="2101785"/>
          </a:xfrm>
          <a:prstGeom prst="rect">
            <a:avLst/>
          </a:prstGeom>
        </p:spPr>
      </p:pic>
      <p:pic>
        <p:nvPicPr>
          <p:cNvPr id="5" name="Рисунок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514" y="804504"/>
            <a:ext cx="3704415" cy="1800473"/>
          </a:xfrm>
          <a:prstGeom prst="rect">
            <a:avLst/>
          </a:prstGeom>
        </p:spPr>
      </p:pic>
    </p:spTree>
    <p:extLst>
      <p:ext uri="{BB962C8B-B14F-4D97-AF65-F5344CB8AC3E}">
        <p14:creationId xmlns:p14="http://schemas.microsoft.com/office/powerpoint/2010/main" val="338493336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87078" y="226904"/>
            <a:ext cx="2020187" cy="857617"/>
          </a:xfrm>
        </p:spPr>
        <p:txBody>
          <a:bodyPr>
            <a:normAutofit/>
          </a:bodyPr>
          <a:lstStyle/>
          <a:p>
            <a:r>
              <a:rPr lang="uk-UA" sz="2400" b="1" dirty="0" smtClean="0">
                <a:latin typeface="Times New Roman" panose="02020603050405020304" pitchFamily="18" charset="0"/>
                <a:cs typeface="Times New Roman" panose="02020603050405020304" pitchFamily="18" charset="0"/>
              </a:rPr>
              <a:t>Склад </a:t>
            </a:r>
            <a:r>
              <a:rPr lang="uk-UA" sz="2400" b="1" dirty="0" err="1" smtClean="0">
                <a:latin typeface="Times New Roman" panose="02020603050405020304" pitchFamily="18" charset="0"/>
                <a:cs typeface="Times New Roman" panose="02020603050405020304" pitchFamily="18" charset="0"/>
              </a:rPr>
              <a:t>дрона</a:t>
            </a:r>
            <a:r>
              <a:rPr lang="uk-UA" sz="2400" b="1" dirty="0" smtClean="0">
                <a:latin typeface="Times New Roman" panose="02020603050405020304" pitchFamily="18" charset="0"/>
                <a:cs typeface="Times New Roman" panose="02020603050405020304" pitchFamily="18" charset="0"/>
              </a:rPr>
              <a:t> </a:t>
            </a:r>
            <a:endParaRPr lang="ru-RU" sz="2400" b="1"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287078" y="1084521"/>
            <a:ext cx="4114800" cy="5182929"/>
          </a:xfrm>
        </p:spPr>
        <p:txBody>
          <a:bodyPr>
            <a:normAutofit fontScale="77500" lnSpcReduction="20000"/>
          </a:bodyPr>
          <a:lstStyle/>
          <a:p>
            <a:pPr marL="0" indent="0">
              <a:buNone/>
            </a:pPr>
            <a:r>
              <a:rPr lang="ru-RU" sz="1400" dirty="0" err="1">
                <a:latin typeface="Times New Roman" panose="02020603050405020304" pitchFamily="18" charset="0"/>
                <a:cs typeface="Times New Roman" panose="02020603050405020304" pitchFamily="18" charset="0"/>
              </a:rPr>
              <a:t>Квадрокоптери</a:t>
            </a:r>
            <a:r>
              <a:rPr lang="ru-RU" sz="1400" dirty="0">
                <a:latin typeface="Times New Roman" panose="02020603050405020304" pitchFamily="18" charset="0"/>
                <a:cs typeface="Times New Roman" panose="02020603050405020304" pitchFamily="18" charset="0"/>
              </a:rPr>
              <a:t> без проблем </a:t>
            </a:r>
            <a:r>
              <a:rPr lang="ru-RU" sz="1400" dirty="0" err="1">
                <a:latin typeface="Times New Roman" panose="02020603050405020304" pitchFamily="18" charset="0"/>
                <a:cs typeface="Times New Roman" panose="02020603050405020304" pitchFamily="18" charset="0"/>
              </a:rPr>
              <a:t>адаптуються</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під</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різні</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завдання</a:t>
            </a:r>
            <a:r>
              <a:rPr lang="ru-RU" sz="1400" dirty="0">
                <a:latin typeface="Times New Roman" panose="02020603050405020304" pitchFamily="18" charset="0"/>
                <a:cs typeface="Times New Roman" panose="02020603050405020304" pitchFamily="18" charset="0"/>
              </a:rPr>
              <a:t>. </a:t>
            </a:r>
            <a:endParaRPr lang="ru-RU" sz="1400" dirty="0" smtClean="0">
              <a:latin typeface="Times New Roman" panose="02020603050405020304" pitchFamily="18" charset="0"/>
              <a:cs typeface="Times New Roman" panose="02020603050405020304" pitchFamily="18" charset="0"/>
            </a:endParaRPr>
          </a:p>
          <a:p>
            <a:pPr marL="0" indent="0">
              <a:buNone/>
            </a:pPr>
            <a:r>
              <a:rPr lang="ru-RU" sz="1400" dirty="0" smtClean="0">
                <a:latin typeface="Times New Roman" panose="02020603050405020304" pitchFamily="18" charset="0"/>
                <a:cs typeface="Times New Roman" panose="02020603050405020304" pitchFamily="18" charset="0"/>
              </a:rPr>
              <a:t>Для </a:t>
            </a:r>
            <a:r>
              <a:rPr lang="ru-RU" sz="1400" dirty="0" err="1">
                <a:latin typeface="Times New Roman" panose="02020603050405020304" pitchFamily="18" charset="0"/>
                <a:cs typeface="Times New Roman" panose="02020603050405020304" pitchFamily="18" charset="0"/>
              </a:rPr>
              <a:t>цього</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їх</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оснащують</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додатковими</a:t>
            </a:r>
            <a:r>
              <a:rPr lang="ru-RU" sz="1400" dirty="0">
                <a:latin typeface="Times New Roman" panose="02020603050405020304" pitchFamily="18" charset="0"/>
                <a:cs typeface="Times New Roman" panose="02020603050405020304" pitchFamily="18" charset="0"/>
              </a:rPr>
              <a:t> гаджетами, камерами, </a:t>
            </a:r>
            <a:r>
              <a:rPr lang="ru-RU" sz="1400" dirty="0" err="1">
                <a:latin typeface="Times New Roman" panose="02020603050405020304" pitchFamily="18" charset="0"/>
                <a:cs typeface="Times New Roman" panose="02020603050405020304" pitchFamily="18" charset="0"/>
              </a:rPr>
              <a:t>світлодіодами</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спеціалізованим</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обладнанням</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наприклад</a:t>
            </a:r>
            <a:r>
              <a:rPr lang="ru-RU" sz="1400" dirty="0">
                <a:latin typeface="Times New Roman" panose="02020603050405020304" pitchFamily="18" charset="0"/>
                <a:cs typeface="Times New Roman" panose="02020603050405020304" pitchFamily="18" charset="0"/>
              </a:rPr>
              <a:t>, системою </a:t>
            </a:r>
            <a:r>
              <a:rPr lang="ru-RU" sz="1400" dirty="0" err="1">
                <a:latin typeface="Times New Roman" panose="02020603050405020304" pitchFamily="18" charset="0"/>
                <a:cs typeface="Times New Roman" panose="02020603050405020304" pitchFamily="18" charset="0"/>
              </a:rPr>
              <a:t>скидання</a:t>
            </a:r>
            <a:r>
              <a:rPr lang="ru-RU" sz="1400" dirty="0">
                <a:latin typeface="Times New Roman" panose="02020603050405020304" pitchFamily="18" charset="0"/>
                <a:cs typeface="Times New Roman" panose="02020603050405020304" pitchFamily="18" charset="0"/>
              </a:rPr>
              <a:t>.</a:t>
            </a:r>
            <a:br>
              <a:rPr lang="ru-RU" sz="1400" dirty="0">
                <a:latin typeface="Times New Roman" panose="02020603050405020304" pitchFamily="18" charset="0"/>
                <a:cs typeface="Times New Roman" panose="02020603050405020304" pitchFamily="18" charset="0"/>
              </a:rPr>
            </a:br>
            <a:r>
              <a:rPr lang="ru-RU" sz="1400" dirty="0">
                <a:latin typeface="Times New Roman" panose="02020603050405020304" pitchFamily="18" charset="0"/>
                <a:cs typeface="Times New Roman" panose="02020603050405020304" pitchFamily="18" charset="0"/>
              </a:rPr>
              <a:t/>
            </a:r>
            <a:br>
              <a:rPr lang="ru-RU" sz="1400" dirty="0">
                <a:latin typeface="Times New Roman" panose="02020603050405020304" pitchFamily="18" charset="0"/>
                <a:cs typeface="Times New Roman" panose="02020603050405020304" pitchFamily="18" charset="0"/>
              </a:rPr>
            </a:br>
            <a:r>
              <a:rPr lang="ru-RU" sz="1400" dirty="0">
                <a:latin typeface="Times New Roman" panose="02020603050405020304" pitchFamily="18" charset="0"/>
                <a:cs typeface="Times New Roman" panose="02020603050405020304" pitchFamily="18" charset="0"/>
              </a:rPr>
              <a:t> </a:t>
            </a:r>
            <a:r>
              <a:rPr lang="ru-RU" sz="1400" dirty="0" err="1" smtClean="0">
                <a:latin typeface="Times New Roman" panose="02020603050405020304" pitchFamily="18" charset="0"/>
                <a:cs typeface="Times New Roman" panose="02020603050405020304" pitchFamily="18" charset="0"/>
              </a:rPr>
              <a:t>Основними</a:t>
            </a:r>
            <a:r>
              <a:rPr lang="ru-RU" sz="1400" dirty="0" smtClean="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елементами</a:t>
            </a:r>
            <a:r>
              <a:rPr lang="ru-RU" sz="1400" dirty="0">
                <a:latin typeface="Times New Roman" panose="02020603050405020304" pitchFamily="18" charset="0"/>
                <a:cs typeface="Times New Roman" panose="02020603050405020304" pitchFamily="18" charset="0"/>
              </a:rPr>
              <a:t> </a:t>
            </a:r>
            <a:r>
              <a:rPr lang="ru-RU" sz="1400" dirty="0" err="1" smtClean="0">
                <a:latin typeface="Times New Roman" panose="02020603050405020304" pitchFamily="18" charset="0"/>
                <a:cs typeface="Times New Roman" panose="02020603050405020304" pitchFamily="18" charset="0"/>
              </a:rPr>
              <a:t>дрона</a:t>
            </a:r>
            <a:r>
              <a:rPr lang="ru-RU" sz="1400" dirty="0" smtClean="0">
                <a:latin typeface="Times New Roman" panose="02020603050405020304" pitchFamily="18" charset="0"/>
                <a:cs typeface="Times New Roman" panose="02020603050405020304" pitchFamily="18" charset="0"/>
              </a:rPr>
              <a:t> є</a:t>
            </a:r>
            <a:r>
              <a:rPr lang="ru-RU" sz="1400" dirty="0">
                <a:latin typeface="Times New Roman" panose="02020603050405020304" pitchFamily="18" charset="0"/>
                <a:cs typeface="Times New Roman" panose="02020603050405020304" pitchFamily="18" charset="0"/>
              </a:rPr>
              <a:t>:</a:t>
            </a:r>
            <a:br>
              <a:rPr lang="ru-RU" sz="1400" dirty="0">
                <a:latin typeface="Times New Roman" panose="02020603050405020304" pitchFamily="18" charset="0"/>
                <a:cs typeface="Times New Roman" panose="02020603050405020304" pitchFamily="18" charset="0"/>
              </a:rPr>
            </a:br>
            <a:r>
              <a:rPr lang="ru-RU" sz="1400" dirty="0">
                <a:latin typeface="Times New Roman" panose="02020603050405020304" pitchFamily="18" charset="0"/>
                <a:cs typeface="Times New Roman" panose="02020603050405020304" pitchFamily="18" charset="0"/>
              </a:rPr>
              <a:t/>
            </a:r>
            <a:br>
              <a:rPr lang="ru-RU" sz="1400" dirty="0">
                <a:latin typeface="Times New Roman" panose="02020603050405020304" pitchFamily="18" charset="0"/>
                <a:cs typeface="Times New Roman" panose="02020603050405020304" pitchFamily="18" charset="0"/>
              </a:rPr>
            </a:br>
            <a:r>
              <a:rPr lang="ru-RU" sz="1400" dirty="0">
                <a:latin typeface="Times New Roman" panose="02020603050405020304" pitchFamily="18" charset="0"/>
                <a:cs typeface="Times New Roman" panose="02020603050405020304" pitchFamily="18" charset="0"/>
              </a:rPr>
              <a:t>  </a:t>
            </a:r>
            <a:r>
              <a:rPr lang="ru-RU" sz="1400" dirty="0" smtClean="0">
                <a:latin typeface="Times New Roman" panose="02020603050405020304" pitchFamily="18" charset="0"/>
                <a:cs typeface="Times New Roman" panose="02020603050405020304" pitchFamily="18" charset="0"/>
              </a:rPr>
              <a:t>-</a:t>
            </a:r>
            <a:r>
              <a:rPr lang="ru-RU" sz="1400" b="1" dirty="0" smtClean="0">
                <a:latin typeface="Times New Roman" panose="02020603050405020304" pitchFamily="18" charset="0"/>
                <a:cs typeface="Times New Roman" panose="02020603050405020304" pitchFamily="18" charset="0"/>
              </a:rPr>
              <a:t>Рама</a:t>
            </a:r>
            <a:r>
              <a:rPr lang="ru-RU" sz="1400" dirty="0" smtClean="0">
                <a:latin typeface="Times New Roman" panose="02020603050405020304" pitchFamily="18" charset="0"/>
                <a:cs typeface="Times New Roman" panose="02020603050405020304" pitchFamily="18" charset="0"/>
              </a:rPr>
              <a:t> </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це</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основний</a:t>
            </a:r>
            <a:r>
              <a:rPr lang="ru-RU" sz="1400" dirty="0">
                <a:latin typeface="Times New Roman" panose="02020603050405020304" pitchFamily="18" charset="0"/>
                <a:cs typeface="Times New Roman" panose="02020603050405020304" pitchFamily="18" charset="0"/>
              </a:rPr>
              <a:t> каркас, на </a:t>
            </a:r>
            <a:r>
              <a:rPr lang="ru-RU" sz="1400" dirty="0" err="1">
                <a:latin typeface="Times New Roman" panose="02020603050405020304" pitchFamily="18" charset="0"/>
                <a:cs typeface="Times New Roman" panose="02020603050405020304" pitchFamily="18" charset="0"/>
              </a:rPr>
              <a:t>якому</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монтуються</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всі</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інші</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компоненти</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Її</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розміри</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вимірюються</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діагональною</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відстанню</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між</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двома</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двигунами</a:t>
            </a:r>
            <a:r>
              <a:rPr lang="ru-RU" sz="1400" dirty="0" smtClean="0">
                <a:latin typeface="Times New Roman" panose="02020603050405020304" pitchFamily="18" charset="0"/>
                <a:cs typeface="Times New Roman" panose="02020603050405020304" pitchFamily="18" charset="0"/>
              </a:rPr>
              <a:t>.</a:t>
            </a:r>
          </a:p>
          <a:p>
            <a:pPr marL="0" indent="0">
              <a:buNone/>
            </a:pPr>
            <a:r>
              <a:rPr lang="ru-RU" sz="1400" dirty="0">
                <a:latin typeface="Times New Roman" panose="02020603050405020304" pitchFamily="18" charset="0"/>
                <a:cs typeface="Times New Roman" panose="02020603050405020304" pitchFamily="18" charset="0"/>
              </a:rPr>
              <a:t/>
            </a:r>
            <a:br>
              <a:rPr lang="ru-RU" sz="1400" dirty="0">
                <a:latin typeface="Times New Roman" panose="02020603050405020304" pitchFamily="18" charset="0"/>
                <a:cs typeface="Times New Roman" panose="02020603050405020304" pitchFamily="18" charset="0"/>
              </a:rPr>
            </a:br>
            <a:r>
              <a:rPr lang="ru-RU" sz="1400" dirty="0">
                <a:latin typeface="Times New Roman" panose="02020603050405020304" pitchFamily="18" charset="0"/>
                <a:cs typeface="Times New Roman" panose="02020603050405020304" pitchFamily="18" charset="0"/>
              </a:rPr>
              <a:t>  </a:t>
            </a:r>
            <a:r>
              <a:rPr lang="ru-RU" sz="1400" dirty="0" smtClean="0">
                <a:latin typeface="Times New Roman" panose="02020603050405020304" pitchFamily="18" charset="0"/>
                <a:cs typeface="Times New Roman" panose="02020603050405020304" pitchFamily="18" charset="0"/>
              </a:rPr>
              <a:t>-</a:t>
            </a:r>
            <a:r>
              <a:rPr lang="ru-RU" sz="1400" dirty="0">
                <a:latin typeface="Times New Roman" panose="02020603050405020304" pitchFamily="18" charset="0"/>
                <a:cs typeface="Times New Roman" panose="02020603050405020304" pitchFamily="18" charset="0"/>
              </a:rPr>
              <a:t> </a:t>
            </a:r>
            <a:r>
              <a:rPr lang="ru-RU" sz="1400" b="1" dirty="0" err="1">
                <a:latin typeface="Times New Roman" panose="02020603050405020304" pitchFamily="18" charset="0"/>
                <a:cs typeface="Times New Roman" panose="02020603050405020304" pitchFamily="18" charset="0"/>
              </a:rPr>
              <a:t>Мотори</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відрізняються</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високою</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потужністю</a:t>
            </a:r>
            <a:r>
              <a:rPr lang="ru-RU" sz="1400" dirty="0">
                <a:latin typeface="Times New Roman" panose="02020603050405020304" pitchFamily="18" charset="0"/>
                <a:cs typeface="Times New Roman" panose="02020603050405020304" pitchFamily="18" charset="0"/>
              </a:rPr>
              <a:t> і </a:t>
            </a:r>
            <a:r>
              <a:rPr lang="ru-RU" sz="1400" dirty="0" err="1">
                <a:latin typeface="Times New Roman" panose="02020603050405020304" pitchFamily="18" charset="0"/>
                <a:cs typeface="Times New Roman" panose="02020603050405020304" pitchFamily="18" charset="0"/>
              </a:rPr>
              <a:t>можуть</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розвивати</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велику</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швидкість</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польоту</a:t>
            </a:r>
            <a:r>
              <a:rPr lang="ru-RU" sz="1400" dirty="0" smtClean="0">
                <a:latin typeface="Times New Roman" panose="02020603050405020304" pitchFamily="18" charset="0"/>
                <a:cs typeface="Times New Roman" panose="02020603050405020304" pitchFamily="18" charset="0"/>
              </a:rPr>
              <a:t>).</a:t>
            </a:r>
          </a:p>
          <a:p>
            <a:pPr marL="0" indent="0">
              <a:buNone/>
            </a:pPr>
            <a:r>
              <a:rPr lang="ru-RU" sz="1400" dirty="0">
                <a:latin typeface="Times New Roman" panose="02020603050405020304" pitchFamily="18" charset="0"/>
                <a:cs typeface="Times New Roman" panose="02020603050405020304" pitchFamily="18" charset="0"/>
              </a:rPr>
              <a:t/>
            </a:r>
            <a:br>
              <a:rPr lang="ru-RU" sz="1400" dirty="0">
                <a:latin typeface="Times New Roman" panose="02020603050405020304" pitchFamily="18" charset="0"/>
                <a:cs typeface="Times New Roman" panose="02020603050405020304" pitchFamily="18" charset="0"/>
              </a:rPr>
            </a:br>
            <a:r>
              <a:rPr lang="ru-RU" sz="1400" dirty="0">
                <a:latin typeface="Times New Roman" panose="02020603050405020304" pitchFamily="18" charset="0"/>
                <a:cs typeface="Times New Roman" panose="02020603050405020304" pitchFamily="18" charset="0"/>
              </a:rPr>
              <a:t>  </a:t>
            </a:r>
            <a:r>
              <a:rPr lang="ru-RU" sz="1400" dirty="0" smtClean="0">
                <a:latin typeface="Times New Roman" panose="02020603050405020304" pitchFamily="18" charset="0"/>
                <a:cs typeface="Times New Roman" panose="02020603050405020304" pitchFamily="18" charset="0"/>
              </a:rPr>
              <a:t>-</a:t>
            </a:r>
            <a:r>
              <a:rPr lang="ru-RU" sz="1400" dirty="0">
                <a:latin typeface="Times New Roman" panose="02020603050405020304" pitchFamily="18" charset="0"/>
                <a:cs typeface="Times New Roman" panose="02020603050405020304" pitchFamily="18" charset="0"/>
              </a:rPr>
              <a:t> </a:t>
            </a:r>
            <a:r>
              <a:rPr lang="ru-RU" sz="1400" b="1" dirty="0" err="1">
                <a:latin typeface="Times New Roman" panose="02020603050405020304" pitchFamily="18" charset="0"/>
                <a:cs typeface="Times New Roman" panose="02020603050405020304" pitchFamily="18" charset="0"/>
              </a:rPr>
              <a:t>Пропелери</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Розмір</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гвинтів</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які</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можна</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встановити</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визначає</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певні</a:t>
            </a:r>
            <a:r>
              <a:rPr lang="ru-RU" sz="1400" dirty="0">
                <a:latin typeface="Times New Roman" panose="02020603050405020304" pitchFamily="18" charset="0"/>
                <a:cs typeface="Times New Roman" panose="02020603050405020304" pitchFamily="18" charset="0"/>
              </a:rPr>
              <a:t> характеристики рами</a:t>
            </a:r>
            <a:r>
              <a:rPr lang="ru-RU" sz="1400" dirty="0" smtClean="0">
                <a:latin typeface="Times New Roman" panose="02020603050405020304" pitchFamily="18" charset="0"/>
                <a:cs typeface="Times New Roman" panose="02020603050405020304" pitchFamily="18" charset="0"/>
              </a:rPr>
              <a:t>.</a:t>
            </a:r>
          </a:p>
          <a:p>
            <a:pPr marL="0" indent="0">
              <a:buNone/>
            </a:pPr>
            <a:r>
              <a:rPr lang="ru-RU" sz="1400" dirty="0">
                <a:latin typeface="Times New Roman" panose="02020603050405020304" pitchFamily="18" charset="0"/>
                <a:cs typeface="Times New Roman" panose="02020603050405020304" pitchFamily="18" charset="0"/>
              </a:rPr>
              <a:t/>
            </a:r>
            <a:br>
              <a:rPr lang="ru-RU" sz="1400" dirty="0">
                <a:latin typeface="Times New Roman" panose="02020603050405020304" pitchFamily="18" charset="0"/>
                <a:cs typeface="Times New Roman" panose="02020603050405020304" pitchFamily="18" charset="0"/>
              </a:rPr>
            </a:br>
            <a:r>
              <a:rPr lang="ru-RU" sz="1400" dirty="0">
                <a:latin typeface="Times New Roman" panose="02020603050405020304" pitchFamily="18" charset="0"/>
                <a:cs typeface="Times New Roman" panose="02020603050405020304" pitchFamily="18" charset="0"/>
              </a:rPr>
              <a:t>  </a:t>
            </a:r>
            <a:r>
              <a:rPr lang="ru-RU" sz="1400" dirty="0" smtClean="0">
                <a:latin typeface="Times New Roman" panose="02020603050405020304" pitchFamily="18" charset="0"/>
                <a:cs typeface="Times New Roman" panose="02020603050405020304" pitchFamily="18" charset="0"/>
              </a:rPr>
              <a:t>-</a:t>
            </a:r>
            <a:r>
              <a:rPr lang="ru-RU" sz="1400" dirty="0">
                <a:latin typeface="Times New Roman" panose="02020603050405020304" pitchFamily="18" charset="0"/>
                <a:cs typeface="Times New Roman" panose="02020603050405020304" pitchFamily="18" charset="0"/>
              </a:rPr>
              <a:t> </a:t>
            </a:r>
            <a:r>
              <a:rPr lang="ru-RU" sz="1400" b="1" dirty="0">
                <a:latin typeface="Times New Roman" panose="02020603050405020304" pitchFamily="18" charset="0"/>
                <a:cs typeface="Times New Roman" panose="02020603050405020304" pitchFamily="18" charset="0"/>
              </a:rPr>
              <a:t>Контролер </a:t>
            </a:r>
            <a:r>
              <a:rPr lang="ru-RU" sz="1400" b="1" dirty="0" err="1">
                <a:latin typeface="Times New Roman" panose="02020603050405020304" pitchFamily="18" charset="0"/>
                <a:cs typeface="Times New Roman" panose="02020603050405020304" pitchFamily="18" charset="0"/>
              </a:rPr>
              <a:t>польоту</a:t>
            </a:r>
            <a:r>
              <a:rPr lang="ru-RU" sz="1400" b="1" dirty="0">
                <a:latin typeface="Times New Roman" panose="02020603050405020304" pitchFamily="18" charset="0"/>
                <a:cs typeface="Times New Roman" panose="02020603050405020304" pitchFamily="18" charset="0"/>
              </a:rPr>
              <a:t> </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забезпечує</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стабілізацію</a:t>
            </a:r>
            <a:r>
              <a:rPr lang="ru-RU" sz="1400" dirty="0">
                <a:latin typeface="Times New Roman" panose="02020603050405020304" pitchFamily="18" charset="0"/>
                <a:cs typeface="Times New Roman" panose="02020603050405020304" pitchFamily="18" charset="0"/>
              </a:rPr>
              <a:t> та </a:t>
            </a:r>
            <a:r>
              <a:rPr lang="ru-RU" sz="1400" dirty="0" err="1">
                <a:latin typeface="Times New Roman" panose="02020603050405020304" pitchFamily="18" charset="0"/>
                <a:cs typeface="Times New Roman" panose="02020603050405020304" pitchFamily="18" charset="0"/>
              </a:rPr>
              <a:t>управління</a:t>
            </a:r>
            <a:r>
              <a:rPr lang="ru-RU" sz="1400" dirty="0" smtClean="0">
                <a:latin typeface="Times New Roman" panose="02020603050405020304" pitchFamily="18" charset="0"/>
                <a:cs typeface="Times New Roman" panose="02020603050405020304" pitchFamily="18" charset="0"/>
              </a:rPr>
              <a:t>.</a:t>
            </a:r>
          </a:p>
          <a:p>
            <a:pPr marL="0" indent="0">
              <a:buNone/>
            </a:pPr>
            <a:r>
              <a:rPr lang="ru-RU" sz="1400" dirty="0">
                <a:latin typeface="Times New Roman" panose="02020603050405020304" pitchFamily="18" charset="0"/>
                <a:cs typeface="Times New Roman" panose="02020603050405020304" pitchFamily="18" charset="0"/>
              </a:rPr>
              <a:t/>
            </a:r>
            <a:br>
              <a:rPr lang="ru-RU" sz="1400" dirty="0">
                <a:latin typeface="Times New Roman" panose="02020603050405020304" pitchFamily="18" charset="0"/>
                <a:cs typeface="Times New Roman" panose="02020603050405020304" pitchFamily="18" charset="0"/>
              </a:rPr>
            </a:br>
            <a:r>
              <a:rPr lang="ru-RU" sz="1400" dirty="0">
                <a:latin typeface="Times New Roman" panose="02020603050405020304" pitchFamily="18" charset="0"/>
                <a:cs typeface="Times New Roman" panose="02020603050405020304" pitchFamily="18" charset="0"/>
              </a:rPr>
              <a:t>   </a:t>
            </a:r>
            <a:r>
              <a:rPr lang="ru-RU" sz="1400" dirty="0" smtClean="0">
                <a:latin typeface="Times New Roman" panose="02020603050405020304" pitchFamily="18" charset="0"/>
                <a:cs typeface="Times New Roman" panose="02020603050405020304" pitchFamily="18" charset="0"/>
              </a:rPr>
              <a:t>-</a:t>
            </a:r>
            <a:r>
              <a:rPr lang="en-US" sz="1400" b="1" dirty="0" smtClean="0">
                <a:latin typeface="Times New Roman" panose="02020603050405020304" pitchFamily="18" charset="0"/>
                <a:cs typeface="Times New Roman" panose="02020603050405020304" pitchFamily="18" charset="0"/>
              </a:rPr>
              <a:t>FPV </a:t>
            </a:r>
            <a:r>
              <a:rPr lang="ru-RU" sz="1400" b="1" dirty="0">
                <a:latin typeface="Times New Roman" panose="02020603050405020304" pitchFamily="18" charset="0"/>
                <a:cs typeface="Times New Roman" panose="02020603050405020304" pitchFamily="18" charset="0"/>
              </a:rPr>
              <a:t>камера </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має</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мати</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високу</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роздільну</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здатність</a:t>
            </a:r>
            <a:r>
              <a:rPr lang="ru-RU" sz="1400" dirty="0">
                <a:latin typeface="Times New Roman" panose="02020603050405020304" pitchFamily="18" charset="0"/>
                <a:cs typeface="Times New Roman" panose="02020603050405020304" pitchFamily="18" charset="0"/>
              </a:rPr>
              <a:t> і </a:t>
            </a:r>
            <a:r>
              <a:rPr lang="ru-RU" sz="1400" dirty="0" err="1">
                <a:latin typeface="Times New Roman" panose="02020603050405020304" pitchFamily="18" charset="0"/>
                <a:cs typeface="Times New Roman" panose="02020603050405020304" pitchFamily="18" charset="0"/>
              </a:rPr>
              <a:t>здатна</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регулювати</a:t>
            </a:r>
            <a:r>
              <a:rPr lang="ru-RU" sz="1400" dirty="0">
                <a:latin typeface="Times New Roman" panose="02020603050405020304" pitchFamily="18" charset="0"/>
                <a:cs typeface="Times New Roman" panose="02020603050405020304" pitchFamily="18" charset="0"/>
              </a:rPr>
              <a:t> кут </a:t>
            </a:r>
            <a:r>
              <a:rPr lang="ru-RU" sz="1400" dirty="0" err="1">
                <a:latin typeface="Times New Roman" panose="02020603050405020304" pitchFamily="18" charset="0"/>
                <a:cs typeface="Times New Roman" panose="02020603050405020304" pitchFamily="18" charset="0"/>
              </a:rPr>
              <a:t>огляду</a:t>
            </a:r>
            <a:r>
              <a:rPr lang="ru-RU" sz="1400" dirty="0" smtClean="0">
                <a:latin typeface="Times New Roman" panose="02020603050405020304" pitchFamily="18" charset="0"/>
                <a:cs typeface="Times New Roman" panose="02020603050405020304" pitchFamily="18" charset="0"/>
              </a:rPr>
              <a:t>.</a:t>
            </a:r>
          </a:p>
          <a:p>
            <a:pPr marL="0" indent="0">
              <a:buNone/>
            </a:pPr>
            <a:r>
              <a:rPr lang="ru-RU" sz="1400" dirty="0">
                <a:latin typeface="Times New Roman" panose="02020603050405020304" pitchFamily="18" charset="0"/>
                <a:cs typeface="Times New Roman" panose="02020603050405020304" pitchFamily="18" charset="0"/>
              </a:rPr>
              <a:t/>
            </a:r>
            <a:br>
              <a:rPr lang="ru-RU" sz="1400" dirty="0">
                <a:latin typeface="Times New Roman" panose="02020603050405020304" pitchFamily="18" charset="0"/>
                <a:cs typeface="Times New Roman" panose="02020603050405020304" pitchFamily="18" charset="0"/>
              </a:rPr>
            </a:br>
            <a:r>
              <a:rPr lang="ru-RU" sz="1400" dirty="0">
                <a:latin typeface="Times New Roman" panose="02020603050405020304" pitchFamily="18" charset="0"/>
                <a:cs typeface="Times New Roman" panose="02020603050405020304" pitchFamily="18" charset="0"/>
              </a:rPr>
              <a:t>   </a:t>
            </a:r>
            <a:r>
              <a:rPr lang="ru-RU" sz="1400" dirty="0" smtClean="0">
                <a:latin typeface="Times New Roman" panose="02020603050405020304" pitchFamily="18" charset="0"/>
                <a:cs typeface="Times New Roman" panose="02020603050405020304" pitchFamily="18" charset="0"/>
              </a:rPr>
              <a:t>-</a:t>
            </a:r>
            <a:r>
              <a:rPr lang="ru-RU" sz="1400" b="1" dirty="0" err="1" smtClean="0">
                <a:latin typeface="Times New Roman" panose="02020603050405020304" pitchFamily="18" charset="0"/>
                <a:cs typeface="Times New Roman" panose="02020603050405020304" pitchFamily="18" charset="0"/>
              </a:rPr>
              <a:t>Відеопередавач</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Забезпечує</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аналогове</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або</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цифрове</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відеопередання</a:t>
            </a:r>
            <a:r>
              <a:rPr lang="ru-RU" sz="1400" dirty="0">
                <a:latin typeface="Times New Roman" panose="02020603050405020304" pitchFamily="18" charset="0"/>
                <a:cs typeface="Times New Roman" panose="02020603050405020304" pitchFamily="18" charset="0"/>
              </a:rPr>
              <a:t> на </a:t>
            </a:r>
            <a:r>
              <a:rPr lang="ru-RU" sz="1400" dirty="0" err="1">
                <a:latin typeface="Times New Roman" panose="02020603050405020304" pitchFamily="18" charset="0"/>
                <a:cs typeface="Times New Roman" panose="02020603050405020304" pitchFamily="18" charset="0"/>
              </a:rPr>
              <a:t>різній</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відстані</a:t>
            </a:r>
            <a:r>
              <a:rPr lang="ru-RU" sz="1400" dirty="0" smtClean="0">
                <a:latin typeface="Times New Roman" panose="02020603050405020304" pitchFamily="18" charset="0"/>
                <a:cs typeface="Times New Roman" panose="02020603050405020304" pitchFamily="18" charset="0"/>
              </a:rPr>
              <a:t>.</a:t>
            </a:r>
          </a:p>
          <a:p>
            <a:pPr marL="0" indent="0">
              <a:buNone/>
            </a:pPr>
            <a:r>
              <a:rPr lang="ru-RU" sz="1400" dirty="0">
                <a:latin typeface="Times New Roman" panose="02020603050405020304" pitchFamily="18" charset="0"/>
                <a:cs typeface="Times New Roman" panose="02020603050405020304" pitchFamily="18" charset="0"/>
              </a:rPr>
              <a:t/>
            </a:r>
            <a:br>
              <a:rPr lang="ru-RU" sz="1400" dirty="0">
                <a:latin typeface="Times New Roman" panose="02020603050405020304" pitchFamily="18" charset="0"/>
                <a:cs typeface="Times New Roman" panose="02020603050405020304" pitchFamily="18" charset="0"/>
              </a:rPr>
            </a:br>
            <a:r>
              <a:rPr lang="ru-RU" sz="1400" dirty="0">
                <a:latin typeface="Times New Roman" panose="02020603050405020304" pitchFamily="18" charset="0"/>
                <a:cs typeface="Times New Roman" panose="02020603050405020304" pitchFamily="18" charset="0"/>
              </a:rPr>
              <a:t>   </a:t>
            </a:r>
            <a:r>
              <a:rPr lang="ru-RU" sz="1400" dirty="0" smtClean="0">
                <a:latin typeface="Times New Roman" panose="02020603050405020304" pitchFamily="18" charset="0"/>
                <a:cs typeface="Times New Roman" panose="02020603050405020304" pitchFamily="18" charset="0"/>
              </a:rPr>
              <a:t>-</a:t>
            </a:r>
            <a:r>
              <a:rPr lang="ru-RU" sz="1400" b="1" dirty="0" err="1" smtClean="0">
                <a:latin typeface="Times New Roman" panose="02020603050405020304" pitchFamily="18" charset="0"/>
                <a:cs typeface="Times New Roman" panose="02020603050405020304" pitchFamily="18" charset="0"/>
              </a:rPr>
              <a:t>Приймач</a:t>
            </a:r>
            <a:r>
              <a:rPr lang="ru-RU" sz="1400" dirty="0" smtClean="0">
                <a:latin typeface="Times New Roman" panose="02020603050405020304" pitchFamily="18" charset="0"/>
                <a:cs typeface="Times New Roman" panose="02020603050405020304" pitchFamily="18" charset="0"/>
              </a:rPr>
              <a:t> </a:t>
            </a:r>
            <a:r>
              <a:rPr lang="ru-RU" sz="1400" dirty="0">
                <a:latin typeface="Times New Roman" panose="02020603050405020304" pitchFamily="18" charset="0"/>
                <a:cs typeface="Times New Roman" panose="02020603050405020304" pitchFamily="18" charset="0"/>
              </a:rPr>
              <a:t>(</a:t>
            </a:r>
            <a:r>
              <a:rPr lang="ru-RU" sz="1400" dirty="0" err="1">
                <a:latin typeface="Times New Roman" panose="02020603050405020304" pitchFamily="18" charset="0"/>
                <a:cs typeface="Times New Roman" panose="02020603050405020304" pitchFamily="18" charset="0"/>
              </a:rPr>
              <a:t>працює</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із</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певним</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переліком</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протоколів</a:t>
            </a:r>
            <a:r>
              <a:rPr lang="ru-RU" sz="1400" dirty="0">
                <a:latin typeface="Times New Roman" panose="02020603050405020304" pitchFamily="18" charset="0"/>
                <a:cs typeface="Times New Roman" panose="02020603050405020304" pitchFamily="18" charset="0"/>
              </a:rPr>
              <a:t> і </a:t>
            </a:r>
            <a:r>
              <a:rPr lang="ru-RU" sz="1400" dirty="0" err="1">
                <a:latin typeface="Times New Roman" panose="02020603050405020304" pitchFamily="18" charset="0"/>
                <a:cs typeface="Times New Roman" panose="02020603050405020304" pitchFamily="18" charset="0"/>
              </a:rPr>
              <a:t>дозволяє</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отримувати</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відеосигнал</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від</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дрона</a:t>
            </a:r>
            <a:r>
              <a:rPr lang="ru-RU" sz="1400" dirty="0" smtClean="0">
                <a:latin typeface="Times New Roman" panose="02020603050405020304" pitchFamily="18" charset="0"/>
                <a:cs typeface="Times New Roman" panose="02020603050405020304" pitchFamily="18" charset="0"/>
              </a:rPr>
              <a:t>).</a:t>
            </a:r>
          </a:p>
          <a:p>
            <a:pPr marL="0" indent="0">
              <a:buNone/>
            </a:pPr>
            <a:r>
              <a:rPr lang="ru-RU" sz="1400" dirty="0">
                <a:latin typeface="Times New Roman" panose="02020603050405020304" pitchFamily="18" charset="0"/>
                <a:cs typeface="Times New Roman" panose="02020603050405020304" pitchFamily="18" charset="0"/>
              </a:rPr>
              <a:t/>
            </a:r>
            <a:br>
              <a:rPr lang="ru-RU" sz="1400" dirty="0">
                <a:latin typeface="Times New Roman" panose="02020603050405020304" pitchFamily="18" charset="0"/>
                <a:cs typeface="Times New Roman" panose="02020603050405020304" pitchFamily="18" charset="0"/>
              </a:rPr>
            </a:br>
            <a:r>
              <a:rPr lang="ru-RU" sz="1400" dirty="0">
                <a:latin typeface="Times New Roman" panose="02020603050405020304" pitchFamily="18" charset="0"/>
                <a:cs typeface="Times New Roman" panose="02020603050405020304" pitchFamily="18" charset="0"/>
              </a:rPr>
              <a:t>  </a:t>
            </a:r>
            <a:r>
              <a:rPr lang="ru-RU" sz="1400" dirty="0" smtClean="0">
                <a:latin typeface="Times New Roman" panose="02020603050405020304" pitchFamily="18" charset="0"/>
                <a:cs typeface="Times New Roman" panose="02020603050405020304" pitchFamily="18" charset="0"/>
              </a:rPr>
              <a:t>-</a:t>
            </a:r>
            <a:r>
              <a:rPr lang="ru-RU" sz="1400" dirty="0">
                <a:latin typeface="Times New Roman" panose="02020603050405020304" pitchFamily="18" charset="0"/>
                <a:cs typeface="Times New Roman" panose="02020603050405020304" pitchFamily="18" charset="0"/>
              </a:rPr>
              <a:t> </a:t>
            </a:r>
            <a:r>
              <a:rPr lang="ru-RU" sz="1400" b="1" dirty="0" err="1" smtClean="0">
                <a:latin typeface="Times New Roman" panose="02020603050405020304" pitchFamily="18" charset="0"/>
                <a:cs typeface="Times New Roman" panose="02020603050405020304" pitchFamily="18" charset="0"/>
              </a:rPr>
              <a:t>Антена</a:t>
            </a:r>
            <a:endParaRPr lang="ru-RU" sz="1400" b="1" dirty="0" smtClean="0">
              <a:latin typeface="Times New Roman" panose="02020603050405020304" pitchFamily="18" charset="0"/>
              <a:cs typeface="Times New Roman" panose="02020603050405020304" pitchFamily="18" charset="0"/>
            </a:endParaRPr>
          </a:p>
          <a:p>
            <a:pPr marL="0" indent="0">
              <a:buNone/>
            </a:pPr>
            <a:r>
              <a:rPr lang="ru-RU" sz="1400" dirty="0">
                <a:latin typeface="Times New Roman" panose="02020603050405020304" pitchFamily="18" charset="0"/>
                <a:cs typeface="Times New Roman" panose="02020603050405020304" pitchFamily="18" charset="0"/>
              </a:rPr>
              <a:t/>
            </a:r>
            <a:br>
              <a:rPr lang="ru-RU" sz="1400" dirty="0">
                <a:latin typeface="Times New Roman" panose="02020603050405020304" pitchFamily="18" charset="0"/>
                <a:cs typeface="Times New Roman" panose="02020603050405020304" pitchFamily="18" charset="0"/>
              </a:rPr>
            </a:br>
            <a:r>
              <a:rPr lang="ru-RU" sz="1400" dirty="0">
                <a:latin typeface="Times New Roman" panose="02020603050405020304" pitchFamily="18" charset="0"/>
                <a:cs typeface="Times New Roman" panose="02020603050405020304" pitchFamily="18" charset="0"/>
              </a:rPr>
              <a:t>  </a:t>
            </a:r>
            <a:r>
              <a:rPr lang="ru-RU" sz="1400" dirty="0" smtClean="0">
                <a:latin typeface="Times New Roman" panose="02020603050405020304" pitchFamily="18" charset="0"/>
                <a:cs typeface="Times New Roman" panose="02020603050405020304" pitchFamily="18" charset="0"/>
              </a:rPr>
              <a:t>-</a:t>
            </a:r>
            <a:r>
              <a:rPr lang="ru-RU" sz="1400" dirty="0">
                <a:latin typeface="Times New Roman" panose="02020603050405020304" pitchFamily="18" charset="0"/>
                <a:cs typeface="Times New Roman" panose="02020603050405020304" pitchFamily="18" charset="0"/>
              </a:rPr>
              <a:t> </a:t>
            </a:r>
            <a:r>
              <a:rPr lang="ru-RU" sz="1400" b="1" dirty="0" err="1">
                <a:latin typeface="Times New Roman" panose="02020603050405020304" pitchFamily="18" charset="0"/>
                <a:cs typeface="Times New Roman" panose="02020603050405020304" pitchFamily="18" charset="0"/>
              </a:rPr>
              <a:t>Акумулятор</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можна</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вибрати</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від</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виробника</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або</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купити</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рекомендовану</a:t>
            </a:r>
            <a:r>
              <a:rPr lang="ru-RU" sz="1400" dirty="0">
                <a:latin typeface="Times New Roman" panose="02020603050405020304" pitchFamily="18" charset="0"/>
                <a:cs typeface="Times New Roman" panose="02020603050405020304" pitchFamily="18" charset="0"/>
              </a:rPr>
              <a:t> батарею).</a:t>
            </a:r>
          </a:p>
        </p:txBody>
      </p:sp>
      <p:pic>
        <p:nvPicPr>
          <p:cNvPr id="5" name="Рисунок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8201" y="847725"/>
            <a:ext cx="4076700" cy="4419600"/>
          </a:xfrm>
          <a:prstGeom prst="rect">
            <a:avLst/>
          </a:prstGeom>
        </p:spPr>
      </p:pic>
    </p:spTree>
    <p:extLst>
      <p:ext uri="{BB962C8B-B14F-4D97-AF65-F5344CB8AC3E}">
        <p14:creationId xmlns:p14="http://schemas.microsoft.com/office/powerpoint/2010/main" val="15928154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057650" y="279402"/>
            <a:ext cx="4781550" cy="701674"/>
          </a:xfrm>
        </p:spPr>
        <p:txBody>
          <a:bodyPr>
            <a:normAutofit/>
          </a:bodyPr>
          <a:lstStyle/>
          <a:p>
            <a:r>
              <a:rPr lang="uk-UA" sz="2400" b="1" dirty="0" smtClean="0">
                <a:latin typeface="Times New Roman" panose="02020603050405020304" pitchFamily="18" charset="0"/>
                <a:cs typeface="Times New Roman" panose="02020603050405020304" pitchFamily="18" charset="0"/>
              </a:rPr>
              <a:t>3</a:t>
            </a:r>
            <a:r>
              <a:rPr lang="en-US" sz="2400" b="1" dirty="0" smtClean="0">
                <a:latin typeface="Times New Roman" panose="02020603050405020304" pitchFamily="18" charset="0"/>
                <a:cs typeface="Times New Roman" panose="02020603050405020304" pitchFamily="18" charset="0"/>
              </a:rPr>
              <a:t>D </a:t>
            </a:r>
            <a:r>
              <a:rPr lang="uk-UA" sz="2400" b="1" dirty="0" smtClean="0">
                <a:latin typeface="Times New Roman" panose="02020603050405020304" pitchFamily="18" charset="0"/>
                <a:cs typeface="Times New Roman" panose="02020603050405020304" pitchFamily="18" charset="0"/>
              </a:rPr>
              <a:t>моделювання для військових</a:t>
            </a:r>
            <a:endParaRPr lang="ru-RU" sz="2400" b="1"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3733800" y="1066801"/>
            <a:ext cx="4781550" cy="5372099"/>
          </a:xfrm>
        </p:spPr>
        <p:txBody>
          <a:bodyPr>
            <a:normAutofit fontScale="47500" lnSpcReduction="20000"/>
          </a:bodyPr>
          <a:lstStyle/>
          <a:p>
            <a:pPr fontAlgn="base"/>
            <a:r>
              <a:rPr lang="ru-RU" sz="2500" dirty="0" err="1">
                <a:latin typeface="Times New Roman" panose="02020603050405020304" pitchFamily="18" charset="0"/>
                <a:cs typeface="Times New Roman" panose="02020603050405020304" pitchFamily="18" charset="0"/>
              </a:rPr>
              <a:t>Розробка</a:t>
            </a:r>
            <a:r>
              <a:rPr lang="ru-RU" sz="2500" dirty="0">
                <a:latin typeface="Times New Roman" panose="02020603050405020304" pitchFamily="18" charset="0"/>
                <a:cs typeface="Times New Roman" panose="02020603050405020304" pitchFamily="18" charset="0"/>
              </a:rPr>
              <a:t> та </a:t>
            </a:r>
            <a:r>
              <a:rPr lang="ru-RU" sz="2500" dirty="0" err="1">
                <a:latin typeface="Times New Roman" panose="02020603050405020304" pitchFamily="18" charset="0"/>
                <a:cs typeface="Times New Roman" panose="02020603050405020304" pitchFamily="18" charset="0"/>
              </a:rPr>
              <a:t>д</a:t>
            </a:r>
            <a:r>
              <a:rPr lang="ru-RU" sz="2500" dirty="0" err="1" smtClean="0">
                <a:latin typeface="Times New Roman" panose="02020603050405020304" pitchFamily="18" charset="0"/>
                <a:cs typeface="Times New Roman" panose="02020603050405020304" pitchFamily="18" charset="0"/>
              </a:rPr>
              <a:t>рук</a:t>
            </a:r>
            <a:r>
              <a:rPr lang="ru-RU" sz="2500" dirty="0" smtClean="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к</a:t>
            </a:r>
            <a:r>
              <a:rPr lang="ru-RU" sz="2500" dirty="0" err="1" smtClean="0">
                <a:latin typeface="Times New Roman" panose="02020603050405020304" pitchFamily="18" charset="0"/>
                <a:cs typeface="Times New Roman" panose="02020603050405020304" pitchFamily="18" charset="0"/>
              </a:rPr>
              <a:t>омпонентів</a:t>
            </a:r>
            <a:r>
              <a:rPr lang="ru-RU" sz="2500" dirty="0" smtClean="0">
                <a:latin typeface="Times New Roman" panose="02020603050405020304" pitchFamily="18" charset="0"/>
                <a:cs typeface="Times New Roman" panose="02020603050405020304" pitchFamily="18" charset="0"/>
              </a:rPr>
              <a:t> </a:t>
            </a:r>
            <a:r>
              <a:rPr lang="ru-RU" sz="2500" dirty="0">
                <a:latin typeface="Times New Roman" panose="02020603050405020304" pitchFamily="18" charset="0"/>
                <a:cs typeface="Times New Roman" panose="02020603050405020304" pitchFamily="18" charset="0"/>
              </a:rPr>
              <a:t>для </a:t>
            </a:r>
            <a:r>
              <a:rPr lang="ru-RU" sz="2500" dirty="0" err="1">
                <a:latin typeface="Times New Roman" panose="02020603050405020304" pitchFamily="18" charset="0"/>
                <a:cs typeface="Times New Roman" panose="02020603050405020304" pitchFamily="18" charset="0"/>
              </a:rPr>
              <a:t>д</a:t>
            </a:r>
            <a:r>
              <a:rPr lang="ru-RU" sz="2500" dirty="0" err="1" smtClean="0">
                <a:latin typeface="Times New Roman" panose="02020603050405020304" pitchFamily="18" charset="0"/>
                <a:cs typeface="Times New Roman" panose="02020603050405020304" pitchFamily="18" charset="0"/>
              </a:rPr>
              <a:t>ронів</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в</a:t>
            </a:r>
            <a:r>
              <a:rPr lang="ru-RU" sz="2500" dirty="0" err="1" smtClean="0">
                <a:latin typeface="Times New Roman" panose="02020603050405020304" pitchFamily="18" charset="0"/>
                <a:cs typeface="Times New Roman" panose="02020603050405020304" pitchFamily="18" charset="0"/>
              </a:rPr>
              <a:t>иготовлення</a:t>
            </a:r>
            <a:r>
              <a:rPr lang="ru-RU" sz="2500" dirty="0" smtClean="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високоякісних</a:t>
            </a:r>
            <a:r>
              <a:rPr lang="ru-RU" sz="2500" dirty="0">
                <a:latin typeface="Times New Roman" panose="02020603050405020304" pitchFamily="18" charset="0"/>
                <a:cs typeface="Times New Roman" panose="02020603050405020304" pitchFamily="18" charset="0"/>
              </a:rPr>
              <a:t> деталей для </a:t>
            </a:r>
            <a:r>
              <a:rPr lang="ru-RU" sz="2500" dirty="0" err="1">
                <a:latin typeface="Times New Roman" panose="02020603050405020304" pitchFamily="18" charset="0"/>
                <a:cs typeface="Times New Roman" panose="02020603050405020304" pitchFamily="18" charset="0"/>
              </a:rPr>
              <a:t>безпілотників</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які</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використовуються</a:t>
            </a:r>
            <a:r>
              <a:rPr lang="ru-RU" sz="2500" dirty="0">
                <a:latin typeface="Times New Roman" panose="02020603050405020304" pitchFamily="18" charset="0"/>
                <a:cs typeface="Times New Roman" panose="02020603050405020304" pitchFamily="18" charset="0"/>
              </a:rPr>
              <a:t> у </a:t>
            </a:r>
            <a:r>
              <a:rPr lang="ru-RU" sz="2500" dirty="0" err="1">
                <a:latin typeface="Times New Roman" panose="02020603050405020304" pitchFamily="18" charset="0"/>
                <a:cs typeface="Times New Roman" panose="02020603050405020304" pitchFamily="18" charset="0"/>
              </a:rPr>
              <a:t>З</a:t>
            </a:r>
            <a:r>
              <a:rPr lang="ru-RU" sz="2500" dirty="0" err="1" smtClean="0">
                <a:latin typeface="Times New Roman" panose="02020603050405020304" pitchFamily="18" charset="0"/>
                <a:cs typeface="Times New Roman" panose="02020603050405020304" pitchFamily="18" charset="0"/>
              </a:rPr>
              <a:t>бройних</a:t>
            </a:r>
            <a:r>
              <a:rPr lang="ru-RU" sz="2500" dirty="0" smtClean="0">
                <a:latin typeface="Times New Roman" panose="02020603050405020304" pitchFamily="18" charset="0"/>
                <a:cs typeface="Times New Roman" panose="02020603050405020304" pitchFamily="18" charset="0"/>
              </a:rPr>
              <a:t> </a:t>
            </a:r>
            <a:r>
              <a:rPr lang="ru-RU" sz="2500" dirty="0">
                <a:latin typeface="Times New Roman" panose="02020603050405020304" pitchFamily="18" charset="0"/>
                <a:cs typeface="Times New Roman" panose="02020603050405020304" pitchFamily="18" charset="0"/>
              </a:rPr>
              <a:t>С</a:t>
            </a:r>
            <a:r>
              <a:rPr lang="ru-RU" sz="2500" dirty="0" smtClean="0">
                <a:latin typeface="Times New Roman" panose="02020603050405020304" pitchFamily="18" charset="0"/>
                <a:cs typeface="Times New Roman" panose="02020603050405020304" pitchFamily="18" charset="0"/>
              </a:rPr>
              <a:t>илах </a:t>
            </a:r>
            <a:r>
              <a:rPr lang="ru-RU" sz="2500" dirty="0" err="1">
                <a:latin typeface="Times New Roman" panose="02020603050405020304" pitchFamily="18" charset="0"/>
                <a:cs typeface="Times New Roman" panose="02020603050405020304" pitchFamily="18" charset="0"/>
              </a:rPr>
              <a:t>України</a:t>
            </a:r>
            <a:r>
              <a:rPr lang="ru-RU" sz="2500" dirty="0">
                <a:latin typeface="Times New Roman" panose="02020603050405020304" pitchFamily="18" charset="0"/>
                <a:cs typeface="Times New Roman" panose="02020603050405020304" pitchFamily="18" charset="0"/>
              </a:rPr>
              <a:t>.</a:t>
            </a:r>
          </a:p>
          <a:p>
            <a:pPr fontAlgn="base"/>
            <a:r>
              <a:rPr lang="ru-RU" sz="2500" dirty="0" err="1">
                <a:latin typeface="Times New Roman" panose="02020603050405020304" pitchFamily="18" charset="0"/>
                <a:cs typeface="Times New Roman" panose="02020603050405020304" pitchFamily="18" charset="0"/>
              </a:rPr>
              <a:t>Створення</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з</a:t>
            </a:r>
            <a:r>
              <a:rPr lang="ru-RU" sz="2500" dirty="0" err="1" smtClean="0">
                <a:latin typeface="Times New Roman" panose="02020603050405020304" pitchFamily="18" charset="0"/>
                <a:cs typeface="Times New Roman" panose="02020603050405020304" pitchFamily="18" charset="0"/>
              </a:rPr>
              <a:t>апасних</a:t>
            </a:r>
            <a:r>
              <a:rPr lang="ru-RU" sz="2500" dirty="0" smtClean="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ч</a:t>
            </a:r>
            <a:r>
              <a:rPr lang="ru-RU" sz="2500" dirty="0" err="1" smtClean="0">
                <a:latin typeface="Times New Roman" panose="02020603050405020304" pitchFamily="18" charset="0"/>
                <a:cs typeface="Times New Roman" panose="02020603050405020304" pitchFamily="18" charset="0"/>
              </a:rPr>
              <a:t>астин</a:t>
            </a:r>
            <a:r>
              <a:rPr lang="ru-RU" sz="2500" dirty="0" smtClean="0">
                <a:latin typeface="Times New Roman" panose="02020603050405020304" pitchFamily="18" charset="0"/>
                <a:cs typeface="Times New Roman" panose="02020603050405020304" pitchFamily="18" charset="0"/>
              </a:rPr>
              <a:t> </a:t>
            </a:r>
            <a:r>
              <a:rPr lang="ru-RU" sz="2500" dirty="0">
                <a:latin typeface="Times New Roman" panose="02020603050405020304" pitchFamily="18" charset="0"/>
                <a:cs typeface="Times New Roman" panose="02020603050405020304" pitchFamily="18" charset="0"/>
              </a:rPr>
              <a:t>для </a:t>
            </a:r>
            <a:r>
              <a:rPr lang="ru-RU" sz="2500" dirty="0" err="1">
                <a:latin typeface="Times New Roman" panose="02020603050405020304" pitchFamily="18" charset="0"/>
                <a:cs typeface="Times New Roman" panose="02020603050405020304" pitchFamily="18" charset="0"/>
              </a:rPr>
              <a:t>в</a:t>
            </a:r>
            <a:r>
              <a:rPr lang="ru-RU" sz="2500" dirty="0" err="1" smtClean="0">
                <a:latin typeface="Times New Roman" panose="02020603050405020304" pitchFamily="18" charset="0"/>
                <a:cs typeface="Times New Roman" panose="02020603050405020304" pitchFamily="18" charset="0"/>
              </a:rPr>
              <a:t>ійськового</a:t>
            </a:r>
            <a:r>
              <a:rPr lang="ru-RU" sz="2500" dirty="0" smtClean="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о</a:t>
            </a:r>
            <a:r>
              <a:rPr lang="ru-RU" sz="2500" dirty="0" err="1" smtClean="0">
                <a:latin typeface="Times New Roman" panose="02020603050405020304" pitchFamily="18" charset="0"/>
                <a:cs typeface="Times New Roman" panose="02020603050405020304" pitchFamily="18" charset="0"/>
              </a:rPr>
              <a:t>бладнання</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р</a:t>
            </a:r>
            <a:r>
              <a:rPr lang="ru-RU" sz="2500" dirty="0" err="1" smtClean="0">
                <a:latin typeface="Times New Roman" panose="02020603050405020304" pitchFamily="18" charset="0"/>
                <a:cs typeface="Times New Roman" panose="02020603050405020304" pitchFamily="18" charset="0"/>
              </a:rPr>
              <a:t>озширення</a:t>
            </a:r>
            <a:r>
              <a:rPr lang="ru-RU" sz="2500" dirty="0" smtClean="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можливостей</a:t>
            </a:r>
            <a:r>
              <a:rPr lang="ru-RU" sz="2500" dirty="0">
                <a:latin typeface="Times New Roman" panose="02020603050405020304" pitchFamily="18" charset="0"/>
                <a:cs typeface="Times New Roman" panose="02020603050405020304" pitchFamily="18" charset="0"/>
              </a:rPr>
              <a:t> 3</a:t>
            </a:r>
            <a:r>
              <a:rPr lang="en-US" sz="2500" dirty="0">
                <a:latin typeface="Times New Roman" panose="02020603050405020304" pitchFamily="18" charset="0"/>
                <a:cs typeface="Times New Roman" panose="02020603050405020304" pitchFamily="18" charset="0"/>
              </a:rPr>
              <a:t>D </a:t>
            </a:r>
            <a:r>
              <a:rPr lang="ru-RU" sz="2500" dirty="0" err="1">
                <a:latin typeface="Times New Roman" panose="02020603050405020304" pitchFamily="18" charset="0"/>
                <a:cs typeface="Times New Roman" panose="02020603050405020304" pitchFamily="18" charset="0"/>
              </a:rPr>
              <a:t>друку</a:t>
            </a:r>
            <a:r>
              <a:rPr lang="ru-RU" sz="2500" dirty="0">
                <a:latin typeface="Times New Roman" panose="02020603050405020304" pitchFamily="18" charset="0"/>
                <a:cs typeface="Times New Roman" panose="02020603050405020304" pitchFamily="18" charset="0"/>
              </a:rPr>
              <a:t> для </a:t>
            </a:r>
            <a:r>
              <a:rPr lang="ru-RU" sz="2500" dirty="0" err="1">
                <a:latin typeface="Times New Roman" panose="02020603050405020304" pitchFamily="18" charset="0"/>
                <a:cs typeface="Times New Roman" panose="02020603050405020304" pitchFamily="18" charset="0"/>
              </a:rPr>
              <a:t>виробництва</a:t>
            </a:r>
            <a:r>
              <a:rPr lang="ru-RU" sz="2500" dirty="0">
                <a:latin typeface="Times New Roman" panose="02020603050405020304" pitchFamily="18" charset="0"/>
                <a:cs typeface="Times New Roman" panose="02020603050405020304" pitchFamily="18" charset="0"/>
              </a:rPr>
              <a:t> критично </a:t>
            </a:r>
            <a:r>
              <a:rPr lang="ru-RU" sz="2500" dirty="0" err="1">
                <a:latin typeface="Times New Roman" panose="02020603050405020304" pitchFamily="18" charset="0"/>
                <a:cs typeface="Times New Roman" panose="02020603050405020304" pitchFamily="18" charset="0"/>
              </a:rPr>
              <a:t>важливих</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частин</a:t>
            </a:r>
            <a:r>
              <a:rPr lang="ru-RU" sz="2500" dirty="0">
                <a:latin typeface="Times New Roman" panose="02020603050405020304" pitchFamily="18" charset="0"/>
                <a:cs typeface="Times New Roman" panose="02020603050405020304" pitchFamily="18" charset="0"/>
              </a:rPr>
              <a:t>.</a:t>
            </a:r>
          </a:p>
          <a:p>
            <a:pPr fontAlgn="base"/>
            <a:r>
              <a:rPr lang="ru-RU" sz="2500" dirty="0" err="1">
                <a:latin typeface="Times New Roman" panose="02020603050405020304" pitchFamily="18" charset="0"/>
                <a:cs typeface="Times New Roman" panose="02020603050405020304" pitchFamily="18" charset="0"/>
              </a:rPr>
              <a:t>Н</a:t>
            </a:r>
            <a:r>
              <a:rPr lang="ru-RU" sz="2500" dirty="0" err="1" smtClean="0">
                <a:latin typeface="Times New Roman" panose="02020603050405020304" pitchFamily="18" charset="0"/>
                <a:cs typeface="Times New Roman" panose="02020603050405020304" pitchFamily="18" charset="0"/>
              </a:rPr>
              <a:t>еперервне</a:t>
            </a:r>
            <a:r>
              <a:rPr lang="ru-RU" sz="2500" dirty="0" smtClean="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о</a:t>
            </a:r>
            <a:r>
              <a:rPr lang="ru-RU" sz="2500" dirty="0" err="1" smtClean="0">
                <a:latin typeface="Times New Roman" panose="02020603050405020304" pitchFamily="18" charset="0"/>
                <a:cs typeface="Times New Roman" panose="02020603050405020304" pitchFamily="18" charset="0"/>
              </a:rPr>
              <a:t>новлення</a:t>
            </a:r>
            <a:r>
              <a:rPr lang="ru-RU" sz="2500" dirty="0" smtClean="0">
                <a:latin typeface="Times New Roman" panose="02020603050405020304" pitchFamily="18" charset="0"/>
                <a:cs typeface="Times New Roman" panose="02020603050405020304" pitchFamily="18" charset="0"/>
              </a:rPr>
              <a:t> </a:t>
            </a:r>
            <a:r>
              <a:rPr lang="ru-RU" sz="2500" dirty="0">
                <a:latin typeface="Times New Roman" panose="02020603050405020304" pitchFamily="18" charset="0"/>
                <a:cs typeface="Times New Roman" panose="02020603050405020304" pitchFamily="18" charset="0"/>
              </a:rPr>
              <a:t>та </a:t>
            </a:r>
            <a:r>
              <a:rPr lang="ru-RU" sz="2500" dirty="0" err="1">
                <a:latin typeface="Times New Roman" panose="02020603050405020304" pitchFamily="18" charset="0"/>
                <a:cs typeface="Times New Roman" panose="02020603050405020304" pitchFamily="18" charset="0"/>
              </a:rPr>
              <a:t>в</a:t>
            </a:r>
            <a:r>
              <a:rPr lang="ru-RU" sz="2500" dirty="0" err="1" smtClean="0">
                <a:latin typeface="Times New Roman" panose="02020603050405020304" pitchFamily="18" charset="0"/>
                <a:cs typeface="Times New Roman" panose="02020603050405020304" pitchFamily="18" charset="0"/>
              </a:rPr>
              <a:t>досконалення</a:t>
            </a:r>
            <a:r>
              <a:rPr lang="ru-RU" sz="2500" dirty="0" smtClean="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т</a:t>
            </a:r>
            <a:r>
              <a:rPr lang="ru-RU" sz="2500" dirty="0" err="1" smtClean="0">
                <a:latin typeface="Times New Roman" panose="02020603050405020304" pitchFamily="18" charset="0"/>
                <a:cs typeface="Times New Roman" panose="02020603050405020304" pitchFamily="18" charset="0"/>
              </a:rPr>
              <a:t>ехнологій</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п</a:t>
            </a:r>
            <a:r>
              <a:rPr lang="ru-RU" sz="2500" dirty="0" err="1" smtClean="0">
                <a:latin typeface="Times New Roman" panose="02020603050405020304" pitchFamily="18" charset="0"/>
                <a:cs typeface="Times New Roman" panose="02020603050405020304" pitchFamily="18" charset="0"/>
              </a:rPr>
              <a:t>остійне</a:t>
            </a:r>
            <a:r>
              <a:rPr lang="ru-RU" sz="2500" dirty="0" smtClean="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поліпшення</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якості</a:t>
            </a:r>
            <a:r>
              <a:rPr lang="ru-RU" sz="2500" dirty="0">
                <a:latin typeface="Times New Roman" panose="02020603050405020304" pitchFamily="18" charset="0"/>
                <a:cs typeface="Times New Roman" panose="02020603050405020304" pitchFamily="18" charset="0"/>
              </a:rPr>
              <a:t> та </a:t>
            </a:r>
            <a:r>
              <a:rPr lang="ru-RU" sz="2500" dirty="0" err="1">
                <a:latin typeface="Times New Roman" panose="02020603050405020304" pitchFamily="18" charset="0"/>
                <a:cs typeface="Times New Roman" panose="02020603050405020304" pitchFamily="18" charset="0"/>
              </a:rPr>
              <a:t>ефективності</a:t>
            </a:r>
            <a:r>
              <a:rPr lang="ru-RU" sz="2500" dirty="0">
                <a:latin typeface="Times New Roman" panose="02020603050405020304" pitchFamily="18" charset="0"/>
                <a:cs typeface="Times New Roman" panose="02020603050405020304" pitchFamily="18" charset="0"/>
              </a:rPr>
              <a:t> 3</a:t>
            </a:r>
            <a:r>
              <a:rPr lang="en-US" sz="2500" dirty="0">
                <a:latin typeface="Times New Roman" panose="02020603050405020304" pitchFamily="18" charset="0"/>
                <a:cs typeface="Times New Roman" panose="02020603050405020304" pitchFamily="18" charset="0"/>
              </a:rPr>
              <a:t>D </a:t>
            </a:r>
            <a:r>
              <a:rPr lang="ru-RU" sz="2500" dirty="0" err="1">
                <a:latin typeface="Times New Roman" panose="02020603050405020304" pitchFamily="18" charset="0"/>
                <a:cs typeface="Times New Roman" panose="02020603050405020304" pitchFamily="18" charset="0"/>
              </a:rPr>
              <a:t>друку</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адаптація</a:t>
            </a:r>
            <a:r>
              <a:rPr lang="ru-RU" sz="2500" dirty="0">
                <a:latin typeface="Times New Roman" panose="02020603050405020304" pitchFamily="18" charset="0"/>
                <a:cs typeface="Times New Roman" panose="02020603050405020304" pitchFamily="18" charset="0"/>
              </a:rPr>
              <a:t> до </a:t>
            </a:r>
            <a:r>
              <a:rPr lang="ru-RU" sz="2500" dirty="0" err="1">
                <a:latin typeface="Times New Roman" panose="02020603050405020304" pitchFamily="18" charset="0"/>
                <a:cs typeface="Times New Roman" panose="02020603050405020304" pitchFamily="18" charset="0"/>
              </a:rPr>
              <a:t>змінних</a:t>
            </a:r>
            <a:r>
              <a:rPr lang="ru-RU" sz="2500" dirty="0">
                <a:latin typeface="Times New Roman" panose="02020603050405020304" pitchFamily="18" charset="0"/>
                <a:cs typeface="Times New Roman" panose="02020603050405020304" pitchFamily="18" charset="0"/>
              </a:rPr>
              <a:t> потреб ЗСУ.</a:t>
            </a:r>
          </a:p>
          <a:p>
            <a:pPr fontAlgn="base"/>
            <a:r>
              <a:rPr lang="ru-RU" sz="2500" dirty="0" err="1">
                <a:latin typeface="Times New Roman" panose="02020603050405020304" pitchFamily="18" charset="0"/>
                <a:cs typeface="Times New Roman" panose="02020603050405020304" pitchFamily="18" charset="0"/>
              </a:rPr>
              <a:t>Навчання</a:t>
            </a:r>
            <a:r>
              <a:rPr lang="ru-RU" sz="2500" dirty="0">
                <a:latin typeface="Times New Roman" panose="02020603050405020304" pitchFamily="18" charset="0"/>
                <a:cs typeface="Times New Roman" panose="02020603050405020304" pitchFamily="18" charset="0"/>
              </a:rPr>
              <a:t> та </a:t>
            </a:r>
            <a:r>
              <a:rPr lang="ru-RU" sz="2500" dirty="0" err="1">
                <a:latin typeface="Times New Roman" panose="02020603050405020304" pitchFamily="18" charset="0"/>
                <a:cs typeface="Times New Roman" panose="02020603050405020304" pitchFamily="18" charset="0"/>
              </a:rPr>
              <a:t>р</a:t>
            </a:r>
            <a:r>
              <a:rPr lang="ru-RU" sz="2500" dirty="0" err="1" smtClean="0">
                <a:latin typeface="Times New Roman" panose="02020603050405020304" pitchFamily="18" charset="0"/>
                <a:cs typeface="Times New Roman" panose="02020603050405020304" pitchFamily="18" charset="0"/>
              </a:rPr>
              <a:t>озвиток</a:t>
            </a:r>
            <a:r>
              <a:rPr lang="ru-RU" sz="2500" dirty="0" smtClean="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н</a:t>
            </a:r>
            <a:r>
              <a:rPr lang="ru-RU" sz="2500" dirty="0" err="1" smtClean="0">
                <a:latin typeface="Times New Roman" panose="02020603050405020304" pitchFamily="18" charset="0"/>
                <a:cs typeface="Times New Roman" panose="02020603050405020304" pitchFamily="18" charset="0"/>
              </a:rPr>
              <a:t>авичок</a:t>
            </a:r>
            <a:r>
              <a:rPr lang="ru-RU" sz="2500" dirty="0" smtClean="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в</a:t>
            </a:r>
            <a:r>
              <a:rPr lang="ru-RU" sz="2500" dirty="0" err="1" smtClean="0">
                <a:latin typeface="Times New Roman" panose="02020603050405020304" pitchFamily="18" charset="0"/>
                <a:cs typeface="Times New Roman" panose="02020603050405020304" pitchFamily="18" charset="0"/>
              </a:rPr>
              <a:t>олонтерів</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о</a:t>
            </a:r>
            <a:r>
              <a:rPr lang="ru-RU" sz="2500" dirty="0" err="1" smtClean="0">
                <a:latin typeface="Times New Roman" panose="02020603050405020304" pitchFamily="18" charset="0"/>
                <a:cs typeface="Times New Roman" panose="02020603050405020304" pitchFamily="18" charset="0"/>
              </a:rPr>
              <a:t>рганізація</a:t>
            </a:r>
            <a:r>
              <a:rPr lang="ru-RU" sz="2500" dirty="0" smtClean="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тренінгів</a:t>
            </a:r>
            <a:r>
              <a:rPr lang="ru-RU" sz="2500" dirty="0">
                <a:latin typeface="Times New Roman" panose="02020603050405020304" pitchFamily="18" charset="0"/>
                <a:cs typeface="Times New Roman" panose="02020603050405020304" pitchFamily="18" charset="0"/>
              </a:rPr>
              <a:t> для </a:t>
            </a:r>
            <a:r>
              <a:rPr lang="ru-RU" sz="2500" dirty="0" err="1">
                <a:latin typeface="Times New Roman" panose="02020603050405020304" pitchFamily="18" charset="0"/>
                <a:cs typeface="Times New Roman" panose="02020603050405020304" pitchFamily="18" charset="0"/>
              </a:rPr>
              <a:t>волонтерів</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щоб</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підвищити</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їхні</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знання</a:t>
            </a:r>
            <a:r>
              <a:rPr lang="ru-RU" sz="2500" dirty="0">
                <a:latin typeface="Times New Roman" panose="02020603050405020304" pitchFamily="18" charset="0"/>
                <a:cs typeface="Times New Roman" panose="02020603050405020304" pitchFamily="18" charset="0"/>
              </a:rPr>
              <a:t> та </a:t>
            </a:r>
            <a:r>
              <a:rPr lang="ru-RU" sz="2500" dirty="0" err="1">
                <a:latin typeface="Times New Roman" panose="02020603050405020304" pitchFamily="18" charset="0"/>
                <a:cs typeface="Times New Roman" panose="02020603050405020304" pitchFamily="18" charset="0"/>
              </a:rPr>
              <a:t>ефективність</a:t>
            </a:r>
            <a:r>
              <a:rPr lang="ru-RU" sz="2500" dirty="0">
                <a:latin typeface="Times New Roman" panose="02020603050405020304" pitchFamily="18" charset="0"/>
                <a:cs typeface="Times New Roman" panose="02020603050405020304" pitchFamily="18" charset="0"/>
              </a:rPr>
              <a:t> у 3</a:t>
            </a:r>
            <a:r>
              <a:rPr lang="en-US" sz="2500" dirty="0">
                <a:latin typeface="Times New Roman" panose="02020603050405020304" pitchFamily="18" charset="0"/>
                <a:cs typeface="Times New Roman" panose="02020603050405020304" pitchFamily="18" charset="0"/>
              </a:rPr>
              <a:t>D </a:t>
            </a:r>
            <a:r>
              <a:rPr lang="ru-RU" sz="2500" dirty="0" err="1">
                <a:latin typeface="Times New Roman" panose="02020603050405020304" pitchFamily="18" charset="0"/>
                <a:cs typeface="Times New Roman" panose="02020603050405020304" pitchFamily="18" charset="0"/>
              </a:rPr>
              <a:t>друку</a:t>
            </a:r>
            <a:r>
              <a:rPr lang="ru-RU" sz="2500" dirty="0">
                <a:latin typeface="Times New Roman" panose="02020603050405020304" pitchFamily="18" charset="0"/>
                <a:cs typeface="Times New Roman" panose="02020603050405020304" pitchFamily="18" charset="0"/>
              </a:rPr>
              <a:t>.</a:t>
            </a:r>
          </a:p>
          <a:p>
            <a:pPr fontAlgn="base"/>
            <a:r>
              <a:rPr lang="ru-RU" sz="2500" dirty="0" err="1">
                <a:latin typeface="Times New Roman" panose="02020603050405020304" pitchFamily="18" charset="0"/>
                <a:cs typeface="Times New Roman" panose="02020603050405020304" pitchFamily="18" charset="0"/>
              </a:rPr>
              <a:t>Забезпечення</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н</a:t>
            </a:r>
            <a:r>
              <a:rPr lang="ru-RU" sz="2500" dirty="0" err="1" smtClean="0">
                <a:latin typeface="Times New Roman" panose="02020603050405020304" pitchFamily="18" charset="0"/>
                <a:cs typeface="Times New Roman" panose="02020603050405020304" pitchFamily="18" charset="0"/>
              </a:rPr>
              <a:t>еперервності</a:t>
            </a:r>
            <a:r>
              <a:rPr lang="ru-RU" sz="2500" dirty="0" smtClean="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в</a:t>
            </a:r>
            <a:r>
              <a:rPr lang="ru-RU" sz="2500" dirty="0" err="1" smtClean="0">
                <a:latin typeface="Times New Roman" panose="02020603050405020304" pitchFamily="18" charset="0"/>
                <a:cs typeface="Times New Roman" panose="02020603050405020304" pitchFamily="18" charset="0"/>
              </a:rPr>
              <a:t>иробництва</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у</a:t>
            </a:r>
            <a:r>
              <a:rPr lang="ru-RU" sz="2500" dirty="0" err="1" smtClean="0">
                <a:latin typeface="Times New Roman" panose="02020603050405020304" pitchFamily="18" charset="0"/>
                <a:cs typeface="Times New Roman" panose="02020603050405020304" pitchFamily="18" charset="0"/>
              </a:rPr>
              <a:t>тримання</a:t>
            </a:r>
            <a:r>
              <a:rPr lang="ru-RU" sz="2500" dirty="0" smtClean="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постійного</a:t>
            </a:r>
            <a:r>
              <a:rPr lang="ru-RU" sz="2500" dirty="0">
                <a:latin typeface="Times New Roman" panose="02020603050405020304" pitchFamily="18" charset="0"/>
                <a:cs typeface="Times New Roman" panose="02020603050405020304" pitchFamily="18" charset="0"/>
              </a:rPr>
              <a:t> запасу </a:t>
            </a:r>
            <a:r>
              <a:rPr lang="ru-RU" sz="2500" dirty="0" err="1">
                <a:latin typeface="Times New Roman" panose="02020603050405020304" pitchFamily="18" charset="0"/>
                <a:cs typeface="Times New Roman" panose="02020603050405020304" pitchFamily="18" charset="0"/>
              </a:rPr>
              <a:t>матеріалів</a:t>
            </a:r>
            <a:r>
              <a:rPr lang="ru-RU" sz="2500" dirty="0">
                <a:latin typeface="Times New Roman" panose="02020603050405020304" pitchFamily="18" charset="0"/>
                <a:cs typeface="Times New Roman" panose="02020603050405020304" pitchFamily="18" charset="0"/>
              </a:rPr>
              <a:t> для </a:t>
            </a:r>
            <a:r>
              <a:rPr lang="ru-RU" sz="2500" dirty="0" err="1">
                <a:latin typeface="Times New Roman" panose="02020603050405020304" pitchFamily="18" charset="0"/>
                <a:cs typeface="Times New Roman" panose="02020603050405020304" pitchFamily="18" charset="0"/>
              </a:rPr>
              <a:t>друку</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аби</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забезпечити</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безперервність</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процесу</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виробництва</a:t>
            </a:r>
            <a:r>
              <a:rPr lang="ru-RU" sz="2500" dirty="0">
                <a:latin typeface="Times New Roman" panose="02020603050405020304" pitchFamily="18" charset="0"/>
                <a:cs typeface="Times New Roman" panose="02020603050405020304" pitchFamily="18" charset="0"/>
              </a:rPr>
              <a:t>.</a:t>
            </a:r>
          </a:p>
          <a:p>
            <a:pPr fontAlgn="base"/>
            <a:r>
              <a:rPr lang="ru-RU" sz="2500" dirty="0" err="1">
                <a:latin typeface="Times New Roman" panose="02020603050405020304" pitchFamily="18" charset="0"/>
                <a:cs typeface="Times New Roman" panose="02020603050405020304" pitchFamily="18" charset="0"/>
              </a:rPr>
              <a:t>Підтримка</a:t>
            </a:r>
            <a:r>
              <a:rPr lang="ru-RU" sz="2500" dirty="0">
                <a:latin typeface="Times New Roman" panose="02020603050405020304" pitchFamily="18" charset="0"/>
                <a:cs typeface="Times New Roman" panose="02020603050405020304" pitchFamily="18" charset="0"/>
              </a:rPr>
              <a:t> та </a:t>
            </a:r>
            <a:r>
              <a:rPr lang="ru-RU" sz="2500" dirty="0" err="1">
                <a:latin typeface="Times New Roman" panose="02020603050405020304" pitchFamily="18" charset="0"/>
                <a:cs typeface="Times New Roman" panose="02020603050405020304" pitchFamily="18" charset="0"/>
              </a:rPr>
              <a:t>р</a:t>
            </a:r>
            <a:r>
              <a:rPr lang="ru-RU" sz="2500" dirty="0" err="1" smtClean="0">
                <a:latin typeface="Times New Roman" panose="02020603050405020304" pitchFamily="18" charset="0"/>
                <a:cs typeface="Times New Roman" panose="02020603050405020304" pitchFamily="18" charset="0"/>
              </a:rPr>
              <a:t>озширення</a:t>
            </a:r>
            <a:r>
              <a:rPr lang="ru-RU" sz="2500" dirty="0" smtClean="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м</a:t>
            </a:r>
            <a:r>
              <a:rPr lang="ru-RU" sz="2500" dirty="0" err="1" smtClean="0">
                <a:latin typeface="Times New Roman" panose="02020603050405020304" pitchFamily="18" charset="0"/>
                <a:cs typeface="Times New Roman" panose="02020603050405020304" pitchFamily="18" charset="0"/>
              </a:rPr>
              <a:t>ережі</a:t>
            </a:r>
            <a:r>
              <a:rPr lang="ru-RU" sz="2500" dirty="0" smtClean="0">
                <a:latin typeface="Times New Roman" panose="02020603050405020304" pitchFamily="18" charset="0"/>
                <a:cs typeface="Times New Roman" panose="02020603050405020304" pitchFamily="18" charset="0"/>
              </a:rPr>
              <a:t> </a:t>
            </a:r>
            <a:r>
              <a:rPr lang="ru-RU" sz="2500" dirty="0">
                <a:latin typeface="Times New Roman" panose="02020603050405020304" pitchFamily="18" charset="0"/>
                <a:cs typeface="Times New Roman" panose="02020603050405020304" pitchFamily="18" charset="0"/>
              </a:rPr>
              <a:t>п</a:t>
            </a:r>
            <a:r>
              <a:rPr lang="ru-RU" sz="2500" dirty="0" smtClean="0">
                <a:latin typeface="Times New Roman" panose="02020603050405020304" pitchFamily="18" charset="0"/>
                <a:cs typeface="Times New Roman" panose="02020603050405020304" pitchFamily="18" charset="0"/>
              </a:rPr>
              <a:t>артнерств</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в</a:t>
            </a:r>
            <a:r>
              <a:rPr lang="ru-RU" sz="2500" dirty="0" err="1" smtClean="0">
                <a:latin typeface="Times New Roman" panose="02020603050405020304" pitchFamily="18" charset="0"/>
                <a:cs typeface="Times New Roman" panose="02020603050405020304" pitchFamily="18" charset="0"/>
              </a:rPr>
              <a:t>становлення</a:t>
            </a:r>
            <a:r>
              <a:rPr lang="ru-RU" sz="2500" dirty="0" smtClean="0">
                <a:latin typeface="Times New Roman" panose="02020603050405020304" pitchFamily="18" charset="0"/>
                <a:cs typeface="Times New Roman" panose="02020603050405020304" pitchFamily="18" charset="0"/>
              </a:rPr>
              <a:t> </a:t>
            </a:r>
            <a:r>
              <a:rPr lang="ru-RU" sz="2500" dirty="0">
                <a:latin typeface="Times New Roman" panose="02020603050405020304" pitchFamily="18" charset="0"/>
                <a:cs typeface="Times New Roman" panose="02020603050405020304" pitchFamily="18" charset="0"/>
              </a:rPr>
              <a:t>та </a:t>
            </a:r>
            <a:r>
              <a:rPr lang="ru-RU" sz="2500" dirty="0" err="1">
                <a:latin typeface="Times New Roman" panose="02020603050405020304" pitchFamily="18" charset="0"/>
                <a:cs typeface="Times New Roman" panose="02020603050405020304" pitchFamily="18" charset="0"/>
              </a:rPr>
              <a:t>розвиток</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співпраці</a:t>
            </a:r>
            <a:r>
              <a:rPr lang="ru-RU" sz="2500" dirty="0">
                <a:latin typeface="Times New Roman" panose="02020603050405020304" pitchFamily="18" charset="0"/>
                <a:cs typeface="Times New Roman" panose="02020603050405020304" pitchFamily="18" charset="0"/>
              </a:rPr>
              <a:t> з </a:t>
            </a:r>
            <a:r>
              <a:rPr lang="ru-RU" sz="2500" dirty="0" err="1">
                <a:latin typeface="Times New Roman" panose="02020603050405020304" pitchFamily="18" charset="0"/>
                <a:cs typeface="Times New Roman" panose="02020603050405020304" pitchFamily="18" charset="0"/>
              </a:rPr>
              <a:t>іншими</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організаціями</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підприємствами</a:t>
            </a:r>
            <a:r>
              <a:rPr lang="ru-RU" sz="2500" dirty="0">
                <a:latin typeface="Times New Roman" panose="02020603050405020304" pitchFamily="18" charset="0"/>
                <a:cs typeface="Times New Roman" panose="02020603050405020304" pitchFamily="18" charset="0"/>
              </a:rPr>
              <a:t>, та </a:t>
            </a:r>
            <a:r>
              <a:rPr lang="ru-RU" sz="2500" dirty="0" err="1">
                <a:latin typeface="Times New Roman" panose="02020603050405020304" pitchFamily="18" charset="0"/>
                <a:cs typeface="Times New Roman" panose="02020603050405020304" pitchFamily="18" charset="0"/>
              </a:rPr>
              <a:t>науковими</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установами</a:t>
            </a:r>
            <a:r>
              <a:rPr lang="ru-RU" sz="2500" dirty="0">
                <a:latin typeface="Times New Roman" panose="02020603050405020304" pitchFamily="18" charset="0"/>
                <a:cs typeface="Times New Roman" panose="02020603050405020304" pitchFamily="18" charset="0"/>
              </a:rPr>
              <a:t> для </a:t>
            </a:r>
            <a:r>
              <a:rPr lang="ru-RU" sz="2500" dirty="0" err="1">
                <a:latin typeface="Times New Roman" panose="02020603050405020304" pitchFamily="18" charset="0"/>
                <a:cs typeface="Times New Roman" panose="02020603050405020304" pitchFamily="18" charset="0"/>
              </a:rPr>
              <a:t>обміну</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досвідом</a:t>
            </a:r>
            <a:r>
              <a:rPr lang="ru-RU" sz="2500" dirty="0">
                <a:latin typeface="Times New Roman" panose="02020603050405020304" pitchFamily="18" charset="0"/>
                <a:cs typeface="Times New Roman" panose="02020603050405020304" pitchFamily="18" charset="0"/>
              </a:rPr>
              <a:t> та ресурсами.</a:t>
            </a:r>
          </a:p>
          <a:p>
            <a:pPr fontAlgn="base"/>
            <a:r>
              <a:rPr lang="ru-RU" sz="2500" dirty="0" err="1">
                <a:latin typeface="Times New Roman" panose="02020603050405020304" pitchFamily="18" charset="0"/>
                <a:cs typeface="Times New Roman" panose="02020603050405020304" pitchFamily="18" charset="0"/>
              </a:rPr>
              <a:t>Популяризація</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п</a:t>
            </a:r>
            <a:r>
              <a:rPr lang="ru-RU" sz="2500" dirty="0" err="1" smtClean="0">
                <a:latin typeface="Times New Roman" panose="02020603050405020304" pitchFamily="18" charset="0"/>
                <a:cs typeface="Times New Roman" panose="02020603050405020304" pitchFamily="18" charset="0"/>
              </a:rPr>
              <a:t>роєкту</a:t>
            </a:r>
            <a:r>
              <a:rPr lang="ru-RU" sz="2500" dirty="0" smtClean="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серед</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г</a:t>
            </a:r>
            <a:r>
              <a:rPr lang="ru-RU" sz="2500" dirty="0" err="1" smtClean="0">
                <a:latin typeface="Times New Roman" panose="02020603050405020304" pitchFamily="18" charset="0"/>
                <a:cs typeface="Times New Roman" panose="02020603050405020304" pitchFamily="18" charset="0"/>
              </a:rPr>
              <a:t>ромадськості</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п</a:t>
            </a:r>
            <a:r>
              <a:rPr lang="ru-RU" sz="2500" dirty="0" err="1" smtClean="0">
                <a:latin typeface="Times New Roman" panose="02020603050405020304" pitchFamily="18" charset="0"/>
                <a:cs typeface="Times New Roman" panose="02020603050405020304" pitchFamily="18" charset="0"/>
              </a:rPr>
              <a:t>роведення</a:t>
            </a:r>
            <a:r>
              <a:rPr lang="ru-RU" sz="2500" dirty="0" smtClean="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інформаційних</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кампаній</a:t>
            </a:r>
            <a:r>
              <a:rPr lang="ru-RU" sz="2500" dirty="0">
                <a:latin typeface="Times New Roman" panose="02020603050405020304" pitchFamily="18" charset="0"/>
                <a:cs typeface="Times New Roman" panose="02020603050405020304" pitchFamily="18" charset="0"/>
              </a:rPr>
              <a:t> для </a:t>
            </a:r>
            <a:r>
              <a:rPr lang="ru-RU" sz="2500" dirty="0" err="1">
                <a:latin typeface="Times New Roman" panose="02020603050405020304" pitchFamily="18" charset="0"/>
                <a:cs typeface="Times New Roman" panose="02020603050405020304" pitchFamily="18" charset="0"/>
              </a:rPr>
              <a:t>підвищення</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обізнаності</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громадськості</a:t>
            </a:r>
            <a:r>
              <a:rPr lang="ru-RU" sz="2500" dirty="0">
                <a:latin typeface="Times New Roman" panose="02020603050405020304" pitchFamily="18" charset="0"/>
                <a:cs typeface="Times New Roman" panose="02020603050405020304" pitchFamily="18" charset="0"/>
              </a:rPr>
              <a:t> про </a:t>
            </a:r>
            <a:r>
              <a:rPr lang="ru-RU" sz="2500" dirty="0" err="1">
                <a:latin typeface="Times New Roman" panose="02020603050405020304" pitchFamily="18" charset="0"/>
                <a:cs typeface="Times New Roman" panose="02020603050405020304" pitchFamily="18" charset="0"/>
              </a:rPr>
              <a:t>важливість</a:t>
            </a:r>
            <a:r>
              <a:rPr lang="ru-RU" sz="2500" dirty="0">
                <a:latin typeface="Times New Roman" panose="02020603050405020304" pitchFamily="18" charset="0"/>
                <a:cs typeface="Times New Roman" panose="02020603050405020304" pitchFamily="18" charset="0"/>
              </a:rPr>
              <a:t> та </a:t>
            </a:r>
            <a:r>
              <a:rPr lang="ru-RU" sz="2500" dirty="0" err="1">
                <a:latin typeface="Times New Roman" panose="02020603050405020304" pitchFamily="18" charset="0"/>
                <a:cs typeface="Times New Roman" panose="02020603050405020304" pitchFamily="18" charset="0"/>
              </a:rPr>
              <a:t>результати</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проєкту</a:t>
            </a:r>
            <a:r>
              <a:rPr lang="ru-RU" sz="2500" dirty="0">
                <a:latin typeface="Times New Roman" panose="02020603050405020304" pitchFamily="18" charset="0"/>
                <a:cs typeface="Times New Roman" panose="02020603050405020304" pitchFamily="18" charset="0"/>
              </a:rPr>
              <a:t>.</a:t>
            </a:r>
          </a:p>
          <a:p>
            <a:pPr fontAlgn="base"/>
            <a:r>
              <a:rPr lang="ru-RU" sz="2500" dirty="0" err="1">
                <a:latin typeface="Times New Roman" panose="02020603050405020304" pitchFamily="18" charset="0"/>
                <a:cs typeface="Times New Roman" panose="02020603050405020304" pitchFamily="18" charset="0"/>
              </a:rPr>
              <a:t>Забезпечення</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я</a:t>
            </a:r>
            <a:r>
              <a:rPr lang="ru-RU" sz="2500" dirty="0" err="1" smtClean="0">
                <a:latin typeface="Times New Roman" panose="02020603050405020304" pitchFamily="18" charset="0"/>
                <a:cs typeface="Times New Roman" panose="02020603050405020304" pitchFamily="18" charset="0"/>
              </a:rPr>
              <a:t>кості</a:t>
            </a:r>
            <a:r>
              <a:rPr lang="ru-RU" sz="2500" dirty="0" smtClean="0">
                <a:latin typeface="Times New Roman" panose="02020603050405020304" pitchFamily="18" charset="0"/>
                <a:cs typeface="Times New Roman" panose="02020603050405020304" pitchFamily="18" charset="0"/>
              </a:rPr>
              <a:t> </a:t>
            </a:r>
            <a:r>
              <a:rPr lang="ru-RU" sz="2500" dirty="0">
                <a:latin typeface="Times New Roman" panose="02020603050405020304" pitchFamily="18" charset="0"/>
                <a:cs typeface="Times New Roman" panose="02020603050405020304" pitchFamily="18" charset="0"/>
              </a:rPr>
              <a:t>та </a:t>
            </a:r>
            <a:r>
              <a:rPr lang="ru-RU" sz="2500" dirty="0" err="1">
                <a:latin typeface="Times New Roman" panose="02020603050405020304" pitchFamily="18" charset="0"/>
                <a:cs typeface="Times New Roman" panose="02020603050405020304" pitchFamily="18" charset="0"/>
              </a:rPr>
              <a:t>б</a:t>
            </a:r>
            <a:r>
              <a:rPr lang="ru-RU" sz="2500" dirty="0" err="1" smtClean="0">
                <a:latin typeface="Times New Roman" panose="02020603050405020304" pitchFamily="18" charset="0"/>
                <a:cs typeface="Times New Roman" panose="02020603050405020304" pitchFamily="18" charset="0"/>
              </a:rPr>
              <a:t>езпеки</a:t>
            </a:r>
            <a:r>
              <a:rPr lang="ru-RU" sz="2500" dirty="0" smtClean="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п</a:t>
            </a:r>
            <a:r>
              <a:rPr lang="ru-RU" sz="2500" dirty="0" err="1" smtClean="0">
                <a:latin typeface="Times New Roman" panose="02020603050405020304" pitchFamily="18" charset="0"/>
                <a:cs typeface="Times New Roman" panose="02020603050405020304" pitchFamily="18" charset="0"/>
              </a:rPr>
              <a:t>родукції</a:t>
            </a:r>
            <a:r>
              <a:rPr lang="ru-RU" sz="2500" dirty="0">
                <a:latin typeface="Times New Roman" panose="02020603050405020304" pitchFamily="18" charset="0"/>
                <a:cs typeface="Times New Roman" panose="02020603050405020304" pitchFamily="18" charset="0"/>
              </a:rPr>
              <a:t>: Строгий контроль </a:t>
            </a:r>
            <a:r>
              <a:rPr lang="ru-RU" sz="2500" dirty="0" err="1">
                <a:latin typeface="Times New Roman" panose="02020603050405020304" pitchFamily="18" charset="0"/>
                <a:cs typeface="Times New Roman" panose="02020603050405020304" pitchFamily="18" charset="0"/>
              </a:rPr>
              <a:t>якості</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друкованих</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компонентів</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забезпечення</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їх</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надійності</a:t>
            </a:r>
            <a:r>
              <a:rPr lang="ru-RU" sz="2500" dirty="0">
                <a:latin typeface="Times New Roman" panose="02020603050405020304" pitchFamily="18" charset="0"/>
                <a:cs typeface="Times New Roman" panose="02020603050405020304" pitchFamily="18" charset="0"/>
              </a:rPr>
              <a:t> та </a:t>
            </a:r>
            <a:r>
              <a:rPr lang="ru-RU" sz="2500" dirty="0" err="1">
                <a:latin typeface="Times New Roman" panose="02020603050405020304" pitchFamily="18" charset="0"/>
                <a:cs typeface="Times New Roman" panose="02020603050405020304" pitchFamily="18" charset="0"/>
              </a:rPr>
              <a:t>безпеки</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використання</a:t>
            </a:r>
            <a:r>
              <a:rPr lang="ru-RU" sz="2500" dirty="0">
                <a:latin typeface="Times New Roman" panose="02020603050405020304" pitchFamily="18" charset="0"/>
                <a:cs typeface="Times New Roman" panose="02020603050405020304" pitchFamily="18" charset="0"/>
              </a:rPr>
              <a:t>.</a:t>
            </a:r>
          </a:p>
          <a:p>
            <a:pPr fontAlgn="base"/>
            <a:r>
              <a:rPr lang="ru-RU" sz="2500" dirty="0" err="1">
                <a:latin typeface="Times New Roman" panose="02020603050405020304" pitchFamily="18" charset="0"/>
                <a:cs typeface="Times New Roman" panose="02020603050405020304" pitchFamily="18" charset="0"/>
              </a:rPr>
              <a:t>Інноваційні</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р</a:t>
            </a:r>
            <a:r>
              <a:rPr lang="ru-RU" sz="2500" dirty="0" err="1" smtClean="0">
                <a:latin typeface="Times New Roman" panose="02020603050405020304" pitchFamily="18" charset="0"/>
                <a:cs typeface="Times New Roman" panose="02020603050405020304" pitchFamily="18" charset="0"/>
              </a:rPr>
              <a:t>озробки</a:t>
            </a:r>
            <a:r>
              <a:rPr lang="ru-RU" sz="2500" dirty="0" smtClean="0">
                <a:latin typeface="Times New Roman" panose="02020603050405020304" pitchFamily="18" charset="0"/>
                <a:cs typeface="Times New Roman" panose="02020603050405020304" pitchFamily="18" charset="0"/>
              </a:rPr>
              <a:t> </a:t>
            </a:r>
            <a:r>
              <a:rPr lang="ru-RU" sz="2500" dirty="0">
                <a:latin typeface="Times New Roman" panose="02020603050405020304" pitchFamily="18" charset="0"/>
                <a:cs typeface="Times New Roman" panose="02020603050405020304" pitchFamily="18" charset="0"/>
              </a:rPr>
              <a:t>та </a:t>
            </a:r>
            <a:r>
              <a:rPr lang="ru-RU" sz="2500" dirty="0" err="1">
                <a:latin typeface="Times New Roman" panose="02020603050405020304" pitchFamily="18" charset="0"/>
                <a:cs typeface="Times New Roman" panose="02020603050405020304" pitchFamily="18" charset="0"/>
              </a:rPr>
              <a:t>к</a:t>
            </a:r>
            <a:r>
              <a:rPr lang="ru-RU" sz="2500" dirty="0" err="1" smtClean="0">
                <a:latin typeface="Times New Roman" panose="02020603050405020304" pitchFamily="18" charset="0"/>
                <a:cs typeface="Times New Roman" panose="02020603050405020304" pitchFamily="18" charset="0"/>
              </a:rPr>
              <a:t>астомізація</a:t>
            </a:r>
            <a:r>
              <a:rPr lang="ru-RU" sz="2500" dirty="0" smtClean="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п</a:t>
            </a:r>
            <a:r>
              <a:rPr lang="ru-RU" sz="2500" dirty="0" err="1" smtClean="0">
                <a:latin typeface="Times New Roman" panose="02020603050405020304" pitchFamily="18" charset="0"/>
                <a:cs typeface="Times New Roman" panose="02020603050405020304" pitchFamily="18" charset="0"/>
              </a:rPr>
              <a:t>родукції</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с</a:t>
            </a:r>
            <a:r>
              <a:rPr lang="ru-RU" sz="2500" dirty="0" err="1" smtClean="0">
                <a:latin typeface="Times New Roman" panose="02020603050405020304" pitchFamily="18" charset="0"/>
                <a:cs typeface="Times New Roman" panose="02020603050405020304" pitchFamily="18" charset="0"/>
              </a:rPr>
              <a:t>творення</a:t>
            </a:r>
            <a:r>
              <a:rPr lang="ru-RU" sz="2500" dirty="0" smtClean="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унікальних</a:t>
            </a:r>
            <a:r>
              <a:rPr lang="ru-RU" sz="2500" dirty="0">
                <a:latin typeface="Times New Roman" panose="02020603050405020304" pitchFamily="18" charset="0"/>
                <a:cs typeface="Times New Roman" panose="02020603050405020304" pitchFamily="18" charset="0"/>
              </a:rPr>
              <a:t> деталей на </a:t>
            </a:r>
            <a:r>
              <a:rPr lang="ru-RU" sz="2500" dirty="0" err="1">
                <a:latin typeface="Times New Roman" panose="02020603050405020304" pitchFamily="18" charset="0"/>
                <a:cs typeface="Times New Roman" panose="02020603050405020304" pitchFamily="18" charset="0"/>
              </a:rPr>
              <a:t>замовлення</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що</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задовольняють</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специфічні</a:t>
            </a:r>
            <a:r>
              <a:rPr lang="ru-RU" sz="2500" dirty="0">
                <a:latin typeface="Times New Roman" panose="02020603050405020304" pitchFamily="18" charset="0"/>
                <a:cs typeface="Times New Roman" panose="02020603050405020304" pitchFamily="18" charset="0"/>
              </a:rPr>
              <a:t> потреби ЗСУ.</a:t>
            </a:r>
          </a:p>
          <a:p>
            <a:pPr fontAlgn="base"/>
            <a:r>
              <a:rPr lang="ru-RU" sz="2500" dirty="0" err="1">
                <a:latin typeface="Times New Roman" panose="02020603050405020304" pitchFamily="18" charset="0"/>
                <a:cs typeface="Times New Roman" panose="02020603050405020304" pitchFamily="18" charset="0"/>
              </a:rPr>
              <a:t>Залучення</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ф</a:t>
            </a:r>
            <a:r>
              <a:rPr lang="ru-RU" sz="2500" dirty="0" err="1" smtClean="0">
                <a:latin typeface="Times New Roman" panose="02020603050405020304" pitchFamily="18" charset="0"/>
                <a:cs typeface="Times New Roman" panose="02020603050405020304" pitchFamily="18" charset="0"/>
              </a:rPr>
              <a:t>інансової</a:t>
            </a:r>
            <a:r>
              <a:rPr lang="ru-RU" sz="2500" dirty="0" smtClean="0">
                <a:latin typeface="Times New Roman" panose="02020603050405020304" pitchFamily="18" charset="0"/>
                <a:cs typeface="Times New Roman" panose="02020603050405020304" pitchFamily="18" charset="0"/>
              </a:rPr>
              <a:t> </a:t>
            </a:r>
            <a:r>
              <a:rPr lang="ru-RU" sz="2500" dirty="0">
                <a:latin typeface="Times New Roman" panose="02020603050405020304" pitchFamily="18" charset="0"/>
                <a:cs typeface="Times New Roman" panose="02020603050405020304" pitchFamily="18" charset="0"/>
              </a:rPr>
              <a:t>та </a:t>
            </a:r>
            <a:r>
              <a:rPr lang="ru-RU" sz="2500" dirty="0" err="1">
                <a:latin typeface="Times New Roman" panose="02020603050405020304" pitchFamily="18" charset="0"/>
                <a:cs typeface="Times New Roman" panose="02020603050405020304" pitchFamily="18" charset="0"/>
              </a:rPr>
              <a:t>м</a:t>
            </a:r>
            <a:r>
              <a:rPr lang="ru-RU" sz="2500" dirty="0" err="1" smtClean="0">
                <a:latin typeface="Times New Roman" panose="02020603050405020304" pitchFamily="18" charset="0"/>
                <a:cs typeface="Times New Roman" panose="02020603050405020304" pitchFamily="18" charset="0"/>
              </a:rPr>
              <a:t>атеріальної</a:t>
            </a:r>
            <a:r>
              <a:rPr lang="ru-RU" sz="2500" dirty="0" smtClean="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п</a:t>
            </a:r>
            <a:r>
              <a:rPr lang="ru-RU" sz="2500" dirty="0" err="1" smtClean="0">
                <a:latin typeface="Times New Roman" panose="02020603050405020304" pitchFamily="18" charset="0"/>
                <a:cs typeface="Times New Roman" panose="02020603050405020304" pitchFamily="18" charset="0"/>
              </a:rPr>
              <a:t>ідтримки</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о</a:t>
            </a:r>
            <a:r>
              <a:rPr lang="ru-RU" sz="2500" dirty="0" err="1" smtClean="0">
                <a:latin typeface="Times New Roman" panose="02020603050405020304" pitchFamily="18" charset="0"/>
                <a:cs typeface="Times New Roman" panose="02020603050405020304" pitchFamily="18" charset="0"/>
              </a:rPr>
              <a:t>рганізація</a:t>
            </a:r>
            <a:r>
              <a:rPr lang="ru-RU" sz="2500" dirty="0" smtClean="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зборів</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коштів</a:t>
            </a:r>
            <a:r>
              <a:rPr lang="ru-RU" sz="2500" dirty="0">
                <a:latin typeface="Times New Roman" panose="02020603050405020304" pitchFamily="18" charset="0"/>
                <a:cs typeface="Times New Roman" panose="02020603050405020304" pitchFamily="18" charset="0"/>
              </a:rPr>
              <a:t> та </a:t>
            </a:r>
            <a:r>
              <a:rPr lang="ru-RU" sz="2500" dirty="0" err="1">
                <a:latin typeface="Times New Roman" panose="02020603050405020304" pitchFamily="18" charset="0"/>
                <a:cs typeface="Times New Roman" panose="02020603050405020304" pitchFamily="18" charset="0"/>
              </a:rPr>
              <a:t>пошук</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спонсорів</a:t>
            </a:r>
            <a:r>
              <a:rPr lang="ru-RU" sz="2500" dirty="0">
                <a:latin typeface="Times New Roman" panose="02020603050405020304" pitchFamily="18" charset="0"/>
                <a:cs typeface="Times New Roman" panose="02020603050405020304" pitchFamily="18" charset="0"/>
              </a:rPr>
              <a:t> для </a:t>
            </a:r>
            <a:r>
              <a:rPr lang="ru-RU" sz="2500" dirty="0" err="1">
                <a:latin typeface="Times New Roman" panose="02020603050405020304" pitchFamily="18" charset="0"/>
                <a:cs typeface="Times New Roman" panose="02020603050405020304" pitchFamily="18" charset="0"/>
              </a:rPr>
              <a:t>забезпечення</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необхідних</a:t>
            </a:r>
            <a:r>
              <a:rPr lang="ru-RU" sz="2500" dirty="0">
                <a:latin typeface="Times New Roman" panose="02020603050405020304" pitchFamily="18" charset="0"/>
                <a:cs typeface="Times New Roman" panose="02020603050405020304" pitchFamily="18" charset="0"/>
              </a:rPr>
              <a:t> </a:t>
            </a:r>
            <a:r>
              <a:rPr lang="ru-RU" sz="2500" dirty="0" err="1">
                <a:latin typeface="Times New Roman" panose="02020603050405020304" pitchFamily="18" charset="0"/>
                <a:cs typeface="Times New Roman" panose="02020603050405020304" pitchFamily="18" charset="0"/>
              </a:rPr>
              <a:t>ресурсів</a:t>
            </a:r>
            <a:r>
              <a:rPr lang="ru-RU" sz="2500" dirty="0">
                <a:latin typeface="Times New Roman" panose="02020603050405020304" pitchFamily="18" charset="0"/>
                <a:cs typeface="Times New Roman" panose="02020603050405020304" pitchFamily="18" charset="0"/>
              </a:rPr>
              <a:t> проекту.</a:t>
            </a:r>
          </a:p>
          <a:p>
            <a:endParaRPr lang="ru-RU" sz="1400" dirty="0">
              <a:latin typeface="Times New Roman" panose="02020603050405020304" pitchFamily="18" charset="0"/>
              <a:cs typeface="Times New Roman" panose="02020603050405020304" pitchFamily="18" charset="0"/>
            </a:endParaRPr>
          </a:p>
        </p:txBody>
      </p:sp>
      <p:pic>
        <p:nvPicPr>
          <p:cNvPr id="4" name="Рисунок 3"/>
          <p:cNvPicPr>
            <a:picLocks noChangeAspect="1"/>
          </p:cNvPicPr>
          <p:nvPr/>
        </p:nvPicPr>
        <p:blipFill>
          <a:blip r:embed="rId2"/>
          <a:stretch>
            <a:fillRect/>
          </a:stretch>
        </p:blipFill>
        <p:spPr>
          <a:xfrm>
            <a:off x="334576" y="279402"/>
            <a:ext cx="3170624" cy="2119312"/>
          </a:xfrm>
          <a:prstGeom prst="rect">
            <a:avLst/>
          </a:prstGeom>
        </p:spPr>
      </p:pic>
      <p:pic>
        <p:nvPicPr>
          <p:cNvPr id="5" name="Рисунок 4"/>
          <p:cNvPicPr>
            <a:picLocks noChangeAspect="1"/>
          </p:cNvPicPr>
          <p:nvPr/>
        </p:nvPicPr>
        <p:blipFill>
          <a:blip r:embed="rId3"/>
          <a:stretch>
            <a:fillRect/>
          </a:stretch>
        </p:blipFill>
        <p:spPr>
          <a:xfrm>
            <a:off x="334576" y="2635917"/>
            <a:ext cx="3170623" cy="1593183"/>
          </a:xfrm>
          <a:prstGeom prst="rect">
            <a:avLst/>
          </a:prstGeom>
        </p:spPr>
      </p:pic>
      <p:pic>
        <p:nvPicPr>
          <p:cNvPr id="6" name="Рисунок 5"/>
          <p:cNvPicPr>
            <a:picLocks noChangeAspect="1"/>
          </p:cNvPicPr>
          <p:nvPr/>
        </p:nvPicPr>
        <p:blipFill>
          <a:blip r:embed="rId4"/>
          <a:stretch>
            <a:fillRect/>
          </a:stretch>
        </p:blipFill>
        <p:spPr>
          <a:xfrm>
            <a:off x="334577" y="4466303"/>
            <a:ext cx="3170624" cy="2201197"/>
          </a:xfrm>
          <a:prstGeom prst="rect">
            <a:avLst/>
          </a:prstGeom>
        </p:spPr>
      </p:pic>
    </p:spTree>
    <p:extLst>
      <p:ext uri="{BB962C8B-B14F-4D97-AF65-F5344CB8AC3E}">
        <p14:creationId xmlns:p14="http://schemas.microsoft.com/office/powerpoint/2010/main" val="14332553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53365" y="287111"/>
            <a:ext cx="3409950" cy="690564"/>
          </a:xfrm>
        </p:spPr>
        <p:txBody>
          <a:bodyPr>
            <a:normAutofit/>
          </a:bodyPr>
          <a:lstStyle/>
          <a:p>
            <a:r>
              <a:rPr lang="uk-UA" sz="2400" b="1" dirty="0" smtClean="0">
                <a:latin typeface="Times New Roman" panose="02020603050405020304" pitchFamily="18" charset="0"/>
                <a:cs typeface="Times New Roman" panose="02020603050405020304" pitchFamily="18" charset="0"/>
              </a:rPr>
              <a:t>Практична частина</a:t>
            </a:r>
            <a:endParaRPr lang="ru-RU" sz="2400" b="1"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314326" y="1195389"/>
            <a:ext cx="4029074" cy="5386386"/>
          </a:xfrm>
        </p:spPr>
        <p:txBody>
          <a:bodyPr>
            <a:normAutofit/>
          </a:bodyPr>
          <a:lstStyle/>
          <a:p>
            <a:pPr marL="0" indent="0">
              <a:buNone/>
            </a:pPr>
            <a:endParaRPr lang="ru-RU" sz="1400" dirty="0" smtClean="0">
              <a:latin typeface="Times New Roman" panose="02020603050405020304" pitchFamily="18" charset="0"/>
              <a:cs typeface="Times New Roman" panose="02020603050405020304" pitchFamily="18" charset="0"/>
            </a:endParaRPr>
          </a:p>
          <a:p>
            <a:pPr marL="0" indent="0">
              <a:lnSpc>
                <a:spcPct val="100000"/>
              </a:lnSpc>
              <a:buNone/>
            </a:pPr>
            <a:r>
              <a:rPr lang="ru-RU" sz="1400" dirty="0" smtClean="0">
                <a:latin typeface="Times New Roman" panose="02020603050405020304" pitchFamily="18" charset="0"/>
                <a:cs typeface="Times New Roman" panose="02020603050405020304" pitchFamily="18" charset="0"/>
              </a:rPr>
              <a:t>У </a:t>
            </a:r>
            <a:r>
              <a:rPr lang="ru-RU" sz="1400" dirty="0" smtClean="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практичній</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частині</a:t>
            </a:r>
            <a:r>
              <a:rPr lang="ru-RU" sz="1400" dirty="0">
                <a:latin typeface="Times New Roman" panose="02020603050405020304" pitchFamily="18" charset="0"/>
                <a:cs typeface="Times New Roman" panose="02020603050405020304" pitchFamily="18" charset="0"/>
              </a:rPr>
              <a:t> я </a:t>
            </a:r>
            <a:r>
              <a:rPr lang="ru-RU" sz="1400" dirty="0" err="1">
                <a:latin typeface="Times New Roman" panose="02020603050405020304" pitchFamily="18" charset="0"/>
                <a:cs typeface="Times New Roman" panose="02020603050405020304" pitchFamily="18" charset="0"/>
              </a:rPr>
              <a:t>виконав</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усі</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завдання</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які</a:t>
            </a:r>
            <a:r>
              <a:rPr lang="ru-RU" sz="1400" dirty="0">
                <a:latin typeface="Times New Roman" panose="02020603050405020304" pitchFamily="18" charset="0"/>
                <a:cs typeface="Times New Roman" panose="02020603050405020304" pitchFamily="18" charset="0"/>
              </a:rPr>
              <a:t> для себе </a:t>
            </a:r>
            <a:r>
              <a:rPr lang="ru-RU" sz="1400" dirty="0" err="1">
                <a:latin typeface="Times New Roman" panose="02020603050405020304" pitchFamily="18" charset="0"/>
                <a:cs typeface="Times New Roman" panose="02020603050405020304" pitchFamily="18" charset="0"/>
              </a:rPr>
              <a:t>визначив</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Також</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ознайомився</a:t>
            </a:r>
            <a:r>
              <a:rPr lang="ru-RU" sz="1400" dirty="0">
                <a:latin typeface="Times New Roman" panose="02020603050405020304" pitchFamily="18" charset="0"/>
                <a:cs typeface="Times New Roman" panose="02020603050405020304" pitchFamily="18" charset="0"/>
              </a:rPr>
              <a:t> з 3Д-моделюванням та 3Д-принтером, </a:t>
            </a:r>
            <a:r>
              <a:rPr lang="ru-RU" sz="1400" dirty="0" err="1">
                <a:latin typeface="Times New Roman" panose="02020603050405020304" pitchFamily="18" charset="0"/>
                <a:cs typeface="Times New Roman" panose="02020603050405020304" pitchFamily="18" charset="0"/>
              </a:rPr>
              <a:t>опанував</a:t>
            </a:r>
            <a:r>
              <a:rPr lang="ru-RU" sz="1400" dirty="0">
                <a:latin typeface="Times New Roman" panose="02020603050405020304" pitchFamily="18" charset="0"/>
                <a:cs typeface="Times New Roman" panose="02020603050405020304" pitchFamily="18" charset="0"/>
              </a:rPr>
              <a:t> </a:t>
            </a:r>
            <a:r>
              <a:rPr lang="ru-RU" sz="1400" dirty="0" err="1" smtClean="0">
                <a:latin typeface="Times New Roman" panose="02020603050405020304" pitchFamily="18" charset="0"/>
                <a:cs typeface="Times New Roman" panose="02020603050405020304" pitchFamily="18" charset="0"/>
              </a:rPr>
              <a:t>методи</a:t>
            </a:r>
            <a:r>
              <a:rPr lang="ru-RU" sz="1400" dirty="0" smtClean="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роботи</a:t>
            </a:r>
            <a:r>
              <a:rPr lang="ru-RU" sz="1400" dirty="0">
                <a:latin typeface="Times New Roman" panose="02020603050405020304" pitchFamily="18" charset="0"/>
                <a:cs typeface="Times New Roman" panose="02020603050405020304" pitchFamily="18" charset="0"/>
              </a:rPr>
              <a:t> на </a:t>
            </a:r>
            <a:r>
              <a:rPr lang="ru-RU" sz="1400" dirty="0" err="1">
                <a:latin typeface="Times New Roman" panose="02020603050405020304" pitchFamily="18" charset="0"/>
                <a:cs typeface="Times New Roman" panose="02020603050405020304" pitchFamily="18" charset="0"/>
              </a:rPr>
              <a:t>ньому</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Виготував</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спеціальну</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легку</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міцну</a:t>
            </a:r>
            <a:r>
              <a:rPr lang="ru-RU" sz="1400" dirty="0">
                <a:latin typeface="Times New Roman" panose="02020603050405020304" pitchFamily="18" charset="0"/>
                <a:cs typeface="Times New Roman" panose="02020603050405020304" pitchFamily="18" charset="0"/>
              </a:rPr>
              <a:t> та </a:t>
            </a:r>
            <a:r>
              <a:rPr lang="ru-RU" sz="1400" dirty="0" err="1">
                <a:latin typeface="Times New Roman" panose="02020603050405020304" pitchFamily="18" charset="0"/>
                <a:cs typeface="Times New Roman" panose="02020603050405020304" pitchFamily="18" charset="0"/>
              </a:rPr>
              <a:t>морозостійку</a:t>
            </a:r>
            <a:r>
              <a:rPr lang="ru-RU" sz="1400" dirty="0">
                <a:latin typeface="Times New Roman" panose="02020603050405020304" pitchFamily="18" charset="0"/>
                <a:cs typeface="Times New Roman" panose="02020603050405020304" pitchFamily="18" charset="0"/>
              </a:rPr>
              <a:t> камеру-</a:t>
            </a:r>
            <a:r>
              <a:rPr lang="ru-RU" sz="1400" dirty="0" err="1">
                <a:latin typeface="Times New Roman" panose="02020603050405020304" pitchFamily="18" charset="0"/>
                <a:cs typeface="Times New Roman" panose="02020603050405020304" pitchFamily="18" charset="0"/>
              </a:rPr>
              <a:t>чохол</a:t>
            </a:r>
            <a:r>
              <a:rPr lang="ru-RU" sz="1400" dirty="0">
                <a:latin typeface="Times New Roman" panose="02020603050405020304" pitchFamily="18" charset="0"/>
                <a:cs typeface="Times New Roman" panose="02020603050405020304" pitchFamily="18" charset="0"/>
              </a:rPr>
              <a:t> для </a:t>
            </a:r>
            <a:r>
              <a:rPr lang="ru-RU" sz="1400" dirty="0" err="1">
                <a:latin typeface="Times New Roman" panose="02020603050405020304" pitchFamily="18" charset="0"/>
                <a:cs typeface="Times New Roman" panose="02020603050405020304" pitchFamily="18" charset="0"/>
              </a:rPr>
              <a:t>запобігання</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намерзання</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льоду</a:t>
            </a:r>
            <a:r>
              <a:rPr lang="ru-RU" sz="1400" dirty="0">
                <a:latin typeface="Times New Roman" panose="02020603050405020304" pitchFamily="18" charset="0"/>
                <a:cs typeface="Times New Roman" panose="02020603050405020304" pitchFamily="18" charset="0"/>
              </a:rPr>
              <a:t> на </a:t>
            </a:r>
            <a:r>
              <a:rPr lang="ru-RU" sz="1400" dirty="0" smtClean="0">
                <a:latin typeface="Times New Roman" panose="02020603050405020304" pitchFamily="18" charset="0"/>
                <a:cs typeface="Times New Roman" panose="02020603050405020304" pitchFamily="18" charset="0"/>
              </a:rPr>
              <a:t>о</a:t>
            </a:r>
            <a:r>
              <a:rPr lang="uk-UA" sz="1400" dirty="0" err="1" smtClean="0">
                <a:latin typeface="Times New Roman" panose="02020603050405020304" pitchFamily="18" charset="0"/>
                <a:cs typeface="Times New Roman" panose="02020603050405020304" pitchFamily="18" charset="0"/>
              </a:rPr>
              <a:t>б’єктив</a:t>
            </a:r>
            <a:r>
              <a:rPr lang="uk-UA" sz="1400" dirty="0" smtClean="0">
                <a:latin typeface="Times New Roman" panose="02020603050405020304" pitchFamily="18" charset="0"/>
                <a:cs typeface="Times New Roman" panose="02020603050405020304" pitchFamily="18" charset="0"/>
              </a:rPr>
              <a:t>. </a:t>
            </a:r>
            <a:endParaRPr lang="ru-RU" sz="1400" dirty="0">
              <a:latin typeface="Times New Roman" panose="02020603050405020304" pitchFamily="18" charset="0"/>
              <a:cs typeface="Times New Roman" panose="02020603050405020304" pitchFamily="18" charset="0"/>
            </a:endParaRPr>
          </a:p>
          <a:p>
            <a:r>
              <a:rPr lang="uk-UA" sz="1400" dirty="0">
                <a:latin typeface="Times New Roman" panose="02020603050405020304" pitchFamily="18" charset="0"/>
                <a:cs typeface="Times New Roman" panose="02020603050405020304" pitchFamily="18" charset="0"/>
              </a:rPr>
              <a:t>Виконання практичної частини роботи відбулося на базі лабораторії  3Д-моделювання в КНУБА. Друк камери </a:t>
            </a:r>
            <a:r>
              <a:rPr lang="uk-UA" sz="1400" dirty="0" err="1">
                <a:latin typeface="Times New Roman" panose="02020603050405020304" pitchFamily="18" charset="0"/>
                <a:cs typeface="Times New Roman" panose="02020603050405020304" pitchFamily="18" charset="0"/>
              </a:rPr>
              <a:t>дрона</a:t>
            </a:r>
            <a:r>
              <a:rPr lang="uk-UA" sz="1400" dirty="0">
                <a:latin typeface="Times New Roman" panose="02020603050405020304" pitchFamily="18" charset="0"/>
                <a:cs typeface="Times New Roman" panose="02020603050405020304" pitchFamily="18" charset="0"/>
              </a:rPr>
              <a:t> та футляра виконували на 3Д-принтері…….. , використовуючи матеріал……..</a:t>
            </a:r>
          </a:p>
          <a:p>
            <a:pPr marL="0" indent="0">
              <a:buNone/>
            </a:pPr>
            <a:r>
              <a:rPr lang="uk-UA" sz="1400" dirty="0">
                <a:latin typeface="Times New Roman" panose="02020603050405020304" pitchFamily="18" charset="0"/>
                <a:cs typeface="Times New Roman" panose="02020603050405020304" pitchFamily="18" charset="0"/>
              </a:rPr>
              <a:t>Футляр запобігав переохолодженню камери </a:t>
            </a:r>
            <a:r>
              <a:rPr lang="uk-UA" sz="1400" dirty="0" err="1">
                <a:latin typeface="Times New Roman" panose="02020603050405020304" pitchFamily="18" charset="0"/>
                <a:cs typeface="Times New Roman" panose="02020603050405020304" pitchFamily="18" charset="0"/>
              </a:rPr>
              <a:t>дрону</a:t>
            </a:r>
            <a:r>
              <a:rPr lang="uk-UA" sz="1400" dirty="0">
                <a:latin typeface="Times New Roman" panose="02020603050405020304" pitchFamily="18" charset="0"/>
                <a:cs typeface="Times New Roman" panose="02020603050405020304" pitchFamily="18" charset="0"/>
              </a:rPr>
              <a:t> та надавав можливість розмістити всередині акумулятор від андроїду для додаткового </a:t>
            </a:r>
            <a:r>
              <a:rPr lang="uk-UA" sz="1400" dirty="0" err="1">
                <a:latin typeface="Times New Roman" panose="02020603050405020304" pitchFamily="18" charset="0"/>
                <a:cs typeface="Times New Roman" panose="02020603050405020304" pitchFamily="18" charset="0"/>
              </a:rPr>
              <a:t>обогріву</a:t>
            </a:r>
            <a:r>
              <a:rPr lang="uk-UA" sz="1400" dirty="0">
                <a:latin typeface="Times New Roman" panose="02020603050405020304" pitchFamily="18" charset="0"/>
                <a:cs typeface="Times New Roman" panose="02020603050405020304" pitchFamily="18" charset="0"/>
              </a:rPr>
              <a:t>.</a:t>
            </a:r>
          </a:p>
          <a:p>
            <a:r>
              <a:rPr lang="uk-UA" sz="1400" dirty="0">
                <a:latin typeface="Times New Roman" panose="02020603050405020304" pitchFamily="18" charset="0"/>
                <a:cs typeface="Times New Roman" panose="02020603050405020304" pitchFamily="18" charset="0"/>
              </a:rPr>
              <a:t>Провів практичне випробування </a:t>
            </a:r>
            <a:r>
              <a:rPr lang="uk-UA" sz="1400" dirty="0" err="1">
                <a:latin typeface="Times New Roman" panose="02020603050405020304" pitchFamily="18" charset="0"/>
                <a:cs typeface="Times New Roman" panose="02020603050405020304" pitchFamily="18" charset="0"/>
              </a:rPr>
              <a:t>дрону</a:t>
            </a:r>
            <a:r>
              <a:rPr lang="uk-UA" sz="1400" dirty="0">
                <a:latin typeface="Times New Roman" panose="02020603050405020304" pitchFamily="18" charset="0"/>
                <a:cs typeface="Times New Roman" panose="02020603050405020304" pitchFamily="18" charset="0"/>
              </a:rPr>
              <a:t> з новою камерою та футляром для неї упродовж години за температури повітря -7</a:t>
            </a:r>
            <a:r>
              <a:rPr lang="uk-UA" sz="1400" baseline="30000" dirty="0">
                <a:latin typeface="Times New Roman" panose="02020603050405020304" pitchFamily="18" charset="0"/>
                <a:cs typeface="Times New Roman" panose="02020603050405020304" pitchFamily="18" charset="0"/>
              </a:rPr>
              <a:t>0</a:t>
            </a:r>
            <a:r>
              <a:rPr lang="uk-UA" sz="1400" dirty="0">
                <a:latin typeface="Times New Roman" panose="02020603050405020304" pitchFamily="18" charset="0"/>
                <a:cs typeface="Times New Roman" panose="02020603050405020304" pitchFamily="18" charset="0"/>
              </a:rPr>
              <a:t>С. Візуально переконався, що намерзання льоду не відбувається, корпус  зберігає свої властивості, на дотик температуру не змінює. Було помічено, що при наявності вітру час дії </a:t>
            </a:r>
            <a:r>
              <a:rPr lang="uk-UA" sz="1400" dirty="0" smtClean="0">
                <a:latin typeface="Times New Roman" panose="02020603050405020304" pitchFamily="18" charset="0"/>
                <a:cs typeface="Times New Roman" panose="02020603050405020304" pitchFamily="18" charset="0"/>
              </a:rPr>
              <a:t>акумуляторів </a:t>
            </a:r>
            <a:r>
              <a:rPr lang="uk-UA" sz="1400" dirty="0">
                <a:latin typeface="Times New Roman" panose="02020603050405020304" pitchFamily="18" charset="0"/>
                <a:cs typeface="Times New Roman" panose="02020603050405020304" pitchFamily="18" charset="0"/>
              </a:rPr>
              <a:t>зменшується , і потрібно скорочувати термін використання </a:t>
            </a:r>
            <a:r>
              <a:rPr lang="uk-UA" sz="1400" dirty="0" err="1">
                <a:latin typeface="Times New Roman" panose="02020603050405020304" pitchFamily="18" charset="0"/>
                <a:cs typeface="Times New Roman" panose="02020603050405020304" pitchFamily="18" charset="0"/>
              </a:rPr>
              <a:t>дрону</a:t>
            </a:r>
            <a:r>
              <a:rPr lang="uk-UA" sz="1400" dirty="0">
                <a:latin typeface="Times New Roman" panose="02020603050405020304" pitchFamily="18" charset="0"/>
                <a:cs typeface="Times New Roman" panose="02020603050405020304" pitchFamily="18" charset="0"/>
              </a:rPr>
              <a:t>.</a:t>
            </a:r>
          </a:p>
          <a:p>
            <a:endParaRPr lang="ru-RU" sz="1400" dirty="0">
              <a:latin typeface="Times New Roman" panose="02020603050405020304" pitchFamily="18" charset="0"/>
              <a:cs typeface="Times New Roman" panose="02020603050405020304" pitchFamily="18" charset="0"/>
            </a:endParaRPr>
          </a:p>
        </p:txBody>
      </p:sp>
      <p:pic>
        <p:nvPicPr>
          <p:cNvPr id="4" name="Рисунок 3"/>
          <p:cNvPicPr>
            <a:picLocks noChangeAspect="1"/>
          </p:cNvPicPr>
          <p:nvPr/>
        </p:nvPicPr>
        <p:blipFill>
          <a:blip r:embed="rId2"/>
          <a:stretch>
            <a:fillRect/>
          </a:stretch>
        </p:blipFill>
        <p:spPr>
          <a:xfrm>
            <a:off x="4613500" y="380999"/>
            <a:ext cx="4263799" cy="4263799"/>
          </a:xfrm>
          <a:prstGeom prst="rect">
            <a:avLst/>
          </a:prstGeom>
        </p:spPr>
      </p:pic>
      <p:pic>
        <p:nvPicPr>
          <p:cNvPr id="5" name="Рисунок 4"/>
          <p:cNvPicPr>
            <a:picLocks noChangeAspect="1"/>
          </p:cNvPicPr>
          <p:nvPr/>
        </p:nvPicPr>
        <p:blipFill>
          <a:blip r:embed="rId3"/>
          <a:stretch>
            <a:fillRect/>
          </a:stretch>
        </p:blipFill>
        <p:spPr>
          <a:xfrm>
            <a:off x="5419725" y="4543425"/>
            <a:ext cx="2428875" cy="2038350"/>
          </a:xfrm>
          <a:prstGeom prst="rect">
            <a:avLst/>
          </a:prstGeom>
        </p:spPr>
      </p:pic>
    </p:spTree>
    <p:extLst>
      <p:ext uri="{BB962C8B-B14F-4D97-AF65-F5344CB8AC3E}">
        <p14:creationId xmlns:p14="http://schemas.microsoft.com/office/powerpoint/2010/main" val="587456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lstStyle/>
          <a:p>
            <a:endParaRPr lang="ru-RU"/>
          </a:p>
        </p:txBody>
      </p:sp>
    </p:spTree>
    <p:extLst>
      <p:ext uri="{BB962C8B-B14F-4D97-AF65-F5344CB8AC3E}">
        <p14:creationId xmlns:p14="http://schemas.microsoft.com/office/powerpoint/2010/main" val="33200529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28650" y="371475"/>
            <a:ext cx="5362575" cy="628650"/>
          </a:xfrm>
        </p:spPr>
        <p:txBody>
          <a:bodyPr>
            <a:normAutofit fontScale="90000"/>
          </a:bodyPr>
          <a:lstStyle/>
          <a:p>
            <a:r>
              <a:rPr lang="uk-UA" sz="2400" b="1" dirty="0">
                <a:latin typeface="Times New Roman" panose="02020603050405020304" pitchFamily="18" charset="0"/>
                <a:cs typeface="Times New Roman" panose="02020603050405020304" pitchFamily="18" charset="0"/>
              </a:rPr>
              <a:t>Камери </a:t>
            </a:r>
            <a:r>
              <a:rPr lang="uk-UA" sz="2400" b="1" dirty="0" err="1">
                <a:latin typeface="Times New Roman" panose="02020603050405020304" pitchFamily="18" charset="0"/>
                <a:cs typeface="Times New Roman" panose="02020603050405020304" pitchFamily="18" charset="0"/>
              </a:rPr>
              <a:t>квадрокоптерів</a:t>
            </a:r>
            <a:r>
              <a:rPr lang="uk-UA" sz="2400" b="1" dirty="0">
                <a:latin typeface="Times New Roman" panose="02020603050405020304" pitchFamily="18" charset="0"/>
                <a:cs typeface="Times New Roman" panose="02020603050405020304" pitchFamily="18" charset="0"/>
              </a:rPr>
              <a:t>: </a:t>
            </a:r>
            <a:r>
              <a:rPr lang="uk-UA" sz="2400" b="1" dirty="0" smtClean="0">
                <a:latin typeface="Times New Roman" panose="02020603050405020304" pitchFamily="18" charset="0"/>
                <a:cs typeface="Times New Roman" panose="02020603050405020304" pitchFamily="18" charset="0"/>
              </a:rPr>
              <a:t/>
            </a:r>
            <a:br>
              <a:rPr lang="uk-UA" sz="2400" b="1" dirty="0" smtClean="0">
                <a:latin typeface="Times New Roman" panose="02020603050405020304" pitchFamily="18" charset="0"/>
                <a:cs typeface="Times New Roman" panose="02020603050405020304" pitchFamily="18" charset="0"/>
              </a:rPr>
            </a:br>
            <a:r>
              <a:rPr lang="uk-UA" sz="2400" b="1" dirty="0" smtClean="0">
                <a:latin typeface="Times New Roman" panose="02020603050405020304" pitchFamily="18" charset="0"/>
                <a:cs typeface="Times New Roman" panose="02020603050405020304" pitchFamily="18" charset="0"/>
              </a:rPr>
              <a:t>які </a:t>
            </a:r>
            <a:r>
              <a:rPr lang="uk-UA" sz="2400" b="1" dirty="0">
                <a:latin typeface="Times New Roman" panose="02020603050405020304" pitchFamily="18" charset="0"/>
                <a:cs typeface="Times New Roman" panose="02020603050405020304" pitchFamily="18" charset="0"/>
              </a:rPr>
              <a:t>вони бувають і чим відрізняються</a:t>
            </a:r>
            <a:r>
              <a:rPr lang="ru-RU" sz="2400" dirty="0">
                <a:latin typeface="Times New Roman" panose="02020603050405020304" pitchFamily="18" charset="0"/>
                <a:cs typeface="Times New Roman" panose="02020603050405020304" pitchFamily="18" charset="0"/>
              </a:rPr>
              <a:t/>
            </a:r>
            <a:br>
              <a:rPr lang="ru-RU" sz="2400" dirty="0">
                <a:latin typeface="Times New Roman" panose="02020603050405020304" pitchFamily="18" charset="0"/>
                <a:cs typeface="Times New Roman" panose="02020603050405020304" pitchFamily="18" charset="0"/>
              </a:rPr>
            </a:br>
            <a:endParaRPr lang="ru-RU" sz="2400"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628650" y="914400"/>
            <a:ext cx="7886700" cy="5262563"/>
          </a:xfrm>
        </p:spPr>
        <p:txBody>
          <a:bodyPr>
            <a:normAutofit fontScale="47500" lnSpcReduction="20000"/>
          </a:bodyPr>
          <a:lstStyle/>
          <a:p>
            <a:pPr marL="0" indent="0">
              <a:buNone/>
            </a:pPr>
            <a:endParaRPr lang="ru-RU" dirty="0"/>
          </a:p>
          <a:p>
            <a:r>
              <a:rPr lang="uk-UA" sz="2900" dirty="0">
                <a:latin typeface="Times New Roman" panose="02020603050405020304" pitchFamily="18" charset="0"/>
                <a:cs typeface="Times New Roman" panose="02020603050405020304" pitchFamily="18" charset="0"/>
              </a:rPr>
              <a:t>Камера в </a:t>
            </a:r>
            <a:r>
              <a:rPr lang="uk-UA" sz="2900" dirty="0" err="1">
                <a:latin typeface="Times New Roman" panose="02020603050405020304" pitchFamily="18" charset="0"/>
                <a:cs typeface="Times New Roman" panose="02020603050405020304" pitchFamily="18" charset="0"/>
              </a:rPr>
              <a:t>квадрокоптері</a:t>
            </a:r>
            <a:r>
              <a:rPr lang="uk-UA" sz="2900" dirty="0">
                <a:latin typeface="Times New Roman" panose="02020603050405020304" pitchFamily="18" charset="0"/>
                <a:cs typeface="Times New Roman" panose="02020603050405020304" pitchFamily="18" charset="0"/>
              </a:rPr>
              <a:t> є одним з ключових компонентів, залежно від якого віддається перевага тій чи іншій моделі. У її функції входить не тільки фото- та </a:t>
            </a:r>
            <a:r>
              <a:rPr lang="uk-UA" sz="2900" dirty="0" err="1">
                <a:latin typeface="Times New Roman" panose="02020603050405020304" pitchFamily="18" charset="0"/>
                <a:cs typeface="Times New Roman" panose="02020603050405020304" pitchFamily="18" charset="0"/>
              </a:rPr>
              <a:t>відеозйомка</a:t>
            </a:r>
            <a:r>
              <a:rPr lang="uk-UA" sz="2900" dirty="0">
                <a:latin typeface="Times New Roman" panose="02020603050405020304" pitchFamily="18" charset="0"/>
                <a:cs typeface="Times New Roman" panose="02020603050405020304" pitchFamily="18" charset="0"/>
              </a:rPr>
              <a:t>, а й маневреність агрегату в польоті. Існує кілька різновидів камер для </a:t>
            </a:r>
            <a:r>
              <a:rPr lang="uk-UA" sz="2900" dirty="0" err="1">
                <a:latin typeface="Times New Roman" panose="02020603050405020304" pitchFamily="18" charset="0"/>
                <a:cs typeface="Times New Roman" panose="02020603050405020304" pitchFamily="18" charset="0"/>
              </a:rPr>
              <a:t>дронів</a:t>
            </a:r>
            <a:r>
              <a:rPr lang="uk-UA" sz="2900" dirty="0">
                <a:latin typeface="Times New Roman" panose="02020603050405020304" pitchFamily="18" charset="0"/>
                <a:cs typeface="Times New Roman" panose="02020603050405020304" pitchFamily="18" charset="0"/>
              </a:rPr>
              <a:t>. Чим відрізняються камери </a:t>
            </a:r>
            <a:r>
              <a:rPr lang="uk-UA" sz="2900" dirty="0" err="1">
                <a:latin typeface="Times New Roman" panose="02020603050405020304" pitchFamily="18" charset="0"/>
                <a:cs typeface="Times New Roman" panose="02020603050405020304" pitchFamily="18" charset="0"/>
              </a:rPr>
              <a:t>квадрокоптерів</a:t>
            </a:r>
            <a:r>
              <a:rPr lang="uk-UA" sz="2900" dirty="0">
                <a:latin typeface="Times New Roman" panose="02020603050405020304" pitchFamily="18" charset="0"/>
                <a:cs typeface="Times New Roman" panose="02020603050405020304" pitchFamily="18" charset="0"/>
              </a:rPr>
              <a:t> та яку функцію виконує кожна з них, розберемо у цій статті.</a:t>
            </a:r>
            <a:endParaRPr lang="ru-RU" sz="2900" dirty="0">
              <a:latin typeface="Times New Roman" panose="02020603050405020304" pitchFamily="18" charset="0"/>
              <a:cs typeface="Times New Roman" panose="02020603050405020304" pitchFamily="18" charset="0"/>
            </a:endParaRPr>
          </a:p>
          <a:p>
            <a:r>
              <a:rPr lang="uk-UA" sz="2900" b="1" u="sng" dirty="0">
                <a:latin typeface="Times New Roman" panose="02020603050405020304" pitchFamily="18" charset="0"/>
                <a:cs typeface="Times New Roman" panose="02020603050405020304" pitchFamily="18" charset="0"/>
              </a:rPr>
              <a:t>FPV-камера</a:t>
            </a:r>
            <a:endParaRPr lang="ru-RU" sz="2900" u="sng" dirty="0">
              <a:latin typeface="Times New Roman" panose="02020603050405020304" pitchFamily="18" charset="0"/>
              <a:cs typeface="Times New Roman" panose="02020603050405020304" pitchFamily="18" charset="0"/>
            </a:endParaRPr>
          </a:p>
          <a:p>
            <a:r>
              <a:rPr lang="ru-RU" sz="2900" dirty="0">
                <a:latin typeface="Times New Roman" panose="02020603050405020304" pitchFamily="18" charset="0"/>
                <a:cs typeface="Times New Roman" panose="02020603050405020304" pitchFamily="18" charset="0"/>
              </a:rPr>
              <a:t>Камера для FPV </a:t>
            </a:r>
            <a:r>
              <a:rPr lang="ru-RU" sz="2900" dirty="0" err="1">
                <a:latin typeface="Times New Roman" panose="02020603050405020304" pitchFamily="18" charset="0"/>
                <a:cs typeface="Times New Roman" panose="02020603050405020304" pitchFamily="18" charset="0"/>
              </a:rPr>
              <a:t>польотів</a:t>
            </a:r>
            <a:r>
              <a:rPr lang="ru-RU" sz="2900" dirty="0">
                <a:latin typeface="Times New Roman" panose="02020603050405020304" pitchFamily="18" charset="0"/>
                <a:cs typeface="Times New Roman" panose="02020603050405020304" pitchFamily="18" charset="0"/>
              </a:rPr>
              <a:t> є одним </a:t>
            </a:r>
            <a:r>
              <a:rPr lang="ru-RU" sz="2900" dirty="0" err="1">
                <a:latin typeface="Times New Roman" panose="02020603050405020304" pitchFamily="18" charset="0"/>
                <a:cs typeface="Times New Roman" panose="02020603050405020304" pitchFamily="18" charset="0"/>
              </a:rPr>
              <a:t>із</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найпоширеніших</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видів</a:t>
            </a:r>
            <a:r>
              <a:rPr lang="ru-RU" sz="2900" dirty="0">
                <a:latin typeface="Times New Roman" panose="02020603050405020304" pitchFamily="18" charset="0"/>
                <a:cs typeface="Times New Roman" panose="02020603050405020304" pitchFamily="18" charset="0"/>
              </a:rPr>
              <a:t> камер, </a:t>
            </a:r>
            <a:r>
              <a:rPr lang="ru-RU" sz="2900" dirty="0" err="1">
                <a:latin typeface="Times New Roman" panose="02020603050405020304" pitchFamily="18" charset="0"/>
                <a:cs typeface="Times New Roman" panose="02020603050405020304" pitchFamily="18" charset="0"/>
              </a:rPr>
              <a:t>якими</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оснащені</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безпілотники</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Технологія</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First</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Person</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View</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включає</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спеціальні</a:t>
            </a:r>
            <a:r>
              <a:rPr lang="ru-RU" sz="2900" dirty="0">
                <a:latin typeface="Times New Roman" panose="02020603050405020304" pitchFamily="18" charset="0"/>
                <a:cs typeface="Times New Roman" panose="02020603050405020304" pitchFamily="18" charset="0"/>
              </a:rPr>
              <a:t> датчики (</a:t>
            </a:r>
            <a:r>
              <a:rPr lang="ru-RU" sz="2900" dirty="0" err="1">
                <a:latin typeface="Times New Roman" panose="02020603050405020304" pitchFamily="18" charset="0"/>
                <a:cs typeface="Times New Roman" panose="02020603050405020304" pitchFamily="18" charset="0"/>
              </a:rPr>
              <a:t>хедтрекери</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які</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дозволяють</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пілоту</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відчути</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реалістичність</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польоту</a:t>
            </a:r>
            <a:r>
              <a:rPr lang="ru-RU" sz="2900" dirty="0">
                <a:latin typeface="Times New Roman" panose="02020603050405020304" pitchFamily="18" charset="0"/>
                <a:cs typeface="Times New Roman" panose="02020603050405020304" pitchFamily="18" charset="0"/>
              </a:rPr>
              <a:t> на борту </a:t>
            </a:r>
            <a:r>
              <a:rPr lang="ru-RU" sz="2900" dirty="0" err="1">
                <a:latin typeface="Times New Roman" panose="02020603050405020304" pitchFamily="18" charset="0"/>
                <a:cs typeface="Times New Roman" panose="02020603050405020304" pitchFamily="18" charset="0"/>
              </a:rPr>
              <a:t>літального</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апарату</a:t>
            </a:r>
            <a:r>
              <a:rPr lang="ru-RU" sz="2900" dirty="0">
                <a:latin typeface="Times New Roman" panose="02020603050405020304" pitchFamily="18" charset="0"/>
                <a:cs typeface="Times New Roman" panose="02020603050405020304" pitchFamily="18" charset="0"/>
              </a:rPr>
              <a:t>.</a:t>
            </a:r>
          </a:p>
          <a:p>
            <a:r>
              <a:rPr lang="ru-RU" sz="2900" dirty="0">
                <a:latin typeface="Times New Roman" panose="02020603050405020304" pitchFamily="18" charset="0"/>
                <a:cs typeface="Times New Roman" panose="02020603050405020304" pitchFamily="18" charset="0"/>
              </a:rPr>
              <a:t>FPV-камера </a:t>
            </a:r>
            <a:r>
              <a:rPr lang="ru-RU" sz="2900" dirty="0" err="1">
                <a:latin typeface="Times New Roman" panose="02020603050405020304" pitchFamily="18" charset="0"/>
                <a:cs typeface="Times New Roman" panose="02020603050405020304" pitchFamily="18" charset="0"/>
              </a:rPr>
              <a:t>може</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передавати</a:t>
            </a:r>
            <a:r>
              <a:rPr lang="ru-RU" sz="2900" dirty="0">
                <a:latin typeface="Times New Roman" panose="02020603050405020304" pitchFamily="18" charset="0"/>
                <a:cs typeface="Times New Roman" panose="02020603050405020304" pitchFamily="18" charset="0"/>
              </a:rPr>
              <a:t> сигнал </a:t>
            </a:r>
            <a:r>
              <a:rPr lang="ru-RU" sz="2900" dirty="0" err="1">
                <a:latin typeface="Times New Roman" panose="02020603050405020304" pitchFamily="18" charset="0"/>
                <a:cs typeface="Times New Roman" panose="02020603050405020304" pitchFamily="18" charset="0"/>
              </a:rPr>
              <a:t>двома</a:t>
            </a:r>
            <a:r>
              <a:rPr lang="ru-RU" sz="2900" dirty="0">
                <a:latin typeface="Times New Roman" panose="02020603050405020304" pitchFamily="18" charset="0"/>
                <a:cs typeface="Times New Roman" panose="02020603050405020304" pitchFamily="18" charset="0"/>
              </a:rPr>
              <a:t> способами: </a:t>
            </a:r>
            <a:r>
              <a:rPr lang="ru-RU" sz="2900" dirty="0" err="1">
                <a:latin typeface="Times New Roman" panose="02020603050405020304" pitchFamily="18" charset="0"/>
                <a:cs typeface="Times New Roman" panose="02020603050405020304" pitchFamily="18" charset="0"/>
              </a:rPr>
              <a:t>цифровим</a:t>
            </a:r>
            <a:r>
              <a:rPr lang="ru-RU" sz="2900" dirty="0">
                <a:latin typeface="Times New Roman" panose="02020603050405020304" pitchFamily="18" charset="0"/>
                <a:cs typeface="Times New Roman" panose="02020603050405020304" pitchFamily="18" charset="0"/>
              </a:rPr>
              <a:t> (за </a:t>
            </a:r>
            <a:r>
              <a:rPr lang="ru-RU" sz="2900" dirty="0" err="1">
                <a:latin typeface="Times New Roman" panose="02020603050405020304" pitchFamily="18" charset="0"/>
                <a:cs typeface="Times New Roman" panose="02020603050405020304" pitchFamily="18" charset="0"/>
              </a:rPr>
              <a:t>допомогою</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Wi-Fi</a:t>
            </a:r>
            <a:r>
              <a:rPr lang="ru-RU" sz="2900" dirty="0">
                <a:latin typeface="Times New Roman" panose="02020603050405020304" pitchFamily="18" charset="0"/>
                <a:cs typeface="Times New Roman" panose="02020603050405020304" pitchFamily="18" charset="0"/>
              </a:rPr>
              <a:t>) та </a:t>
            </a:r>
            <a:r>
              <a:rPr lang="ru-RU" sz="2900" dirty="0" err="1">
                <a:latin typeface="Times New Roman" panose="02020603050405020304" pitchFamily="18" charset="0"/>
                <a:cs typeface="Times New Roman" panose="02020603050405020304" pitchFamily="18" charset="0"/>
              </a:rPr>
              <a:t>аналоговим</a:t>
            </a:r>
            <a:r>
              <a:rPr lang="ru-RU" sz="2900" dirty="0">
                <a:latin typeface="Times New Roman" panose="02020603050405020304" pitchFamily="18" charset="0"/>
                <a:cs typeface="Times New Roman" panose="02020603050405020304" pitchFamily="18" charset="0"/>
              </a:rPr>
              <a:t> способом (</a:t>
            </a:r>
            <a:r>
              <a:rPr lang="ru-RU" sz="2900" dirty="0" err="1">
                <a:latin typeface="Times New Roman" panose="02020603050405020304" pitchFamily="18" charset="0"/>
                <a:cs typeface="Times New Roman" panose="02020603050405020304" pitchFamily="18" charset="0"/>
              </a:rPr>
              <a:t>GHz</a:t>
            </a:r>
            <a:r>
              <a:rPr lang="ru-RU" sz="2900" dirty="0">
                <a:latin typeface="Times New Roman" panose="02020603050405020304" pitchFamily="18" charset="0"/>
                <a:cs typeface="Times New Roman" panose="02020603050405020304" pitchFamily="18" charset="0"/>
              </a:rPr>
              <a:t>). </a:t>
            </a:r>
            <a:endParaRPr lang="ru-RU" sz="2900" dirty="0" smtClean="0">
              <a:latin typeface="Times New Roman" panose="02020603050405020304" pitchFamily="18" charset="0"/>
              <a:cs typeface="Times New Roman" panose="02020603050405020304" pitchFamily="18" charset="0"/>
            </a:endParaRPr>
          </a:p>
          <a:p>
            <a:r>
              <a:rPr lang="uk-UA" sz="2900" b="1" u="sng" dirty="0" err="1" smtClean="0">
                <a:latin typeface="Times New Roman" panose="02020603050405020304" pitchFamily="18" charset="0"/>
                <a:cs typeface="Times New Roman" panose="02020603050405020304" pitchFamily="18" charset="0"/>
              </a:rPr>
              <a:t>Мінкамера</a:t>
            </a:r>
            <a:r>
              <a:rPr lang="ru-RU" sz="2900" u="sng" dirty="0" smtClean="0">
                <a:latin typeface="Times New Roman" panose="02020603050405020304" pitchFamily="18" charset="0"/>
                <a:cs typeface="Times New Roman" panose="02020603050405020304" pitchFamily="18" charset="0"/>
              </a:rPr>
              <a:t>. </a:t>
            </a:r>
            <a:r>
              <a:rPr lang="uk-UA" sz="2900" dirty="0" err="1" smtClean="0">
                <a:latin typeface="Times New Roman" panose="02020603050405020304" pitchFamily="18" charset="0"/>
                <a:cs typeface="Times New Roman" panose="02020603050405020304" pitchFamily="18" charset="0"/>
              </a:rPr>
              <a:t>Мінікамера</a:t>
            </a:r>
            <a:r>
              <a:rPr lang="uk-UA" sz="2900" dirty="0" smtClean="0">
                <a:latin typeface="Times New Roman" panose="02020603050405020304" pitchFamily="18" charset="0"/>
                <a:cs typeface="Times New Roman" panose="02020603050405020304" pitchFamily="18" charset="0"/>
              </a:rPr>
              <a:t> </a:t>
            </a:r>
            <a:r>
              <a:rPr lang="uk-UA" sz="2900" dirty="0">
                <a:latin typeface="Times New Roman" panose="02020603050405020304" pitchFamily="18" charset="0"/>
                <a:cs typeface="Times New Roman" panose="02020603050405020304" pitchFamily="18" charset="0"/>
              </a:rPr>
              <a:t>для </a:t>
            </a:r>
            <a:r>
              <a:rPr lang="uk-UA" sz="2900" dirty="0" err="1">
                <a:latin typeface="Times New Roman" panose="02020603050405020304" pitchFamily="18" charset="0"/>
                <a:cs typeface="Times New Roman" panose="02020603050405020304" pitchFamily="18" charset="0"/>
              </a:rPr>
              <a:t>квадрокоптерів</a:t>
            </a:r>
            <a:r>
              <a:rPr lang="uk-UA" sz="2900" dirty="0">
                <a:latin typeface="Times New Roman" panose="02020603050405020304" pitchFamily="18" charset="0"/>
                <a:cs typeface="Times New Roman" panose="02020603050405020304" pitchFamily="18" charset="0"/>
              </a:rPr>
              <a:t> - це пристрій, який відрізняється своїми габаритами від інших видів камер, і призначений для зйомки високоякісних зображень та відео</a:t>
            </a:r>
            <a:r>
              <a:rPr lang="uk-UA" sz="2900" dirty="0" smtClean="0">
                <a:latin typeface="Times New Roman" panose="02020603050405020304" pitchFamily="18" charset="0"/>
                <a:cs typeface="Times New Roman" panose="02020603050405020304" pitchFamily="18" charset="0"/>
              </a:rPr>
              <a:t>.</a:t>
            </a:r>
            <a:r>
              <a:rPr lang="ru-RU" sz="2900" dirty="0">
                <a:latin typeface="Times New Roman" panose="02020603050405020304" pitchFamily="18" charset="0"/>
                <a:cs typeface="Times New Roman" panose="02020603050405020304" pitchFamily="18" charset="0"/>
              </a:rPr>
              <a:t> </a:t>
            </a:r>
            <a:r>
              <a:rPr lang="ru-RU" sz="2900" dirty="0" err="1" smtClean="0">
                <a:latin typeface="Times New Roman" panose="02020603050405020304" pitchFamily="18" charset="0"/>
                <a:cs typeface="Times New Roman" panose="02020603050405020304" pitchFamily="18" charset="0"/>
              </a:rPr>
              <a:t>Мають</a:t>
            </a:r>
            <a:r>
              <a:rPr lang="uk-UA" sz="2900" dirty="0">
                <a:latin typeface="Times New Roman" panose="02020603050405020304" pitchFamily="18" charset="0"/>
                <a:cs typeface="Times New Roman" panose="02020603050405020304" pitchFamily="18" charset="0"/>
              </a:rPr>
              <a:t>   </a:t>
            </a:r>
            <a:r>
              <a:rPr lang="uk-UA" sz="2900" dirty="0" err="1">
                <a:latin typeface="Times New Roman" panose="02020603050405020304" pitchFamily="18" charset="0"/>
                <a:cs typeface="Times New Roman" panose="02020603050405020304" pitchFamily="18" charset="0"/>
              </a:rPr>
              <a:t>ш</a:t>
            </a:r>
            <a:r>
              <a:rPr lang="uk-UA" sz="2900" dirty="0" err="1" smtClean="0">
                <a:latin typeface="Times New Roman" panose="02020603050405020304" pitchFamily="18" charset="0"/>
                <a:cs typeface="Times New Roman" panose="02020603050405020304" pitchFamily="18" charset="0"/>
              </a:rPr>
              <a:t>ирококутовий</a:t>
            </a:r>
            <a:r>
              <a:rPr lang="uk-UA" sz="2900" dirty="0" smtClean="0">
                <a:latin typeface="Times New Roman" panose="02020603050405020304" pitchFamily="18" charset="0"/>
                <a:cs typeface="Times New Roman" panose="02020603050405020304" pitchFamily="18" charset="0"/>
              </a:rPr>
              <a:t> об'єктив;</a:t>
            </a:r>
            <a:r>
              <a:rPr lang="ru-RU" sz="2900" dirty="0">
                <a:latin typeface="Times New Roman" panose="02020603050405020304" pitchFamily="18" charset="0"/>
                <a:cs typeface="Times New Roman" panose="02020603050405020304" pitchFamily="18" charset="0"/>
              </a:rPr>
              <a:t> </a:t>
            </a:r>
            <a:r>
              <a:rPr lang="uk-UA" sz="2900" dirty="0" smtClean="0">
                <a:latin typeface="Times New Roman" panose="02020603050405020304" pitchFamily="18" charset="0"/>
                <a:cs typeface="Times New Roman" panose="02020603050405020304" pitchFamily="18" charset="0"/>
              </a:rPr>
              <a:t>Стабілізація </a:t>
            </a:r>
            <a:r>
              <a:rPr lang="uk-UA" sz="2900" dirty="0">
                <a:latin typeface="Times New Roman" panose="02020603050405020304" pitchFamily="18" charset="0"/>
                <a:cs typeface="Times New Roman" panose="02020603050405020304" pitchFamily="18" charset="0"/>
              </a:rPr>
              <a:t>зображення: мінімізує тремтіння камери для отримання чітких зображень.</a:t>
            </a:r>
            <a:endParaRPr lang="ru-RU" sz="2900" dirty="0">
              <a:latin typeface="Times New Roman" panose="02020603050405020304" pitchFamily="18" charset="0"/>
              <a:cs typeface="Times New Roman" panose="02020603050405020304" pitchFamily="18" charset="0"/>
            </a:endParaRPr>
          </a:p>
          <a:p>
            <a:r>
              <a:rPr lang="uk-UA" sz="2900" b="1" u="sng" dirty="0" err="1" smtClean="0">
                <a:latin typeface="Times New Roman" panose="02020603050405020304" pitchFamily="18" charset="0"/>
                <a:cs typeface="Times New Roman" panose="02020603050405020304" pitchFamily="18" charset="0"/>
              </a:rPr>
              <a:t>Bідеокамера</a:t>
            </a:r>
            <a:r>
              <a:rPr lang="ru-RU" sz="2900" u="sng" dirty="0" smtClean="0">
                <a:latin typeface="Times New Roman" panose="02020603050405020304" pitchFamily="18" charset="0"/>
                <a:cs typeface="Times New Roman" panose="02020603050405020304" pitchFamily="18" charset="0"/>
              </a:rPr>
              <a:t>. </a:t>
            </a:r>
            <a:r>
              <a:rPr lang="ru-RU" sz="2900" dirty="0" err="1" smtClean="0">
                <a:latin typeface="Times New Roman" panose="02020603050405020304" pitchFamily="18" charset="0"/>
                <a:cs typeface="Times New Roman" panose="02020603050405020304" pitchFamily="18" charset="0"/>
              </a:rPr>
              <a:t>Відеокамера</a:t>
            </a:r>
            <a:r>
              <a:rPr lang="ru-RU" sz="2900" dirty="0" smtClean="0">
                <a:latin typeface="Times New Roman" panose="02020603050405020304" pitchFamily="18" charset="0"/>
                <a:cs typeface="Times New Roman" panose="02020603050405020304" pitchFamily="18" charset="0"/>
              </a:rPr>
              <a:t> </a:t>
            </a:r>
            <a:r>
              <a:rPr lang="ru-RU" sz="2900" dirty="0">
                <a:latin typeface="Times New Roman" panose="02020603050405020304" pitchFamily="18" charset="0"/>
                <a:cs typeface="Times New Roman" panose="02020603050405020304" pitchFamily="18" charset="0"/>
              </a:rPr>
              <a:t>для </a:t>
            </a:r>
            <a:r>
              <a:rPr lang="ru-RU" sz="2900" dirty="0" err="1">
                <a:latin typeface="Times New Roman" panose="02020603050405020304" pitchFamily="18" charset="0"/>
                <a:cs typeface="Times New Roman" panose="02020603050405020304" pitchFamily="18" charset="0"/>
              </a:rPr>
              <a:t>квадрокоптера</a:t>
            </a:r>
            <a:r>
              <a:rPr lang="ru-RU" sz="2900" dirty="0">
                <a:latin typeface="Times New Roman" panose="02020603050405020304" pitchFamily="18" charset="0"/>
                <a:cs typeface="Times New Roman" panose="02020603050405020304" pitchFamily="18" charset="0"/>
              </a:rPr>
              <a:t> - </a:t>
            </a:r>
            <a:r>
              <a:rPr lang="ru-RU" sz="2900" dirty="0" err="1">
                <a:latin typeface="Times New Roman" panose="02020603050405020304" pitchFamily="18" charset="0"/>
                <a:cs typeface="Times New Roman" panose="02020603050405020304" pitchFamily="18" charset="0"/>
              </a:rPr>
              <a:t>це</a:t>
            </a:r>
            <a:r>
              <a:rPr lang="ru-RU" sz="2900" dirty="0">
                <a:latin typeface="Times New Roman" panose="02020603050405020304" pitchFamily="18" charset="0"/>
                <a:cs typeface="Times New Roman" panose="02020603050405020304" pitchFamily="18" charset="0"/>
              </a:rPr>
              <a:t>, як правило, </a:t>
            </a:r>
            <a:r>
              <a:rPr lang="ru-RU" sz="2900" dirty="0" err="1">
                <a:latin typeface="Times New Roman" panose="02020603050405020304" pitchFamily="18" charset="0"/>
                <a:cs typeface="Times New Roman" panose="02020603050405020304" pitchFamily="18" charset="0"/>
              </a:rPr>
              <a:t>вбудована</a:t>
            </a:r>
            <a:r>
              <a:rPr lang="ru-RU" sz="2900" dirty="0">
                <a:latin typeface="Times New Roman" panose="02020603050405020304" pitchFamily="18" charset="0"/>
                <a:cs typeface="Times New Roman" panose="02020603050405020304" pitchFamily="18" charset="0"/>
              </a:rPr>
              <a:t> в </a:t>
            </a:r>
            <a:r>
              <a:rPr lang="ru-RU" sz="2900" dirty="0" err="1">
                <a:latin typeface="Times New Roman" panose="02020603050405020304" pitchFamily="18" charset="0"/>
                <a:cs typeface="Times New Roman" panose="02020603050405020304" pitchFamily="18" charset="0"/>
              </a:rPr>
              <a:t>квадрокоптер</a:t>
            </a:r>
            <a:r>
              <a:rPr lang="ru-RU" sz="2900" dirty="0">
                <a:latin typeface="Times New Roman" panose="02020603050405020304" pitchFamily="18" charset="0"/>
                <a:cs typeface="Times New Roman" panose="02020603050405020304" pitchFamily="18" charset="0"/>
              </a:rPr>
              <a:t> камера, </a:t>
            </a:r>
            <a:r>
              <a:rPr lang="ru-RU" sz="2900" dirty="0" err="1">
                <a:latin typeface="Times New Roman" panose="02020603050405020304" pitchFamily="18" charset="0"/>
                <a:cs typeface="Times New Roman" panose="02020603050405020304" pitchFamily="18" charset="0"/>
              </a:rPr>
              <a:t>призначена</a:t>
            </a:r>
            <a:r>
              <a:rPr lang="ru-RU" sz="2900" dirty="0">
                <a:latin typeface="Times New Roman" panose="02020603050405020304" pitchFamily="18" charset="0"/>
                <a:cs typeface="Times New Roman" panose="02020603050405020304" pitchFamily="18" charset="0"/>
              </a:rPr>
              <a:t> для </a:t>
            </a:r>
            <a:r>
              <a:rPr lang="ru-RU" sz="2900" dirty="0" err="1">
                <a:latin typeface="Times New Roman" panose="02020603050405020304" pitchFamily="18" charset="0"/>
                <a:cs typeface="Times New Roman" panose="02020603050405020304" pitchFamily="18" charset="0"/>
              </a:rPr>
              <a:t>зйомки</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високоякісних</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зображень</a:t>
            </a:r>
            <a:r>
              <a:rPr lang="ru-RU" sz="2900" dirty="0">
                <a:latin typeface="Times New Roman" panose="02020603050405020304" pitchFamily="18" charset="0"/>
                <a:cs typeface="Times New Roman" panose="02020603050405020304" pitchFamily="18" charset="0"/>
              </a:rPr>
              <a:t> та </a:t>
            </a:r>
            <a:r>
              <a:rPr lang="ru-RU" sz="2900" dirty="0" err="1">
                <a:latin typeface="Times New Roman" panose="02020603050405020304" pitchFamily="18" charset="0"/>
                <a:cs typeface="Times New Roman" panose="02020603050405020304" pitchFamily="18" charset="0"/>
              </a:rPr>
              <a:t>відео</a:t>
            </a:r>
            <a:r>
              <a:rPr lang="ru-RU" sz="2900" dirty="0" smtClean="0">
                <a:latin typeface="Times New Roman" panose="02020603050405020304" pitchFamily="18" charset="0"/>
                <a:cs typeface="Times New Roman" panose="02020603050405020304" pitchFamily="18" charset="0"/>
              </a:rPr>
              <a:t>. </a:t>
            </a:r>
            <a:r>
              <a:rPr lang="uk-UA" sz="2900" dirty="0">
                <a:latin typeface="Times New Roman" panose="02020603050405020304" pitchFamily="18" charset="0"/>
                <a:cs typeface="Times New Roman" panose="02020603050405020304" pitchFamily="18" charset="0"/>
              </a:rPr>
              <a:t>Мають найкращу стабілізацію зображення</a:t>
            </a:r>
            <a:r>
              <a:rPr lang="uk-UA" sz="2900" dirty="0" smtClean="0">
                <a:latin typeface="Times New Roman" panose="02020603050405020304" pitchFamily="18" charset="0"/>
                <a:cs typeface="Times New Roman" panose="02020603050405020304" pitchFamily="18" charset="0"/>
              </a:rPr>
              <a:t>.</a:t>
            </a:r>
            <a:endParaRPr lang="ru-RU" sz="2900" dirty="0">
              <a:latin typeface="Times New Roman" panose="02020603050405020304" pitchFamily="18" charset="0"/>
              <a:cs typeface="Times New Roman" panose="02020603050405020304" pitchFamily="18" charset="0"/>
            </a:endParaRPr>
          </a:p>
          <a:p>
            <a:r>
              <a:rPr lang="uk-UA" sz="2900" dirty="0" smtClean="0">
                <a:latin typeface="Times New Roman" panose="02020603050405020304" pitchFamily="18" charset="0"/>
                <a:cs typeface="Times New Roman" panose="02020603050405020304" pitchFamily="18" charset="0"/>
              </a:rPr>
              <a:t>●</a:t>
            </a:r>
            <a:r>
              <a:rPr lang="uk-UA" sz="2900" dirty="0">
                <a:latin typeface="Times New Roman" panose="02020603050405020304" pitchFamily="18" charset="0"/>
                <a:cs typeface="Times New Roman" panose="02020603050405020304" pitchFamily="18" charset="0"/>
              </a:rPr>
              <a:t>     Роздільна здатність досягає якості </a:t>
            </a:r>
            <a:r>
              <a:rPr lang="uk-UA" sz="2900" dirty="0" err="1">
                <a:latin typeface="Times New Roman" panose="02020603050405020304" pitchFamily="18" charset="0"/>
                <a:cs typeface="Times New Roman" panose="02020603050405020304" pitchFamily="18" charset="0"/>
              </a:rPr>
              <a:t>UltraFHD</a:t>
            </a:r>
            <a:r>
              <a:rPr lang="uk-UA" sz="2900" dirty="0">
                <a:latin typeface="Times New Roman" panose="02020603050405020304" pitchFamily="18" charset="0"/>
                <a:cs typeface="Times New Roman" panose="02020603050405020304" pitchFamily="18" charset="0"/>
              </a:rPr>
              <a:t> 4К, що забезпечує високу деталізацію зображення.</a:t>
            </a:r>
            <a:endParaRPr lang="ru-RU" sz="2900" dirty="0">
              <a:latin typeface="Times New Roman" panose="02020603050405020304" pitchFamily="18" charset="0"/>
              <a:cs typeface="Times New Roman" panose="02020603050405020304" pitchFamily="18" charset="0"/>
            </a:endParaRPr>
          </a:p>
          <a:p>
            <a:r>
              <a:rPr lang="uk-UA" sz="2900" dirty="0" smtClean="0">
                <a:latin typeface="Times New Roman" panose="02020603050405020304" pitchFamily="18" charset="0"/>
                <a:cs typeface="Times New Roman" panose="02020603050405020304" pitchFamily="18" charset="0"/>
              </a:rPr>
              <a:t>●</a:t>
            </a:r>
            <a:r>
              <a:rPr lang="uk-UA" sz="2900" dirty="0">
                <a:latin typeface="Times New Roman" panose="02020603050405020304" pitchFamily="18" charset="0"/>
                <a:cs typeface="Times New Roman" panose="02020603050405020304" pitchFamily="18" charset="0"/>
              </a:rPr>
              <a:t>     Мають різні стандарти стиснення, наприклад, H.264 та H.265, що впливає на якість відео та </a:t>
            </a:r>
            <a:r>
              <a:rPr lang="uk-UA" sz="2900" dirty="0" err="1">
                <a:latin typeface="Times New Roman" panose="02020603050405020304" pitchFamily="18" charset="0"/>
                <a:cs typeface="Times New Roman" panose="02020603050405020304" pitchFamily="18" charset="0"/>
              </a:rPr>
              <a:t>бітрейт</a:t>
            </a:r>
            <a:r>
              <a:rPr lang="uk-UA" sz="2900" dirty="0">
                <a:latin typeface="Times New Roman" panose="02020603050405020304" pitchFamily="18" charset="0"/>
                <a:cs typeface="Times New Roman" panose="02020603050405020304" pitchFamily="18" charset="0"/>
              </a:rPr>
              <a:t>.</a:t>
            </a:r>
            <a:endParaRPr lang="ru-RU" sz="2900" dirty="0">
              <a:latin typeface="Times New Roman" panose="02020603050405020304" pitchFamily="18" charset="0"/>
              <a:cs typeface="Times New Roman" panose="02020603050405020304" pitchFamily="18" charset="0"/>
            </a:endParaRPr>
          </a:p>
          <a:p>
            <a:endParaRPr lang="ru-RU" sz="2900" dirty="0" smtClean="0">
              <a:latin typeface="Times New Roman" panose="02020603050405020304" pitchFamily="18" charset="0"/>
              <a:cs typeface="Times New Roman" panose="02020603050405020304" pitchFamily="18" charset="0"/>
            </a:endParaRPr>
          </a:p>
          <a:p>
            <a:r>
              <a:rPr lang="ru-RU" sz="2900" dirty="0" err="1" smtClean="0">
                <a:latin typeface="Times New Roman" panose="02020603050405020304" pitchFamily="18" charset="0"/>
                <a:cs typeface="Times New Roman" panose="02020603050405020304" pitchFamily="18" charset="0"/>
              </a:rPr>
              <a:t>Багато</a:t>
            </a:r>
            <a:r>
              <a:rPr lang="ru-RU" sz="2900" dirty="0" smtClean="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хто</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задається</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питанням</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якими</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бувають</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камери</a:t>
            </a:r>
            <a:r>
              <a:rPr lang="ru-RU" sz="2900" dirty="0">
                <a:latin typeface="Times New Roman" panose="02020603050405020304" pitchFamily="18" charset="0"/>
                <a:cs typeface="Times New Roman" panose="02020603050405020304" pitchFamily="18" charset="0"/>
              </a:rPr>
              <a:t> для </a:t>
            </a:r>
            <a:r>
              <a:rPr lang="ru-RU" sz="2900" dirty="0" err="1">
                <a:latin typeface="Times New Roman" panose="02020603050405020304" pitchFamily="18" charset="0"/>
                <a:cs typeface="Times New Roman" panose="02020603050405020304" pitchFamily="18" charset="0"/>
              </a:rPr>
              <a:t>дронів</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вбудованими</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чи</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виступають</a:t>
            </a:r>
            <a:r>
              <a:rPr lang="ru-RU" sz="2900" dirty="0">
                <a:latin typeface="Times New Roman" panose="02020603050405020304" pitchFamily="18" charset="0"/>
                <a:cs typeface="Times New Roman" panose="02020603050405020304" pitchFamily="18" charset="0"/>
              </a:rPr>
              <a:t> як </a:t>
            </a:r>
            <a:r>
              <a:rPr lang="ru-RU" sz="2900" dirty="0" err="1">
                <a:latin typeface="Times New Roman" panose="02020603050405020304" pitchFamily="18" charset="0"/>
                <a:cs typeface="Times New Roman" panose="02020603050405020304" pitchFamily="18" charset="0"/>
              </a:rPr>
              <a:t>додаткове</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обладнання</a:t>
            </a:r>
            <a:r>
              <a:rPr lang="ru-RU" sz="2900" dirty="0">
                <a:latin typeface="Times New Roman" panose="02020603050405020304" pitchFamily="18" charset="0"/>
                <a:cs typeface="Times New Roman" panose="02020603050405020304" pitchFamily="18" charset="0"/>
              </a:rPr>
              <a:t>? </a:t>
            </a:r>
            <a:r>
              <a:rPr lang="ru-RU" sz="2900" dirty="0" err="1" smtClean="0">
                <a:latin typeface="Times New Roman" panose="02020603050405020304" pitchFamily="18" charset="0"/>
                <a:cs typeface="Times New Roman" panose="02020603050405020304" pitchFamily="18" charset="0"/>
              </a:rPr>
              <a:t>Пояснюю</a:t>
            </a:r>
            <a:r>
              <a:rPr lang="ru-RU" sz="2900" dirty="0" smtClean="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що</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відеокамера</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може</a:t>
            </a:r>
            <a:r>
              <a:rPr lang="ru-RU" sz="2900" dirty="0">
                <a:latin typeface="Times New Roman" panose="02020603050405020304" pitchFamily="18" charset="0"/>
                <a:cs typeface="Times New Roman" panose="02020603050405020304" pitchFamily="18" charset="0"/>
              </a:rPr>
              <a:t> бути </a:t>
            </a:r>
            <a:r>
              <a:rPr lang="ru-RU" sz="2900" dirty="0" err="1">
                <a:latin typeface="Times New Roman" panose="02020603050405020304" pitchFamily="18" charset="0"/>
                <a:cs typeface="Times New Roman" panose="02020603050405020304" pitchFamily="18" charset="0"/>
              </a:rPr>
              <a:t>вже</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вбудована</a:t>
            </a:r>
            <a:r>
              <a:rPr lang="ru-RU" sz="2900" dirty="0">
                <a:latin typeface="Times New Roman" panose="02020603050405020304" pitchFamily="18" charset="0"/>
                <a:cs typeface="Times New Roman" panose="02020603050405020304" pitchFamily="18" charset="0"/>
              </a:rPr>
              <a:t> в </a:t>
            </a:r>
            <a:r>
              <a:rPr lang="ru-RU" sz="2900" dirty="0" err="1">
                <a:latin typeface="Times New Roman" panose="02020603050405020304" pitchFamily="18" charset="0"/>
                <a:cs typeface="Times New Roman" panose="02020603050405020304" pitchFamily="18" charset="0"/>
              </a:rPr>
              <a:t>безпілотник</a:t>
            </a:r>
            <a:r>
              <a:rPr lang="ru-RU" sz="2900" dirty="0">
                <a:latin typeface="Times New Roman" panose="02020603050405020304" pitchFamily="18" charset="0"/>
                <a:cs typeface="Times New Roman" panose="02020603050405020304" pitchFamily="18" charset="0"/>
              </a:rPr>
              <a:t>, а </a:t>
            </a:r>
            <a:r>
              <a:rPr lang="ru-RU" sz="2900" dirty="0" err="1">
                <a:latin typeface="Times New Roman" panose="02020603050405020304" pitchFamily="18" charset="0"/>
                <a:cs typeface="Times New Roman" panose="02020603050405020304" pitchFamily="18" charset="0"/>
              </a:rPr>
              <a:t>може</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виступати</a:t>
            </a:r>
            <a:r>
              <a:rPr lang="ru-RU" sz="2900" dirty="0">
                <a:latin typeface="Times New Roman" panose="02020603050405020304" pitchFamily="18" charset="0"/>
                <a:cs typeface="Times New Roman" panose="02020603050405020304" pitchFamily="18" charset="0"/>
              </a:rPr>
              <a:t> </a:t>
            </a:r>
            <a:r>
              <a:rPr lang="ru-RU" sz="2900" dirty="0" err="1">
                <a:latin typeface="Times New Roman" panose="02020603050405020304" pitchFamily="18" charset="0"/>
                <a:cs typeface="Times New Roman" panose="02020603050405020304" pitchFamily="18" charset="0"/>
              </a:rPr>
              <a:t>окремим</a:t>
            </a:r>
            <a:r>
              <a:rPr lang="ru-RU" sz="2900" dirty="0">
                <a:latin typeface="Times New Roman" panose="02020603050405020304" pitchFamily="18" charset="0"/>
                <a:cs typeface="Times New Roman" panose="02020603050405020304" pitchFamily="18" charset="0"/>
              </a:rPr>
              <a:t> сегментом.</a:t>
            </a:r>
          </a:p>
          <a:p>
            <a:endParaRPr lang="ru-RU" dirty="0"/>
          </a:p>
        </p:txBody>
      </p:sp>
    </p:spTree>
    <p:extLst>
      <p:ext uri="{BB962C8B-B14F-4D97-AF65-F5344CB8AC3E}">
        <p14:creationId xmlns:p14="http://schemas.microsoft.com/office/powerpoint/2010/main" val="38595134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986589" y="533400"/>
            <a:ext cx="7204910" cy="5927557"/>
          </a:xfrm>
        </p:spPr>
        <p:txBody>
          <a:bodyPr>
            <a:normAutofit fontScale="25000" lnSpcReduction="20000"/>
          </a:bodyPr>
          <a:lstStyle/>
          <a:p>
            <a:endParaRPr lang="uk-UA" b="1" dirty="0" smtClean="0"/>
          </a:p>
          <a:p>
            <a:pPr marL="0" indent="0">
              <a:buNone/>
            </a:pPr>
            <a:r>
              <a:rPr lang="ru-RU" dirty="0" smtClean="0"/>
              <a:t>●</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Стійкі</a:t>
            </a:r>
            <a:r>
              <a:rPr lang="ru-RU" sz="5600" dirty="0">
                <a:latin typeface="Times New Roman" panose="02020603050405020304" pitchFamily="18" charset="0"/>
                <a:cs typeface="Times New Roman" panose="02020603050405020304" pitchFamily="18" charset="0"/>
              </a:rPr>
              <a:t> до </a:t>
            </a:r>
            <a:r>
              <a:rPr lang="ru-RU" sz="5600" dirty="0" err="1">
                <a:latin typeface="Times New Roman" panose="02020603050405020304" pitchFamily="18" charset="0"/>
                <a:cs typeface="Times New Roman" panose="02020603050405020304" pitchFamily="18" charset="0"/>
              </a:rPr>
              <a:t>негоди</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сильних</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вібрацій</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ударостійкі</a:t>
            </a:r>
            <a:r>
              <a:rPr lang="ru-RU" sz="5600" dirty="0" smtClean="0">
                <a:latin typeface="Times New Roman" panose="02020603050405020304" pitchFamily="18" charset="0"/>
                <a:cs typeface="Times New Roman" panose="02020603050405020304" pitchFamily="18" charset="0"/>
              </a:rPr>
              <a:t>. ●</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Мають</a:t>
            </a:r>
            <a:r>
              <a:rPr lang="ru-RU" sz="5600" dirty="0">
                <a:latin typeface="Times New Roman" panose="02020603050405020304" pitchFamily="18" charset="0"/>
                <a:cs typeface="Times New Roman" panose="02020603050405020304" pitchFamily="18" charset="0"/>
              </a:rPr>
              <a:t> широкий кут </a:t>
            </a:r>
            <a:r>
              <a:rPr lang="ru-RU" sz="5600" dirty="0" err="1">
                <a:latin typeface="Times New Roman" panose="02020603050405020304" pitchFamily="18" charset="0"/>
                <a:cs typeface="Times New Roman" panose="02020603050405020304" pitchFamily="18" charset="0"/>
              </a:rPr>
              <a:t>зору</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від</a:t>
            </a:r>
            <a:r>
              <a:rPr lang="ru-RU" sz="5600" dirty="0">
                <a:latin typeface="Times New Roman" panose="02020603050405020304" pitchFamily="18" charset="0"/>
                <a:cs typeface="Times New Roman" panose="02020603050405020304" pitchFamily="18" charset="0"/>
              </a:rPr>
              <a:t> 170</a:t>
            </a:r>
            <a:r>
              <a:rPr lang="ru-RU" sz="5600" baseline="30000" dirty="0">
                <a:latin typeface="Times New Roman" panose="02020603050405020304" pitchFamily="18" charset="0"/>
                <a:cs typeface="Times New Roman" panose="02020603050405020304" pitchFamily="18" charset="0"/>
              </a:rPr>
              <a:t>о</a:t>
            </a:r>
            <a:r>
              <a:rPr lang="ru-RU" sz="5600" dirty="0">
                <a:latin typeface="Times New Roman" panose="02020603050405020304" pitchFamily="18" charset="0"/>
                <a:cs typeface="Times New Roman" panose="02020603050405020304" pitchFamily="18" charset="0"/>
              </a:rPr>
              <a:t> до </a:t>
            </a:r>
            <a:r>
              <a:rPr lang="ru-RU" sz="5600" dirty="0" smtClean="0">
                <a:latin typeface="Times New Roman" panose="02020603050405020304" pitchFamily="18" charset="0"/>
                <a:cs typeface="Times New Roman" panose="02020603050405020304" pitchFamily="18" charset="0"/>
              </a:rPr>
              <a:t>360</a:t>
            </a:r>
            <a:r>
              <a:rPr lang="ru-RU" sz="5600" baseline="30000" dirty="0" smtClean="0">
                <a:latin typeface="Times New Roman" panose="02020603050405020304" pitchFamily="18" charset="0"/>
                <a:cs typeface="Times New Roman" panose="02020603050405020304" pitchFamily="18" charset="0"/>
              </a:rPr>
              <a:t>о</a:t>
            </a:r>
          </a:p>
          <a:p>
            <a:pPr marL="0" indent="0">
              <a:buNone/>
            </a:pPr>
            <a:endParaRPr lang="ru-RU" sz="5600" dirty="0">
              <a:latin typeface="Times New Roman" panose="02020603050405020304" pitchFamily="18" charset="0"/>
              <a:cs typeface="Times New Roman" panose="02020603050405020304" pitchFamily="18" charset="0"/>
            </a:endParaRPr>
          </a:p>
          <a:p>
            <a:pPr marL="0" indent="0">
              <a:buNone/>
            </a:pP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Забезпечують</a:t>
            </a:r>
            <a:r>
              <a:rPr lang="ru-RU" sz="5600" dirty="0">
                <a:latin typeface="Times New Roman" panose="02020603050405020304" pitchFamily="18" charset="0"/>
                <a:cs typeface="Times New Roman" panose="02020603050405020304" pitchFamily="18" charset="0"/>
              </a:rPr>
              <a:t> </a:t>
            </a:r>
            <a:r>
              <a:rPr lang="ru-RU" sz="5600" dirty="0" err="1" smtClean="0">
                <a:latin typeface="Times New Roman" panose="02020603050405020304" pitchFamily="18" charset="0"/>
                <a:cs typeface="Times New Roman" panose="02020603050405020304" pitchFamily="18" charset="0"/>
              </a:rPr>
              <a:t>кількість</a:t>
            </a:r>
            <a:r>
              <a:rPr lang="ru-RU" sz="5600" dirty="0" smtClean="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кадрів</a:t>
            </a:r>
            <a:r>
              <a:rPr lang="ru-RU" sz="5600" dirty="0">
                <a:latin typeface="Times New Roman" panose="02020603050405020304" pitchFamily="18" charset="0"/>
                <a:cs typeface="Times New Roman" panose="02020603050405020304" pitchFamily="18" charset="0"/>
              </a:rPr>
              <a:t> до 120 за секунду</a:t>
            </a:r>
            <a:r>
              <a:rPr lang="ru-RU" sz="5600" dirty="0" smtClean="0">
                <a:latin typeface="Times New Roman" panose="02020603050405020304" pitchFamily="18" charset="0"/>
                <a:cs typeface="Times New Roman" panose="02020603050405020304" pitchFamily="18" charset="0"/>
              </a:rPr>
              <a:t>.</a:t>
            </a:r>
          </a:p>
          <a:p>
            <a:pPr marL="0" indent="0">
              <a:buNone/>
            </a:pPr>
            <a:endParaRPr lang="ru-RU" sz="5600" dirty="0">
              <a:latin typeface="Times New Roman" panose="02020603050405020304" pitchFamily="18" charset="0"/>
              <a:cs typeface="Times New Roman" panose="02020603050405020304" pitchFamily="18" charset="0"/>
            </a:endParaRPr>
          </a:p>
          <a:p>
            <a:pPr marL="0" indent="0">
              <a:buNone/>
            </a:pPr>
            <a:r>
              <a:rPr lang="uk-UA" sz="5600" b="1" u="sng" dirty="0" err="1" smtClean="0">
                <a:latin typeface="Times New Roman" panose="02020603050405020304" pitchFamily="18" charset="0"/>
                <a:cs typeface="Times New Roman" panose="02020603050405020304" pitchFamily="18" charset="0"/>
              </a:rPr>
              <a:t>Екшн</a:t>
            </a:r>
            <a:r>
              <a:rPr lang="uk-UA" sz="5600" b="1" u="sng" dirty="0" smtClean="0">
                <a:latin typeface="Times New Roman" panose="02020603050405020304" pitchFamily="18" charset="0"/>
                <a:cs typeface="Times New Roman" panose="02020603050405020304" pitchFamily="18" charset="0"/>
              </a:rPr>
              <a:t>-камер</a:t>
            </a:r>
            <a:r>
              <a:rPr lang="uk-UA" sz="5600" u="sng" dirty="0" smtClean="0">
                <a:latin typeface="Times New Roman" panose="02020603050405020304" pitchFamily="18" charset="0"/>
                <a:cs typeface="Times New Roman" panose="02020603050405020304" pitchFamily="18" charset="0"/>
              </a:rPr>
              <a:t>а </a:t>
            </a:r>
            <a:r>
              <a:rPr lang="uk-UA" sz="5600" dirty="0" smtClean="0">
                <a:latin typeface="Times New Roman" panose="02020603050405020304" pitchFamily="18" charset="0"/>
                <a:cs typeface="Times New Roman" panose="02020603050405020304" pitchFamily="18" charset="0"/>
              </a:rPr>
              <a:t>для </a:t>
            </a:r>
            <a:r>
              <a:rPr lang="uk-UA" sz="5600" dirty="0" err="1" smtClean="0">
                <a:latin typeface="Times New Roman" panose="02020603050405020304" pitchFamily="18" charset="0"/>
                <a:cs typeface="Times New Roman" panose="02020603050405020304" pitchFamily="18" charset="0"/>
              </a:rPr>
              <a:t>дрона</a:t>
            </a:r>
            <a:r>
              <a:rPr lang="uk-UA" sz="5600" dirty="0" smtClean="0">
                <a:latin typeface="Times New Roman" panose="02020603050405020304" pitchFamily="18" charset="0"/>
                <a:cs typeface="Times New Roman" panose="02020603050405020304" pitchFamily="18" charset="0"/>
              </a:rPr>
              <a:t> – це невеликий і міцний пристрій, що має чудову водонепроникну властивість, а також здатний витримувати високі швидкості та вібрації в польоті</a:t>
            </a:r>
            <a:r>
              <a:rPr lang="uk-UA" sz="5600" dirty="0" smtClean="0">
                <a:latin typeface="Times New Roman" panose="02020603050405020304" pitchFamily="18" charset="0"/>
                <a:cs typeface="Times New Roman" panose="02020603050405020304" pitchFamily="18" charset="0"/>
              </a:rPr>
              <a:t>.</a:t>
            </a:r>
          </a:p>
          <a:p>
            <a:pPr marL="0" indent="0">
              <a:buNone/>
            </a:pP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Оснащені</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спеціальними</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кріпленнями</a:t>
            </a:r>
            <a:r>
              <a:rPr lang="ru-RU" sz="5600" dirty="0">
                <a:latin typeface="Times New Roman" panose="02020603050405020304" pitchFamily="18" charset="0"/>
                <a:cs typeface="Times New Roman" panose="02020603050405020304" pitchFamily="18" charset="0"/>
              </a:rPr>
              <a:t>, </a:t>
            </a:r>
            <a:r>
              <a:rPr lang="uk-UA" sz="5600" dirty="0">
                <a:latin typeface="Times New Roman" panose="02020603050405020304" pitchFamily="18" charset="0"/>
                <a:cs typeface="Times New Roman" panose="02020603050405020304" pitchFamily="18" charset="0"/>
              </a:rPr>
              <a:t>через</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що</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екшн</a:t>
            </a:r>
            <a:r>
              <a:rPr lang="ru-RU" sz="5600" dirty="0">
                <a:latin typeface="Times New Roman" panose="02020603050405020304" pitchFamily="18" charset="0"/>
                <a:cs typeface="Times New Roman" panose="02020603050405020304" pitchFamily="18" charset="0"/>
              </a:rPr>
              <a:t>-камер</a:t>
            </a:r>
            <a:r>
              <a:rPr lang="uk-UA" sz="5600" dirty="0">
                <a:latin typeface="Times New Roman" panose="02020603050405020304" pitchFamily="18" charset="0"/>
                <a:cs typeface="Times New Roman" panose="02020603050405020304" pitchFamily="18" charset="0"/>
              </a:rPr>
              <a:t>у</a:t>
            </a:r>
            <a:r>
              <a:rPr lang="ru-RU" sz="5600" dirty="0">
                <a:latin typeface="Times New Roman" panose="02020603050405020304" pitchFamily="18" charset="0"/>
                <a:cs typeface="Times New Roman" panose="02020603050405020304" pitchFamily="18" charset="0"/>
              </a:rPr>
              <a:t> не </a:t>
            </a:r>
            <a:r>
              <a:rPr lang="ru-RU" sz="5600" dirty="0" err="1">
                <a:latin typeface="Times New Roman" panose="02020603050405020304" pitchFamily="18" charset="0"/>
                <a:cs typeface="Times New Roman" panose="02020603050405020304" pitchFamily="18" charset="0"/>
              </a:rPr>
              <a:t>важко</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прикріпити</a:t>
            </a:r>
            <a:r>
              <a:rPr lang="ru-RU" sz="5600" dirty="0">
                <a:latin typeface="Times New Roman" panose="02020603050405020304" pitchFamily="18" charset="0"/>
                <a:cs typeface="Times New Roman" panose="02020603050405020304" pitchFamily="18" charset="0"/>
              </a:rPr>
              <a:t> до </a:t>
            </a:r>
            <a:r>
              <a:rPr lang="ru-RU" sz="5600" dirty="0" err="1">
                <a:latin typeface="Times New Roman" panose="02020603050405020304" pitchFamily="18" charset="0"/>
                <a:cs typeface="Times New Roman" panose="02020603050405020304" pitchFamily="18" charset="0"/>
              </a:rPr>
              <a:t>квадрокоптера</a:t>
            </a:r>
            <a:r>
              <a:rPr lang="ru-RU" sz="5600" dirty="0" smtClean="0">
                <a:latin typeface="Times New Roman" panose="02020603050405020304" pitchFamily="18" charset="0"/>
                <a:cs typeface="Times New Roman" panose="02020603050405020304" pitchFamily="18" charset="0"/>
              </a:rPr>
              <a:t>.</a:t>
            </a:r>
          </a:p>
          <a:p>
            <a:pPr marL="0" indent="0">
              <a:buNone/>
            </a:pPr>
            <a:endParaRPr lang="ru-RU" sz="5600" dirty="0">
              <a:latin typeface="Times New Roman" panose="02020603050405020304" pitchFamily="18" charset="0"/>
              <a:cs typeface="Times New Roman" panose="02020603050405020304" pitchFamily="18" charset="0"/>
            </a:endParaRPr>
          </a:p>
          <a:p>
            <a:pPr marL="0" indent="0">
              <a:buNone/>
            </a:pPr>
            <a:r>
              <a:rPr lang="ru-RU" sz="5600" b="1" u="sng" dirty="0" err="1" smtClean="0">
                <a:latin typeface="Times New Roman" panose="02020603050405020304" pitchFamily="18" charset="0"/>
                <a:cs typeface="Times New Roman" panose="02020603050405020304" pitchFamily="18" charset="0"/>
              </a:rPr>
              <a:t>Тепловізійна</a:t>
            </a:r>
            <a:r>
              <a:rPr lang="ru-RU" sz="5600" b="1" u="sng" dirty="0" smtClean="0">
                <a:latin typeface="Times New Roman" panose="02020603050405020304" pitchFamily="18" charset="0"/>
                <a:cs typeface="Times New Roman" panose="02020603050405020304" pitchFamily="18" charset="0"/>
              </a:rPr>
              <a:t> </a:t>
            </a:r>
            <a:r>
              <a:rPr lang="ru-RU" sz="5600" b="1" u="sng" dirty="0">
                <a:latin typeface="Times New Roman" panose="02020603050405020304" pitchFamily="18" charset="0"/>
                <a:cs typeface="Times New Roman" panose="02020603050405020304" pitchFamily="18" charset="0"/>
              </a:rPr>
              <a:t>камера </a:t>
            </a:r>
            <a:r>
              <a:rPr lang="ru-RU" sz="5600" dirty="0">
                <a:latin typeface="Times New Roman" panose="02020603050405020304" pitchFamily="18" charset="0"/>
                <a:cs typeface="Times New Roman" panose="02020603050405020304" pitchFamily="18" charset="0"/>
              </a:rPr>
              <a:t>для </a:t>
            </a:r>
            <a:r>
              <a:rPr lang="ru-RU" sz="5600" dirty="0" err="1">
                <a:latin typeface="Times New Roman" panose="02020603050405020304" pitchFamily="18" charset="0"/>
                <a:cs typeface="Times New Roman" panose="02020603050405020304" pitchFamily="18" charset="0"/>
              </a:rPr>
              <a:t>квадрокоптера</a:t>
            </a:r>
            <a:r>
              <a:rPr lang="ru-RU" sz="5600" dirty="0">
                <a:latin typeface="Times New Roman" panose="02020603050405020304" pitchFamily="18" charset="0"/>
                <a:cs typeface="Times New Roman" panose="02020603050405020304" pitchFamily="18" charset="0"/>
              </a:rPr>
              <a:t> є </a:t>
            </a:r>
            <a:r>
              <a:rPr lang="ru-RU" sz="5600" dirty="0" err="1">
                <a:latin typeface="Times New Roman" panose="02020603050405020304" pitchFamily="18" charset="0"/>
                <a:cs typeface="Times New Roman" panose="02020603050405020304" pitchFamily="18" charset="0"/>
              </a:rPr>
              <a:t>додатковим</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обладнанням</a:t>
            </a:r>
            <a:r>
              <a:rPr lang="ru-RU" sz="5600" dirty="0">
                <a:latin typeface="Times New Roman" panose="02020603050405020304" pitchFamily="18" charset="0"/>
                <a:cs typeface="Times New Roman" panose="02020603050405020304" pitchFamily="18" charset="0"/>
              </a:rPr>
              <a:t>, яке </a:t>
            </a:r>
            <a:r>
              <a:rPr lang="ru-RU" sz="5600" dirty="0" err="1">
                <a:latin typeface="Times New Roman" panose="02020603050405020304" pitchFamily="18" charset="0"/>
                <a:cs typeface="Times New Roman" panose="02020603050405020304" pitchFamily="18" charset="0"/>
              </a:rPr>
              <a:t>зчитує</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температури</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досліджуваних</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поверхонь</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Такі</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камери</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оснащені</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об'єктивом</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особливої</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конструкції</a:t>
            </a:r>
            <a:r>
              <a:rPr lang="ru-RU" sz="5600" dirty="0">
                <a:latin typeface="Times New Roman" panose="02020603050405020304" pitchFamily="18" charset="0"/>
                <a:cs typeface="Times New Roman" panose="02020603050405020304" pitchFamily="18" charset="0"/>
              </a:rPr>
              <a:t> та датчиками, </a:t>
            </a:r>
            <a:r>
              <a:rPr lang="ru-RU" sz="5600" dirty="0" err="1">
                <a:latin typeface="Times New Roman" panose="02020603050405020304" pitchFamily="18" charset="0"/>
                <a:cs typeface="Times New Roman" panose="02020603050405020304" pitchFamily="18" charset="0"/>
              </a:rPr>
              <a:t>які</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здатні</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вловлювати</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інфрачервоне</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випромінювання</a:t>
            </a:r>
            <a:r>
              <a:rPr lang="ru-RU" sz="5600" dirty="0">
                <a:latin typeface="Times New Roman" panose="02020603050405020304" pitchFamily="18" charset="0"/>
                <a:cs typeface="Times New Roman" panose="02020603050405020304" pitchFamily="18" charset="0"/>
              </a:rPr>
              <a:t> та </a:t>
            </a:r>
            <a:r>
              <a:rPr lang="ru-RU" sz="5600" dirty="0" err="1">
                <a:latin typeface="Times New Roman" panose="02020603050405020304" pitchFamily="18" charset="0"/>
                <a:cs typeface="Times New Roman" panose="02020603050405020304" pitchFamily="18" charset="0"/>
              </a:rPr>
              <a:t>пропускати</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його</a:t>
            </a:r>
            <a:r>
              <a:rPr lang="ru-RU" sz="5600" dirty="0">
                <a:latin typeface="Times New Roman" panose="02020603050405020304" pitchFamily="18" charset="0"/>
                <a:cs typeface="Times New Roman" panose="02020603050405020304" pitchFamily="18" charset="0"/>
              </a:rPr>
              <a:t> через себе. </a:t>
            </a:r>
            <a:r>
              <a:rPr lang="ru-RU" sz="5600" dirty="0" err="1">
                <a:latin typeface="Times New Roman" panose="02020603050405020304" pitchFamily="18" charset="0"/>
                <a:cs typeface="Times New Roman" panose="02020603050405020304" pitchFamily="18" charset="0"/>
              </a:rPr>
              <a:t>Тепловізійну</a:t>
            </a:r>
            <a:r>
              <a:rPr lang="ru-RU" sz="5600" dirty="0">
                <a:latin typeface="Times New Roman" panose="02020603050405020304" pitchFamily="18" charset="0"/>
                <a:cs typeface="Times New Roman" panose="02020603050405020304" pitchFamily="18" charset="0"/>
              </a:rPr>
              <a:t> камеру, як правило, </a:t>
            </a:r>
            <a:r>
              <a:rPr lang="ru-RU" sz="5600" dirty="0" err="1">
                <a:latin typeface="Times New Roman" panose="02020603050405020304" pitchFamily="18" charset="0"/>
                <a:cs typeface="Times New Roman" panose="02020603050405020304" pitchFamily="18" charset="0"/>
              </a:rPr>
              <a:t>встановлюють</a:t>
            </a:r>
            <a:r>
              <a:rPr lang="ru-RU" sz="5600" dirty="0">
                <a:latin typeface="Times New Roman" panose="02020603050405020304" pitchFamily="18" charset="0"/>
                <a:cs typeface="Times New Roman" panose="02020603050405020304" pitchFamily="18" charset="0"/>
              </a:rPr>
              <a:t> на </a:t>
            </a:r>
            <a:r>
              <a:rPr lang="ru-RU" sz="5600" dirty="0" err="1">
                <a:latin typeface="Times New Roman" panose="02020603050405020304" pitchFamily="18" charset="0"/>
                <a:cs typeface="Times New Roman" panose="02020603050405020304" pitchFamily="18" charset="0"/>
              </a:rPr>
              <a:t>підвіс</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коптера</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що</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обертається</a:t>
            </a:r>
            <a:r>
              <a:rPr lang="ru-RU" sz="5600" dirty="0">
                <a:latin typeface="Times New Roman" panose="02020603050405020304" pitchFamily="18" charset="0"/>
                <a:cs typeface="Times New Roman" panose="02020603050405020304" pitchFamily="18" charset="0"/>
              </a:rPr>
              <a:t> на 360</a:t>
            </a:r>
            <a:r>
              <a:rPr lang="ru-RU" sz="5600" baseline="30000" dirty="0">
                <a:latin typeface="Times New Roman" panose="02020603050405020304" pitchFamily="18" charset="0"/>
                <a:cs typeface="Times New Roman" panose="02020603050405020304" pitchFamily="18" charset="0"/>
              </a:rPr>
              <a:t>о</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що</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також</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сприяє</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деталізації</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зображення</a:t>
            </a:r>
            <a:r>
              <a:rPr lang="ru-RU" sz="5600" dirty="0" smtClean="0">
                <a:latin typeface="Times New Roman" panose="02020603050405020304" pitchFamily="18" charset="0"/>
                <a:cs typeface="Times New Roman" panose="02020603050405020304" pitchFamily="18" charset="0"/>
              </a:rPr>
              <a:t>.</a:t>
            </a:r>
          </a:p>
          <a:p>
            <a:pPr marL="0" indent="0">
              <a:buNone/>
            </a:pPr>
            <a:endParaRPr lang="ru-RU" sz="5600" dirty="0">
              <a:latin typeface="Times New Roman" panose="02020603050405020304" pitchFamily="18" charset="0"/>
              <a:cs typeface="Times New Roman" panose="02020603050405020304" pitchFamily="18" charset="0"/>
            </a:endParaRPr>
          </a:p>
          <a:p>
            <a:pPr marL="0" indent="0">
              <a:buNone/>
            </a:pPr>
            <a:r>
              <a:rPr lang="uk-UA" sz="5600" b="1" u="sng" dirty="0" smtClean="0">
                <a:latin typeface="Times New Roman" panose="02020603050405020304" pitchFamily="18" charset="0"/>
                <a:cs typeface="Times New Roman" panose="02020603050405020304" pitchFamily="18" charset="0"/>
              </a:rPr>
              <a:t>WI-FI </a:t>
            </a:r>
            <a:r>
              <a:rPr lang="uk-UA" sz="5600" b="1" u="sng" dirty="0">
                <a:latin typeface="Times New Roman" panose="02020603050405020304" pitchFamily="18" charset="0"/>
                <a:cs typeface="Times New Roman" panose="02020603050405020304" pitchFamily="18" charset="0"/>
              </a:rPr>
              <a:t>камера </a:t>
            </a:r>
            <a:r>
              <a:rPr lang="uk-UA" sz="5600" dirty="0">
                <a:latin typeface="Times New Roman" panose="02020603050405020304" pitchFamily="18" charset="0"/>
                <a:cs typeface="Times New Roman" panose="02020603050405020304" pitchFamily="18" charset="0"/>
              </a:rPr>
              <a:t>для </a:t>
            </a:r>
            <a:r>
              <a:rPr lang="uk-UA" sz="5600" dirty="0" err="1">
                <a:latin typeface="Times New Roman" panose="02020603050405020304" pitchFamily="18" charset="0"/>
                <a:cs typeface="Times New Roman" panose="02020603050405020304" pitchFamily="18" charset="0"/>
              </a:rPr>
              <a:t>квадрокоптера</a:t>
            </a:r>
            <a:r>
              <a:rPr lang="uk-UA" sz="5600" dirty="0">
                <a:latin typeface="Times New Roman" panose="02020603050405020304" pitchFamily="18" charset="0"/>
                <a:cs typeface="Times New Roman" panose="02020603050405020304" pitchFamily="18" charset="0"/>
              </a:rPr>
              <a:t> має вбудований модуль </a:t>
            </a:r>
            <a:r>
              <a:rPr lang="uk-UA" sz="5600" dirty="0" err="1">
                <a:latin typeface="Times New Roman" panose="02020603050405020304" pitchFamily="18" charset="0"/>
                <a:cs typeface="Times New Roman" panose="02020603050405020304" pitchFamily="18" charset="0"/>
              </a:rPr>
              <a:t>Wi-Fi</a:t>
            </a:r>
            <a:r>
              <a:rPr lang="uk-UA" sz="5600" dirty="0">
                <a:latin typeface="Times New Roman" panose="02020603050405020304" pitchFamily="18" charset="0"/>
                <a:cs typeface="Times New Roman" panose="02020603050405020304" pitchFamily="18" charset="0"/>
              </a:rPr>
              <a:t>, який використовує різні частотні діапазони, залежно від технічних характеристик. </a:t>
            </a:r>
            <a:r>
              <a:rPr lang="ru-RU" sz="5600" dirty="0" err="1">
                <a:latin typeface="Times New Roman" panose="02020603050405020304" pitchFamily="18" charset="0"/>
                <a:cs typeface="Times New Roman" panose="02020603050405020304" pitchFamily="18" charset="0"/>
              </a:rPr>
              <a:t>Цей</a:t>
            </a:r>
            <a:r>
              <a:rPr lang="ru-RU" sz="5600" dirty="0">
                <a:latin typeface="Times New Roman" panose="02020603050405020304" pitchFamily="18" charset="0"/>
                <a:cs typeface="Times New Roman" panose="02020603050405020304" pitchFamily="18" charset="0"/>
              </a:rPr>
              <a:t> модуль </a:t>
            </a:r>
            <a:r>
              <a:rPr lang="ru-RU" sz="5600" dirty="0" err="1">
                <a:latin typeface="Times New Roman" panose="02020603050405020304" pitchFamily="18" charset="0"/>
                <a:cs typeface="Times New Roman" panose="02020603050405020304" pitchFamily="18" charset="0"/>
              </a:rPr>
              <a:t>створює</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бездротову</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локальну</a:t>
            </a:r>
            <a:r>
              <a:rPr lang="ru-RU" sz="5600" dirty="0">
                <a:latin typeface="Times New Roman" panose="02020603050405020304" pitchFamily="18" charset="0"/>
                <a:cs typeface="Times New Roman" panose="02020603050405020304" pitchFamily="18" charset="0"/>
              </a:rPr>
              <a:t> мережу, до </a:t>
            </a:r>
            <a:r>
              <a:rPr lang="ru-RU" sz="5600" dirty="0" err="1">
                <a:latin typeface="Times New Roman" panose="02020603050405020304" pitchFamily="18" charset="0"/>
                <a:cs typeface="Times New Roman" panose="02020603050405020304" pitchFamily="18" charset="0"/>
              </a:rPr>
              <a:t>якої</a:t>
            </a:r>
            <a:r>
              <a:rPr lang="ru-RU" sz="5600" dirty="0">
                <a:latin typeface="Times New Roman" panose="02020603050405020304" pitchFamily="18" charset="0"/>
                <a:cs typeface="Times New Roman" panose="02020603050405020304" pitchFamily="18" charset="0"/>
              </a:rPr>
              <a:t> камера </a:t>
            </a:r>
            <a:r>
              <a:rPr lang="ru-RU" sz="5600" dirty="0" err="1">
                <a:latin typeface="Times New Roman" panose="02020603050405020304" pitchFamily="18" charset="0"/>
                <a:cs typeface="Times New Roman" panose="02020603050405020304" pitchFamily="18" charset="0"/>
              </a:rPr>
              <a:t>підключається</a:t>
            </a:r>
            <a:r>
              <a:rPr lang="ru-RU" sz="5600" dirty="0">
                <a:latin typeface="Times New Roman" panose="02020603050405020304" pitchFamily="18" charset="0"/>
                <a:cs typeface="Times New Roman" panose="02020603050405020304" pitchFamily="18" charset="0"/>
              </a:rPr>
              <a:t> і </a:t>
            </a:r>
            <a:r>
              <a:rPr lang="ru-RU" sz="5600" dirty="0" err="1">
                <a:latin typeface="Times New Roman" panose="02020603050405020304" pitchFamily="18" charset="0"/>
                <a:cs typeface="Times New Roman" panose="02020603050405020304" pitchFamily="18" charset="0"/>
              </a:rPr>
              <a:t>передає</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відеопотік</a:t>
            </a:r>
            <a:r>
              <a:rPr lang="ru-RU" sz="5600" dirty="0">
                <a:latin typeface="Times New Roman" panose="02020603050405020304" pitchFamily="18" charset="0"/>
                <a:cs typeface="Times New Roman" panose="02020603050405020304" pitchFamily="18" charset="0"/>
              </a:rPr>
              <a:t> на </a:t>
            </a:r>
            <a:r>
              <a:rPr lang="ru-RU" sz="5600" dirty="0" err="1">
                <a:latin typeface="Times New Roman" panose="02020603050405020304" pitchFamily="18" charset="0"/>
                <a:cs typeface="Times New Roman" panose="02020603050405020304" pitchFamily="18" charset="0"/>
              </a:rPr>
              <a:t>віддалений</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пристрій</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наприклад</a:t>
            </a:r>
            <a:r>
              <a:rPr lang="ru-RU" sz="5600" dirty="0">
                <a:latin typeface="Times New Roman" panose="02020603050405020304" pitchFamily="18" charset="0"/>
                <a:cs typeface="Times New Roman" panose="02020603050405020304" pitchFamily="18" charset="0"/>
              </a:rPr>
              <a:t> смартфон. </a:t>
            </a:r>
            <a:r>
              <a:rPr lang="ru-RU" sz="5600" dirty="0" err="1">
                <a:latin typeface="Times New Roman" panose="02020603050405020304" pitchFamily="18" charset="0"/>
                <a:cs typeface="Times New Roman" panose="02020603050405020304" pitchFamily="18" charset="0"/>
              </a:rPr>
              <a:t>Діапазон</a:t>
            </a:r>
            <a:r>
              <a:rPr lang="ru-RU" sz="5600" dirty="0">
                <a:latin typeface="Times New Roman" panose="02020603050405020304" pitchFamily="18" charset="0"/>
                <a:cs typeface="Times New Roman" panose="02020603050405020304" pitchFamily="18" charset="0"/>
              </a:rPr>
              <a:t> сигналу </a:t>
            </a:r>
            <a:r>
              <a:rPr lang="ru-RU" sz="5600" dirty="0" err="1">
                <a:latin typeface="Times New Roman" panose="02020603050405020304" pitchFamily="18" charset="0"/>
                <a:cs typeface="Times New Roman" panose="02020603050405020304" pitchFamily="18" charset="0"/>
              </a:rPr>
              <a:t>залежить</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від</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якості</a:t>
            </a:r>
            <a:r>
              <a:rPr lang="ru-RU" sz="5600" dirty="0">
                <a:latin typeface="Times New Roman" panose="02020603050405020304" pitchFamily="18" charset="0"/>
                <a:cs typeface="Times New Roman" panose="02020603050405020304" pitchFamily="18" charset="0"/>
              </a:rPr>
              <a:t> модуля </a:t>
            </a:r>
            <a:r>
              <a:rPr lang="ru-RU" sz="5600" dirty="0" err="1">
                <a:latin typeface="Times New Roman" panose="02020603050405020304" pitchFamily="18" charset="0"/>
                <a:cs typeface="Times New Roman" panose="02020603050405020304" pitchFamily="18" charset="0"/>
              </a:rPr>
              <a:t>камери</a:t>
            </a:r>
            <a:r>
              <a:rPr lang="ru-RU" sz="5600" dirty="0">
                <a:latin typeface="Times New Roman" panose="02020603050405020304" pitchFamily="18" charset="0"/>
                <a:cs typeface="Times New Roman" panose="02020603050405020304" pitchFamily="18" charset="0"/>
              </a:rPr>
              <a:t> та </a:t>
            </a:r>
            <a:r>
              <a:rPr lang="ru-RU" sz="5600" dirty="0" err="1">
                <a:latin typeface="Times New Roman" panose="02020603050405020304" pitchFamily="18" charset="0"/>
                <a:cs typeface="Times New Roman" panose="02020603050405020304" pitchFamily="18" charset="0"/>
              </a:rPr>
              <a:t>відстані</a:t>
            </a:r>
            <a:r>
              <a:rPr lang="ru-RU" sz="5600" dirty="0" smtClean="0">
                <a:latin typeface="Times New Roman" panose="02020603050405020304" pitchFamily="18" charset="0"/>
                <a:cs typeface="Times New Roman" panose="02020603050405020304" pitchFamily="18" charset="0"/>
              </a:rPr>
              <a:t>.</a:t>
            </a:r>
          </a:p>
          <a:p>
            <a:pPr marL="0" indent="0">
              <a:buNone/>
            </a:pPr>
            <a:endParaRPr lang="ru-RU" sz="5600" dirty="0">
              <a:latin typeface="Times New Roman" panose="02020603050405020304" pitchFamily="18" charset="0"/>
              <a:cs typeface="Times New Roman" panose="02020603050405020304" pitchFamily="18" charset="0"/>
            </a:endParaRPr>
          </a:p>
          <a:p>
            <a:pPr marL="0" indent="0">
              <a:buNone/>
            </a:pPr>
            <a:r>
              <a:rPr lang="uk-UA" sz="5600" b="1" u="sng" dirty="0">
                <a:latin typeface="Times New Roman" panose="02020603050405020304" pitchFamily="18" charset="0"/>
                <a:cs typeface="Times New Roman" panose="02020603050405020304" pitchFamily="18" charset="0"/>
              </a:rPr>
              <a:t>Нижня</a:t>
            </a:r>
            <a:r>
              <a:rPr lang="ru-RU" sz="5600" b="1" u="sng" dirty="0">
                <a:latin typeface="Times New Roman" panose="02020603050405020304" pitchFamily="18" charset="0"/>
                <a:cs typeface="Times New Roman" panose="02020603050405020304" pitchFamily="18" charset="0"/>
              </a:rPr>
              <a:t> </a:t>
            </a:r>
            <a:r>
              <a:rPr lang="ru-RU" sz="5600" b="1" u="sng" dirty="0" smtClean="0">
                <a:latin typeface="Times New Roman" panose="02020603050405020304" pitchFamily="18" charset="0"/>
                <a:cs typeface="Times New Roman" panose="02020603050405020304" pitchFamily="18" charset="0"/>
              </a:rPr>
              <a:t>камера</a:t>
            </a:r>
            <a:r>
              <a:rPr lang="ru-RU" sz="5600" u="sng" dirty="0">
                <a:latin typeface="Times New Roman" panose="02020603050405020304" pitchFamily="18" charset="0"/>
                <a:cs typeface="Times New Roman" panose="02020603050405020304" pitchFamily="18" charset="0"/>
              </a:rPr>
              <a:t> </a:t>
            </a:r>
            <a:r>
              <a:rPr lang="uk-UA" sz="5600" dirty="0" smtClean="0">
                <a:latin typeface="Times New Roman" panose="02020603050405020304" pitchFamily="18" charset="0"/>
                <a:cs typeface="Times New Roman" panose="02020603050405020304" pitchFamily="18" charset="0"/>
              </a:rPr>
              <a:t>Часто </a:t>
            </a:r>
            <a:r>
              <a:rPr lang="uk-UA" sz="5600" dirty="0">
                <a:latin typeface="Times New Roman" panose="02020603050405020304" pitchFamily="18" charset="0"/>
                <a:cs typeface="Times New Roman" panose="02020603050405020304" pitchFamily="18" charset="0"/>
              </a:rPr>
              <a:t>в </a:t>
            </a:r>
            <a:r>
              <a:rPr lang="uk-UA" sz="5600" dirty="0" err="1">
                <a:latin typeface="Times New Roman" panose="02020603050405020304" pitchFamily="18" charset="0"/>
                <a:cs typeface="Times New Roman" panose="02020603050405020304" pitchFamily="18" charset="0"/>
              </a:rPr>
              <a:t>дронах</a:t>
            </a:r>
            <a:r>
              <a:rPr lang="uk-UA" sz="5600" dirty="0">
                <a:latin typeface="Times New Roman" panose="02020603050405020304" pitchFamily="18" charset="0"/>
                <a:cs typeface="Times New Roman" panose="02020603050405020304" pitchFamily="18" charset="0"/>
              </a:rPr>
              <a:t> можна помітити не одну, а відразу 2 камери і друга, як правило, прикріплена внизу корпусу. Але така нижня камера призначена не тільки для ландшафтної зйомки або фотографування місцевості, як багато хто думає. Також вона служить як оптичний стабілізатор, який допомагає пілоту більш плавно керувати </a:t>
            </a:r>
            <a:r>
              <a:rPr lang="uk-UA" sz="5600" dirty="0" err="1">
                <a:latin typeface="Times New Roman" panose="02020603050405020304" pitchFamily="18" charset="0"/>
                <a:cs typeface="Times New Roman" panose="02020603050405020304" pitchFamily="18" charset="0"/>
              </a:rPr>
              <a:t>квадрокоптером</a:t>
            </a:r>
            <a:r>
              <a:rPr lang="uk-UA" sz="5600" dirty="0" smtClean="0">
                <a:latin typeface="Times New Roman" panose="02020603050405020304" pitchFamily="18" charset="0"/>
                <a:cs typeface="Times New Roman" panose="02020603050405020304" pitchFamily="18" charset="0"/>
              </a:rPr>
              <a:t>.</a:t>
            </a:r>
            <a:endParaRPr lang="ru-RU" sz="5600" dirty="0">
              <a:latin typeface="Times New Roman" panose="02020603050405020304" pitchFamily="18" charset="0"/>
              <a:cs typeface="Times New Roman" panose="02020603050405020304" pitchFamily="18" charset="0"/>
            </a:endParaRPr>
          </a:p>
          <a:p>
            <a:pPr marL="0" indent="0">
              <a:buNone/>
            </a:pPr>
            <a:r>
              <a:rPr lang="ru-RU" sz="5600" dirty="0" err="1" smtClean="0">
                <a:latin typeface="Times New Roman" panose="02020603050405020304" pitchFamily="18" charset="0"/>
                <a:cs typeface="Times New Roman" panose="02020603050405020304" pitchFamily="18" charset="0"/>
              </a:rPr>
              <a:t>Розібравшись</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які</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камери</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квадрокоптерів</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бувають</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підкреслимо</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основні</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критерії</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вибору</a:t>
            </a:r>
            <a:r>
              <a:rPr lang="ru-RU" sz="5600" dirty="0">
                <a:latin typeface="Times New Roman" panose="02020603050405020304" pitchFamily="18" charset="0"/>
                <a:cs typeface="Times New Roman" panose="02020603050405020304" pitchFamily="18" charset="0"/>
              </a:rPr>
              <a:t> </a:t>
            </a:r>
            <a:r>
              <a:rPr lang="ru-RU" sz="5600" dirty="0" err="1">
                <a:latin typeface="Times New Roman" panose="02020603050405020304" pitchFamily="18" charset="0"/>
                <a:cs typeface="Times New Roman" panose="02020603050405020304" pitchFamily="18" charset="0"/>
              </a:rPr>
              <a:t>камери</a:t>
            </a:r>
            <a:r>
              <a:rPr lang="ru-RU" sz="5600" dirty="0" smtClean="0">
                <a:latin typeface="Times New Roman" panose="02020603050405020304" pitchFamily="18" charset="0"/>
                <a:cs typeface="Times New Roman" panose="02020603050405020304" pitchFamily="18" charset="0"/>
              </a:rPr>
              <a:t>: </a:t>
            </a:r>
            <a:r>
              <a:rPr lang="ru-RU" sz="5600" dirty="0" err="1" smtClean="0">
                <a:latin typeface="Times New Roman" panose="02020603050405020304" pitchFamily="18" charset="0"/>
                <a:cs typeface="Times New Roman" panose="02020603050405020304" pitchFamily="18" charset="0"/>
              </a:rPr>
              <a:t>роздільна</a:t>
            </a:r>
            <a:r>
              <a:rPr lang="ru-RU" sz="5600" dirty="0" smtClean="0">
                <a:latin typeface="Times New Roman" panose="02020603050405020304" pitchFamily="18" charset="0"/>
                <a:cs typeface="Times New Roman" panose="02020603050405020304" pitchFamily="18" charset="0"/>
              </a:rPr>
              <a:t> </a:t>
            </a:r>
            <a:r>
              <a:rPr lang="ru-RU" sz="5600" dirty="0" err="1" smtClean="0">
                <a:latin typeface="Times New Roman" panose="02020603050405020304" pitchFamily="18" charset="0"/>
                <a:cs typeface="Times New Roman" panose="02020603050405020304" pitchFamily="18" charset="0"/>
              </a:rPr>
              <a:t>здатність</a:t>
            </a:r>
            <a:r>
              <a:rPr lang="ru-RU" sz="5600" dirty="0" smtClean="0">
                <a:latin typeface="Times New Roman" panose="02020603050405020304" pitchFamily="18" charset="0"/>
                <a:cs typeface="Times New Roman" panose="02020603050405020304" pitchFamily="18" charset="0"/>
              </a:rPr>
              <a:t>, </a:t>
            </a:r>
            <a:r>
              <a:rPr lang="ru-RU" sz="5600" dirty="0" err="1" smtClean="0">
                <a:latin typeface="Times New Roman" panose="02020603050405020304" pitchFamily="18" charset="0"/>
                <a:cs typeface="Times New Roman" panose="02020603050405020304" pitchFamily="18" charset="0"/>
              </a:rPr>
              <a:t>сумісність</a:t>
            </a:r>
            <a:r>
              <a:rPr lang="ru-RU" sz="5600" dirty="0" smtClean="0">
                <a:latin typeface="Times New Roman" panose="02020603050405020304" pitchFamily="18" charset="0"/>
                <a:cs typeface="Times New Roman" panose="02020603050405020304" pitchFamily="18" charset="0"/>
              </a:rPr>
              <a:t> </a:t>
            </a:r>
            <a:r>
              <a:rPr lang="ru-RU" sz="5600" dirty="0" err="1" smtClean="0">
                <a:latin typeface="Times New Roman" panose="02020603050405020304" pitchFamily="18" charset="0"/>
                <a:cs typeface="Times New Roman" panose="02020603050405020304" pitchFamily="18" charset="0"/>
              </a:rPr>
              <a:t>із</a:t>
            </a:r>
            <a:r>
              <a:rPr lang="ru-RU" sz="5600" dirty="0" smtClean="0">
                <a:latin typeface="Times New Roman" panose="02020603050405020304" pitchFamily="18" charset="0"/>
                <a:cs typeface="Times New Roman" panose="02020603050405020304" pitchFamily="18" charset="0"/>
              </a:rPr>
              <a:t> </a:t>
            </a:r>
            <a:r>
              <a:rPr lang="ru-RU" sz="5600" dirty="0" err="1" smtClean="0">
                <a:latin typeface="Times New Roman" panose="02020603050405020304" pitchFamily="18" charset="0"/>
                <a:cs typeface="Times New Roman" panose="02020603050405020304" pitchFamily="18" charset="0"/>
              </a:rPr>
              <a:t>іншими</a:t>
            </a:r>
            <a:r>
              <a:rPr lang="ru-RU" sz="5600" dirty="0" smtClean="0">
                <a:latin typeface="Times New Roman" panose="02020603050405020304" pitchFamily="18" charset="0"/>
                <a:cs typeface="Times New Roman" panose="02020603050405020304" pitchFamily="18" charset="0"/>
              </a:rPr>
              <a:t> компонентами</a:t>
            </a:r>
            <a:endParaRPr lang="ru-RU" sz="5600" dirty="0">
              <a:latin typeface="Times New Roman" panose="02020603050405020304" pitchFamily="18" charset="0"/>
              <a:cs typeface="Times New Roman" panose="02020603050405020304" pitchFamily="18" charset="0"/>
            </a:endParaRPr>
          </a:p>
          <a:p>
            <a:pPr marL="0" indent="0">
              <a:buNone/>
            </a:pPr>
            <a:endParaRPr lang="ru-RU" sz="5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25382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697831" y="1383632"/>
            <a:ext cx="7870659" cy="5149516"/>
          </a:xfrm>
          <a:prstGeom prst="rect">
            <a:avLst/>
          </a:prstGeom>
        </p:spPr>
      </p:pic>
      <p:sp>
        <p:nvSpPr>
          <p:cNvPr id="5" name="Прямокутник 4"/>
          <p:cNvSpPr/>
          <p:nvPr/>
        </p:nvSpPr>
        <p:spPr>
          <a:xfrm>
            <a:off x="1491915" y="264695"/>
            <a:ext cx="5787190" cy="914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k-UA" b="1" dirty="0" smtClean="0">
                <a:solidFill>
                  <a:schemeClr val="tx1"/>
                </a:solidFill>
                <a:latin typeface="Times New Roman" panose="02020603050405020304" pitchFamily="18" charset="0"/>
                <a:cs typeface="Times New Roman" panose="02020603050405020304" pitchFamily="18" charset="0"/>
              </a:rPr>
              <a:t>Принципова схема поєднання камери  з іншими компонентами </a:t>
            </a:r>
            <a:r>
              <a:rPr lang="uk-UA" b="1" dirty="0" err="1" smtClean="0">
                <a:solidFill>
                  <a:schemeClr val="tx1"/>
                </a:solidFill>
                <a:latin typeface="Times New Roman" panose="02020603050405020304" pitchFamily="18" charset="0"/>
                <a:cs typeface="Times New Roman" panose="02020603050405020304" pitchFamily="18" charset="0"/>
              </a:rPr>
              <a:t>дрона</a:t>
            </a:r>
            <a:endParaRPr lang="uk-UA"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69457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28650" y="365127"/>
            <a:ext cx="4773529" cy="1018506"/>
          </a:xfrm>
        </p:spPr>
        <p:txBody>
          <a:bodyPr>
            <a:normAutofit/>
          </a:bodyPr>
          <a:lstStyle/>
          <a:p>
            <a:r>
              <a:rPr lang="uk-UA" sz="2800" b="1" dirty="0" smtClean="0">
                <a:latin typeface="Times New Roman" panose="02020603050405020304" pitchFamily="18" charset="0"/>
                <a:cs typeface="Times New Roman" panose="02020603050405020304" pitchFamily="18" charset="0"/>
              </a:rPr>
              <a:t>Аналіз практичної частини</a:t>
            </a:r>
            <a:endParaRPr lang="uk-UA" sz="2800" b="1" dirty="0">
              <a:latin typeface="Times New Roman" panose="02020603050405020304" pitchFamily="18" charset="0"/>
              <a:cs typeface="Times New Roman" panose="02020603050405020304" pitchFamily="18" charset="0"/>
            </a:endParaRPr>
          </a:p>
        </p:txBody>
      </p:sp>
      <p:sp>
        <p:nvSpPr>
          <p:cNvPr id="3" name="Місце для вмісту 2"/>
          <p:cNvSpPr>
            <a:spLocks noGrp="1"/>
          </p:cNvSpPr>
          <p:nvPr>
            <p:ph idx="1"/>
          </p:nvPr>
        </p:nvSpPr>
        <p:spPr>
          <a:xfrm>
            <a:off x="327861" y="1383633"/>
            <a:ext cx="7886700" cy="1735722"/>
          </a:xfrm>
        </p:spPr>
        <p:txBody>
          <a:bodyPr>
            <a:normAutofit/>
          </a:bodyPr>
          <a:lstStyle/>
          <a:p>
            <a:r>
              <a:rPr lang="uk-UA" sz="1600" dirty="0">
                <a:latin typeface="Times New Roman" panose="02020603050405020304" pitchFamily="18" charset="0"/>
                <a:cs typeface="Times New Roman" panose="02020603050405020304" pitchFamily="18" charset="0"/>
              </a:rPr>
              <a:t>Виконавши практичну частину, я переконався в тому, що можливо створити умови для контролю та запобігання переохолодження камери </a:t>
            </a:r>
            <a:r>
              <a:rPr lang="uk-UA" sz="1600" dirty="0" err="1">
                <a:latin typeface="Times New Roman" panose="02020603050405020304" pitchFamily="18" charset="0"/>
                <a:cs typeface="Times New Roman" panose="02020603050405020304" pitchFamily="18" charset="0"/>
              </a:rPr>
              <a:t>дрону</a:t>
            </a:r>
            <a:r>
              <a:rPr lang="uk-UA" sz="1600" dirty="0">
                <a:latin typeface="Times New Roman" panose="02020603050405020304" pitchFamily="18" charset="0"/>
                <a:cs typeface="Times New Roman" panose="02020603050405020304" pitchFamily="18" charset="0"/>
              </a:rPr>
              <a:t> за допомогою додаткового конструктивного вузла, який не має значної маси. Вибір матеріалу для друку надав можливість створити легкі камеру та футляр для неї, що не сприяли зниженню швидкості руху та маневрам </a:t>
            </a:r>
            <a:r>
              <a:rPr lang="uk-UA" sz="1600" dirty="0" err="1">
                <a:latin typeface="Times New Roman" panose="02020603050405020304" pitchFamily="18" charset="0"/>
                <a:cs typeface="Times New Roman" panose="02020603050405020304" pitchFamily="18" charset="0"/>
              </a:rPr>
              <a:t>дрону</a:t>
            </a:r>
            <a:r>
              <a:rPr lang="uk-UA" sz="1600" dirty="0">
                <a:latin typeface="Times New Roman" panose="02020603050405020304" pitchFamily="18" charset="0"/>
                <a:cs typeface="Times New Roman" panose="02020603050405020304" pitchFamily="18" charset="0"/>
              </a:rPr>
              <a:t>.</a:t>
            </a:r>
          </a:p>
          <a:p>
            <a:endParaRPr lang="uk-UA"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34246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18147" y="365127"/>
            <a:ext cx="1612232" cy="886158"/>
          </a:xfrm>
        </p:spPr>
        <p:txBody>
          <a:bodyPr>
            <a:normAutofit/>
          </a:bodyPr>
          <a:lstStyle/>
          <a:p>
            <a:r>
              <a:rPr lang="uk-UA" sz="2400" b="1" dirty="0" smtClean="0">
                <a:latin typeface="Times New Roman" panose="02020603050405020304" pitchFamily="18" charset="0"/>
                <a:cs typeface="Times New Roman" panose="02020603050405020304" pitchFamily="18" charset="0"/>
              </a:rPr>
              <a:t>Висновки</a:t>
            </a:r>
            <a:endParaRPr lang="uk-UA" sz="2400" b="1" dirty="0">
              <a:latin typeface="Times New Roman" panose="02020603050405020304" pitchFamily="18" charset="0"/>
              <a:cs typeface="Times New Roman" panose="02020603050405020304" pitchFamily="18" charset="0"/>
            </a:endParaRPr>
          </a:p>
        </p:txBody>
      </p:sp>
      <p:sp>
        <p:nvSpPr>
          <p:cNvPr id="3" name="Місце для вмісту 2"/>
          <p:cNvSpPr>
            <a:spLocks noGrp="1"/>
          </p:cNvSpPr>
          <p:nvPr>
            <p:ph idx="1"/>
          </p:nvPr>
        </p:nvSpPr>
        <p:spPr>
          <a:xfrm>
            <a:off x="628650" y="1564105"/>
            <a:ext cx="5892466" cy="5106152"/>
          </a:xfrm>
        </p:spPr>
        <p:txBody>
          <a:bodyPr>
            <a:normAutofit fontScale="70000" lnSpcReduction="20000"/>
          </a:bodyPr>
          <a:lstStyle/>
          <a:p>
            <a:r>
              <a:rPr lang="uk-UA" sz="2600" dirty="0">
                <a:latin typeface="Times New Roman" panose="02020603050405020304" pitchFamily="18" charset="0"/>
                <a:cs typeface="Times New Roman" panose="02020603050405020304" pitchFamily="18" charset="0"/>
              </a:rPr>
              <a:t>В умовах сучасних викликів, що постають перед Збройними Силами України, новітні технології, такі як 3D-друк, відіграють ключову роль у підвищенні ефективності та адаптивності воєнних можливостей країни.</a:t>
            </a:r>
          </a:p>
          <a:p>
            <a:pPr fontAlgn="base"/>
            <a:r>
              <a:rPr lang="uk-UA" sz="2600" dirty="0">
                <a:latin typeface="Times New Roman" panose="02020603050405020304" pitchFamily="18" charset="0"/>
                <a:cs typeface="Times New Roman" panose="02020603050405020304" pitchFamily="18" charset="0"/>
              </a:rPr>
              <a:t>Технології 3D-друку та її використання в оборонній промисловості набули поширення значно пізніше, коли технологія стала більш доступною та зрозумілою для застосування у різних сферах.</a:t>
            </a:r>
          </a:p>
          <a:p>
            <a:pPr fontAlgn="base"/>
            <a:r>
              <a:rPr lang="uk-UA" sz="2600" dirty="0">
                <a:latin typeface="Times New Roman" panose="02020603050405020304" pitchFamily="18" charset="0"/>
                <a:cs typeface="Times New Roman" panose="02020603050405020304" pitchFamily="18" charset="0"/>
              </a:rPr>
              <a:t>Військові інженери почали розглядати 3D-друк як спосіб швидкого та ефективного виробництва запасних частин та компонентів, необхідних для військової техніки. Особливо велике значення 3D-друк набув під час тривалих військових кампаній, де логістика доставки запчастин могла стати критичним фактором.</a:t>
            </a:r>
          </a:p>
          <a:p>
            <a:pPr fontAlgn="base"/>
            <a:r>
              <a:rPr lang="uk-UA" sz="2600" dirty="0">
                <a:latin typeface="Times New Roman" panose="02020603050405020304" pitchFamily="18" charset="0"/>
                <a:cs typeface="Times New Roman" panose="02020603050405020304" pitchFamily="18" charset="0"/>
              </a:rPr>
              <a:t>З розвитком технології в 2000-х роках, 3D-друк почали використовувати не тільки для створення запасних частин, а й для виготовлення спеціалізованого обладнання, такого як бронежилети, компоненти зброї, індивідуальні протези для поранених солдатів, а також для розробки нових видів озброєння.</a:t>
            </a:r>
          </a:p>
          <a:p>
            <a:endParaRPr lang="uk-UA" dirty="0"/>
          </a:p>
        </p:txBody>
      </p:sp>
    </p:spTree>
    <p:extLst>
      <p:ext uri="{BB962C8B-B14F-4D97-AF65-F5344CB8AC3E}">
        <p14:creationId xmlns:p14="http://schemas.microsoft.com/office/powerpoint/2010/main" val="37985125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Місце для вмісту 2"/>
          <p:cNvSpPr>
            <a:spLocks noGrp="1"/>
          </p:cNvSpPr>
          <p:nvPr>
            <p:ph idx="1"/>
          </p:nvPr>
        </p:nvSpPr>
        <p:spPr>
          <a:xfrm>
            <a:off x="628650" y="216568"/>
            <a:ext cx="7886700" cy="6087979"/>
          </a:xfrm>
        </p:spPr>
        <p:txBody>
          <a:bodyPr>
            <a:noAutofit/>
          </a:bodyPr>
          <a:lstStyle/>
          <a:p>
            <a:pPr fontAlgn="base"/>
            <a:r>
              <a:rPr lang="uk-UA" sz="1600" dirty="0">
                <a:latin typeface="Times New Roman" panose="02020603050405020304" pitchFamily="18" charset="0"/>
                <a:cs typeface="Times New Roman" panose="02020603050405020304" pitchFamily="18" charset="0"/>
              </a:rPr>
              <a:t>3D-друк у сучасній Україні відіграє важливу роль, особливо в умовах військових дій та необхідності швидкої реакції на </a:t>
            </a:r>
            <a:r>
              <a:rPr lang="uk-UA" sz="1600" dirty="0" err="1">
                <a:latin typeface="Times New Roman" panose="02020603050405020304" pitchFamily="18" charset="0"/>
                <a:cs typeface="Times New Roman" panose="02020603050405020304" pitchFamily="18" charset="0"/>
              </a:rPr>
              <a:t>змінювальні</a:t>
            </a:r>
            <a:r>
              <a:rPr lang="uk-UA" sz="1600" dirty="0">
                <a:latin typeface="Times New Roman" panose="02020603050405020304" pitchFamily="18" charset="0"/>
                <a:cs typeface="Times New Roman" panose="02020603050405020304" pitchFamily="18" charset="0"/>
              </a:rPr>
              <a:t> обставини. Українські інженери та волонтери активно застосовують 3D-друк для створення військового обладнання, медичних засобів, деталей для техніки та інших необхідних елементів.</a:t>
            </a:r>
          </a:p>
          <a:p>
            <a:pPr fontAlgn="base"/>
            <a:r>
              <a:rPr lang="uk-UA" sz="1600" dirty="0">
                <a:latin typeface="Times New Roman" panose="02020603050405020304" pitchFamily="18" charset="0"/>
                <a:cs typeface="Times New Roman" panose="02020603050405020304" pitchFamily="18" charset="0"/>
              </a:rPr>
              <a:t>Особливість 3D-друку в Україні полягає у його доступності та можливості локалізації виробництва. Це дозволяє зменшити залежність від зовнішніх постачальників, особливо в критичних ситуаціях, коли швидкість доставки компонентів може врятувати життя чи забезпечити успіх військових операцій.</a:t>
            </a:r>
          </a:p>
          <a:p>
            <a:pPr fontAlgn="base"/>
            <a:r>
              <a:rPr lang="uk-UA" sz="1600" dirty="0">
                <a:latin typeface="Times New Roman" panose="02020603050405020304" pitchFamily="18" charset="0"/>
                <a:cs typeface="Times New Roman" panose="02020603050405020304" pitchFamily="18" charset="0"/>
              </a:rPr>
              <a:t>Зростання числа компаній, що займаються 3D-друком в Україні, сприяє розвитку цієї індустрії. Крім комерційного використання, така </a:t>
            </a:r>
            <a:r>
              <a:rPr lang="uk-UA" sz="1600" u="sng" dirty="0">
                <a:latin typeface="Times New Roman" panose="02020603050405020304" pitchFamily="18" charset="0"/>
                <a:cs typeface="Times New Roman" panose="02020603050405020304" pitchFamily="18" charset="0"/>
                <a:hlinkClick r:id="rId2"/>
              </a:rPr>
              <a:t>компанія</a:t>
            </a:r>
            <a:r>
              <a:rPr lang="uk-UA" sz="1600" dirty="0">
                <a:latin typeface="Times New Roman" panose="02020603050405020304" pitchFamily="18" charset="0"/>
                <a:cs typeface="Times New Roman" panose="02020603050405020304" pitchFamily="18" charset="0"/>
              </a:rPr>
              <a:t> часто може пропонувати свої послуги та ресурси для потреб українських Збройних Сил та інших військових формувань.</a:t>
            </a:r>
          </a:p>
          <a:p>
            <a:pPr fontAlgn="base"/>
            <a:r>
              <a:rPr lang="uk-UA" sz="1600" dirty="0">
                <a:latin typeface="Times New Roman" panose="02020603050405020304" pitchFamily="18" charset="0"/>
                <a:cs typeface="Times New Roman" panose="02020603050405020304" pitchFamily="18" charset="0"/>
              </a:rPr>
              <a:t>3D-друк також став інструментом для інновацій, дозволяючи швидко реалізовувати нові ідеї та концепції в реальні вироби. Наприклад, українські розробники використовують 3D-друк для створення </a:t>
            </a:r>
            <a:r>
              <a:rPr lang="uk-UA" sz="1600" dirty="0" err="1">
                <a:latin typeface="Times New Roman" panose="02020603050405020304" pitchFamily="18" charset="0"/>
                <a:cs typeface="Times New Roman" panose="02020603050405020304" pitchFamily="18" charset="0"/>
              </a:rPr>
              <a:t>дронів</a:t>
            </a:r>
            <a:r>
              <a:rPr lang="uk-UA" sz="1600" dirty="0">
                <a:latin typeface="Times New Roman" panose="02020603050405020304" pitchFamily="18" charset="0"/>
                <a:cs typeface="Times New Roman" panose="02020603050405020304" pitchFamily="18" charset="0"/>
              </a:rPr>
              <a:t>, компонентів для них, особистого обладнання бійців та навіть для ремонту бронетехніки.</a:t>
            </a:r>
          </a:p>
          <a:p>
            <a:pPr fontAlgn="base"/>
            <a:r>
              <a:rPr lang="uk-UA" sz="1600" dirty="0">
                <a:latin typeface="Times New Roman" panose="02020603050405020304" pitchFamily="18" charset="0"/>
                <a:cs typeface="Times New Roman" panose="02020603050405020304" pitchFamily="18" charset="0"/>
              </a:rPr>
              <a:t>Серед іншого, в Україні активно розвивається виготовлення захисних касок, деталей для засобів зв’язку, тренувальних моделей для військових навчань. 3D-друк дозволяє не лише вирішувати логістичні завдання, але й забезпечує можливість створення індивідуалізованого спорядження, що підвищує комфорт та ефективність використання військовими.</a:t>
            </a:r>
          </a:p>
          <a:p>
            <a:pPr fontAlgn="base"/>
            <a:r>
              <a:rPr lang="uk-UA" sz="1600" dirty="0">
                <a:latin typeface="Times New Roman" panose="02020603050405020304" pitchFamily="18" charset="0"/>
                <a:cs typeface="Times New Roman" panose="02020603050405020304" pitchFamily="18" charset="0"/>
              </a:rPr>
              <a:t>Тому моя спроба створити додаткове обладнання для </a:t>
            </a:r>
            <a:r>
              <a:rPr lang="uk-UA" sz="1600" dirty="0" err="1">
                <a:latin typeface="Times New Roman" panose="02020603050405020304" pitchFamily="18" charset="0"/>
                <a:cs typeface="Times New Roman" panose="02020603050405020304" pitchFamily="18" charset="0"/>
              </a:rPr>
              <a:t>дрону</a:t>
            </a:r>
            <a:r>
              <a:rPr lang="uk-UA" sz="1600" dirty="0">
                <a:latin typeface="Times New Roman" panose="02020603050405020304" pitchFamily="18" charset="0"/>
                <a:cs typeface="Times New Roman" panose="02020603050405020304" pitchFamily="18" charset="0"/>
              </a:rPr>
              <a:t>, який би був спроможний працювати без намерзання льоду при низьких температурах повітря, була повним відображенням можливості використання 3Д-моделювання для військових потреб.</a:t>
            </a:r>
          </a:p>
          <a:p>
            <a:endParaRPr lang="uk-UA"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12529935"/>
      </p:ext>
    </p:extLst>
  </p:cSld>
  <p:clrMapOvr>
    <a:masterClrMapping/>
  </p:clrMapOvr>
</p:sld>
</file>

<file path=ppt/theme/theme1.xml><?xml version="1.0" encoding="utf-8"?>
<a:theme xmlns:a="http://schemas.openxmlformats.org/drawingml/2006/main" name="Тема Office">
  <a:themeElements>
    <a:clrScheme name="Тема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Тема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Тема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339</TotalTime>
  <Words>1037</Words>
  <Application>Microsoft Office PowerPoint</Application>
  <PresentationFormat>Екран (4:3)</PresentationFormat>
  <Paragraphs>91</Paragraphs>
  <Slides>14</Slides>
  <Notes>0</Notes>
  <HiddenSlides>0</HiddenSlides>
  <MMClips>0</MMClips>
  <ScaleCrop>false</ScaleCrop>
  <HeadingPairs>
    <vt:vector size="6" baseType="variant">
      <vt:variant>
        <vt:lpstr>Використані шрифти</vt:lpstr>
      </vt:variant>
      <vt:variant>
        <vt:i4>4</vt:i4>
      </vt:variant>
      <vt:variant>
        <vt:lpstr>Тема</vt:lpstr>
      </vt:variant>
      <vt:variant>
        <vt:i4>1</vt:i4>
      </vt:variant>
      <vt:variant>
        <vt:lpstr>Заголовки слайдів</vt:lpstr>
      </vt:variant>
      <vt:variant>
        <vt:i4>14</vt:i4>
      </vt:variant>
    </vt:vector>
  </HeadingPairs>
  <TitlesOfParts>
    <vt:vector size="19" baseType="lpstr">
      <vt:lpstr>Arial</vt:lpstr>
      <vt:lpstr>Calibri</vt:lpstr>
      <vt:lpstr>Calibri Light</vt:lpstr>
      <vt:lpstr>Times New Roman</vt:lpstr>
      <vt:lpstr>Тема Office</vt:lpstr>
      <vt:lpstr>    Виготовлення деталей камери дрона для зимової   експлуатації при низьких температурах </vt:lpstr>
      <vt:lpstr>          Актуальність теми</vt:lpstr>
      <vt:lpstr>У чому ж полягає оригінальність теми</vt:lpstr>
      <vt:lpstr>Що ж таке ДРОН? </vt:lpstr>
      <vt:lpstr>Склад дрона </vt:lpstr>
      <vt:lpstr>3D моделювання для військових</vt:lpstr>
      <vt:lpstr>Практична частина</vt:lpstr>
      <vt:lpstr>Презентація PowerPoint</vt:lpstr>
      <vt:lpstr>Камери квадрокоптерів:  які вони бувають і чим відрізняються </vt:lpstr>
      <vt:lpstr>Презентація PowerPoint</vt:lpstr>
      <vt:lpstr>Презентація PowerPoint</vt:lpstr>
      <vt:lpstr>Аналіз практичної частини</vt:lpstr>
      <vt:lpstr>Висновки</vt:lpstr>
      <vt:lpstr>Презентація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Комунальний позашкільний навчальний заклад «КИЇВСЬКА МАЛА АКАДЕМІЯ НАУК УЧНІВСЬКОЇ МОЛОДІ»</dc:title>
  <dc:creator>ЗОФ</dc:creator>
  <cp:lastModifiedBy>Teacher</cp:lastModifiedBy>
  <cp:revision>36</cp:revision>
  <dcterms:created xsi:type="dcterms:W3CDTF">2024-12-24T11:59:48Z</dcterms:created>
  <dcterms:modified xsi:type="dcterms:W3CDTF">2024-12-25T10:45:49Z</dcterms:modified>
</cp:coreProperties>
</file>